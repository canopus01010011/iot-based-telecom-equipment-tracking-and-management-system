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7" r:id="rId10"/>
    <p:sldId id="264" r:id="rId11"/>
    <p:sldId id="270" r:id="rId12"/>
    <p:sldId id="272" r:id="rId13"/>
    <p:sldId id="273" r:id="rId14"/>
    <p:sldId id="265" r:id="rId15"/>
    <p:sldId id="266"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E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17" autoAdjust="0"/>
    <p:restoredTop sz="94610"/>
  </p:normalViewPr>
  <p:slideViewPr>
    <p:cSldViewPr snapToGrid="0" snapToObjects="1">
      <p:cViewPr>
        <p:scale>
          <a:sx n="56" d="100"/>
          <a:sy n="56" d="100"/>
        </p:scale>
        <p:origin x="118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1396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FC252-2918-F82F-82D7-C6F1B8818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A1198-A68C-D8DB-7942-D29910742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39358-DF30-7404-F4AC-D9691EDD5B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4B2920-5506-487E-B894-CE4AEBFC5B32}"/>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983678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B0DB7-1A4E-6A40-4E0A-D63225D4E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0E426-6CC1-BAE9-30D9-F124B285FA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9FEEB-A9C6-DBAD-DF9A-968CF1FB8B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EEEAC4-09C3-521B-0956-0FEDFF2C578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0224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svg"/><Relationship Id="rId10" Type="http://schemas.openxmlformats.org/officeDocument/2006/relationships/image" Target="../media/image16.jpeg"/><Relationship Id="rId4" Type="http://schemas.openxmlformats.org/officeDocument/2006/relationships/image" Target="../media/image11.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png"/><Relationship Id="rId7"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jpeg"/><Relationship Id="rId5" Type="http://schemas.openxmlformats.org/officeDocument/2006/relationships/image" Target="../media/image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9.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29.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6.jp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30.png"/><Relationship Id="rId9" Type="http://schemas.openxmlformats.org/officeDocument/2006/relationships/image" Target="../media/image34.jp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9.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image" Target="../media/image9.png"/><Relationship Id="rId4" Type="http://schemas.openxmlformats.org/officeDocument/2006/relationships/image" Target="../media/image41.png"/><Relationship Id="rId9"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904952" y="1904952"/>
            <a:ext cx="5079873" cy="4907328"/>
          </a:xfrm>
          <a:prstGeom prst="rect">
            <a:avLst/>
          </a:prstGeom>
        </p:spPr>
      </p:pic>
      <p:pic>
        <p:nvPicPr>
          <p:cNvPr id="3" name="Image 1" descr="preencoded.png"/>
          <p:cNvPicPr>
            <a:picLocks noChangeAspect="1"/>
          </p:cNvPicPr>
          <p:nvPr/>
        </p:nvPicPr>
        <p:blipFill>
          <a:blip r:embed="rId4"/>
          <a:stretch>
            <a:fillRect/>
          </a:stretch>
        </p:blipFill>
        <p:spPr>
          <a:xfrm>
            <a:off x="9016775" y="1904952"/>
            <a:ext cx="3129201" cy="4907328"/>
          </a:xfrm>
          <a:prstGeom prst="rect">
            <a:avLst/>
          </a:prstGeom>
        </p:spPr>
      </p:pic>
      <p:pic>
        <p:nvPicPr>
          <p:cNvPr id="4" name="Image 2" descr="preencoded.png"/>
          <p:cNvPicPr>
            <a:picLocks noChangeAspect="1"/>
          </p:cNvPicPr>
          <p:nvPr/>
        </p:nvPicPr>
        <p:blipFill>
          <a:blip r:embed="rId5"/>
          <a:stretch>
            <a:fillRect/>
          </a:stretch>
        </p:blipFill>
        <p:spPr>
          <a:xfrm>
            <a:off x="380990" y="380990"/>
            <a:ext cx="761981" cy="761981"/>
          </a:xfrm>
          <a:prstGeom prst="rect">
            <a:avLst/>
          </a:prstGeom>
        </p:spPr>
      </p:pic>
      <p:pic>
        <p:nvPicPr>
          <p:cNvPr id="5" name="Image 3" descr="preencoded.png"/>
          <p:cNvPicPr>
            <a:picLocks noChangeAspect="1"/>
          </p:cNvPicPr>
          <p:nvPr/>
        </p:nvPicPr>
        <p:blipFill>
          <a:blip r:embed="rId6"/>
          <a:stretch>
            <a:fillRect/>
          </a:stretch>
        </p:blipFill>
        <p:spPr>
          <a:xfrm>
            <a:off x="11048724" y="380990"/>
            <a:ext cx="761981" cy="761981"/>
          </a:xfrm>
          <a:prstGeom prst="rect">
            <a:avLst/>
          </a:prstGeom>
        </p:spPr>
      </p:pic>
      <p:pic>
        <p:nvPicPr>
          <p:cNvPr id="6" name="Image 4" descr="preencoded.png"/>
          <p:cNvPicPr>
            <a:picLocks noChangeAspect="1"/>
          </p:cNvPicPr>
          <p:nvPr/>
        </p:nvPicPr>
        <p:blipFill>
          <a:blip r:embed="rId7"/>
          <a:stretch>
            <a:fillRect/>
          </a:stretch>
        </p:blipFill>
        <p:spPr>
          <a:xfrm>
            <a:off x="380990" y="5714857"/>
            <a:ext cx="761981" cy="761981"/>
          </a:xfrm>
          <a:prstGeom prst="rect">
            <a:avLst/>
          </a:prstGeom>
        </p:spPr>
      </p:pic>
      <p:pic>
        <p:nvPicPr>
          <p:cNvPr id="7" name="Image 5" descr="preencoded.png"/>
          <p:cNvPicPr>
            <a:picLocks noChangeAspect="1"/>
          </p:cNvPicPr>
          <p:nvPr/>
        </p:nvPicPr>
        <p:blipFill>
          <a:blip r:embed="rId8"/>
          <a:stretch>
            <a:fillRect/>
          </a:stretch>
        </p:blipFill>
        <p:spPr>
          <a:xfrm>
            <a:off x="11048724" y="5714857"/>
            <a:ext cx="761981" cy="761981"/>
          </a:xfrm>
          <a:prstGeom prst="rect">
            <a:avLst/>
          </a:prstGeom>
        </p:spPr>
      </p:pic>
      <p:pic>
        <p:nvPicPr>
          <p:cNvPr id="8" name="Image 6" descr="preencoded.png"/>
          <p:cNvPicPr>
            <a:picLocks noChangeAspect="1"/>
          </p:cNvPicPr>
          <p:nvPr/>
        </p:nvPicPr>
        <p:blipFill>
          <a:blip r:embed="rId9"/>
          <a:stretch>
            <a:fillRect/>
          </a:stretch>
        </p:blipFill>
        <p:spPr>
          <a:xfrm>
            <a:off x="0" y="0"/>
            <a:ext cx="12145975" cy="50799"/>
          </a:xfrm>
          <a:prstGeom prst="rect">
            <a:avLst/>
          </a:prstGeom>
        </p:spPr>
      </p:pic>
      <p:pic>
        <p:nvPicPr>
          <p:cNvPr id="9" name="Image 7" descr="preencoded.png"/>
          <p:cNvPicPr>
            <a:picLocks noChangeAspect="1"/>
          </p:cNvPicPr>
          <p:nvPr/>
        </p:nvPicPr>
        <p:blipFill>
          <a:blip r:embed="rId10"/>
          <a:stretch>
            <a:fillRect/>
          </a:stretch>
        </p:blipFill>
        <p:spPr>
          <a:xfrm>
            <a:off x="0" y="6807030"/>
            <a:ext cx="12145975" cy="5250"/>
          </a:xfrm>
          <a:prstGeom prst="rect">
            <a:avLst/>
          </a:prstGeom>
        </p:spPr>
      </p:pic>
      <p:sp>
        <p:nvSpPr>
          <p:cNvPr id="10" name="Text 0"/>
          <p:cNvSpPr/>
          <p:nvPr/>
        </p:nvSpPr>
        <p:spPr>
          <a:xfrm>
            <a:off x="364058" y="1015975"/>
            <a:ext cx="11781918" cy="939777"/>
          </a:xfrm>
          <a:prstGeom prst="rect">
            <a:avLst/>
          </a:prstGeom>
          <a:noFill/>
          <a:ln/>
        </p:spPr>
        <p:txBody>
          <a:bodyPr wrap="square" lIns="1016" tIns="1016" rIns="1016" bIns="1016" rtlCol="0" anchor="t"/>
          <a:lstStyle/>
          <a:p>
            <a:pPr marL="0" indent="0" algn="ctr">
              <a:lnSpc>
                <a:spcPct val="130000"/>
              </a:lnSpc>
              <a:buNone/>
            </a:pPr>
            <a:r>
              <a:rPr lang="en-US" sz="4000" b="1" dirty="0">
                <a:solidFill>
                  <a:srgbClr val="00FFFF"/>
                </a:solidFill>
                <a:latin typeface="Calibri" pitchFamily="34" charset="0"/>
                <a:ea typeface="Calibri" pitchFamily="34" charset="-122"/>
                <a:cs typeface="Calibri" pitchFamily="34" charset="-120"/>
              </a:rPr>
              <a:t>Introduction to  </a:t>
            </a:r>
            <a:r>
              <a:rPr lang="en-US" sz="4000" b="1" dirty="0" err="1">
                <a:solidFill>
                  <a:srgbClr val="00FFFF"/>
                </a:solidFill>
                <a:latin typeface="Calibri" pitchFamily="34" charset="0"/>
                <a:ea typeface="Calibri" pitchFamily="34" charset="-122"/>
                <a:cs typeface="Calibri" pitchFamily="34" charset="-120"/>
              </a:rPr>
              <a:t>ErcTrack</a:t>
            </a:r>
            <a:r>
              <a:rPr lang="en-US" sz="4000" b="1">
                <a:solidFill>
                  <a:srgbClr val="00FFFF"/>
                </a:solidFill>
                <a:latin typeface="Calibri" pitchFamily="34" charset="0"/>
                <a:ea typeface="Calibri" pitchFamily="34" charset="-122"/>
                <a:cs typeface="Calibri" pitchFamily="34" charset="-120"/>
              </a:rPr>
              <a:t> (PFE)</a:t>
            </a:r>
            <a:r>
              <a:rPr lang="en-US" sz="4000" dirty="0">
                <a:solidFill>
                  <a:srgbClr val="00FFFF"/>
                </a:solidFill>
                <a:latin typeface="Calibri" pitchFamily="34" charset="0"/>
                <a:ea typeface="Calibri" pitchFamily="34" charset="-122"/>
                <a:cs typeface="Calibri" pitchFamily="34" charset="-120"/>
              </a:rPr>
              <a:t>
</a:t>
            </a:r>
            <a:endParaRPr lang="en-US" sz="4000" dirty="0"/>
          </a:p>
        </p:txBody>
      </p:sp>
      <p:sp>
        <p:nvSpPr>
          <p:cNvPr id="11" name="Text 1"/>
          <p:cNvSpPr/>
          <p:nvPr/>
        </p:nvSpPr>
        <p:spPr>
          <a:xfrm>
            <a:off x="905911" y="2133547"/>
            <a:ext cx="10269810" cy="1092173"/>
          </a:xfrm>
          <a:prstGeom prst="rect">
            <a:avLst/>
          </a:prstGeom>
          <a:noFill/>
          <a:ln/>
        </p:spPr>
        <p:txBody>
          <a:bodyPr wrap="square" lIns="1016" tIns="1016" rIns="1016" bIns="1016" rtlCol="0" anchor="t"/>
          <a:lstStyle/>
          <a:p>
            <a:pPr marL="0" indent="0" algn="ctr">
              <a:lnSpc>
                <a:spcPct val="130000"/>
              </a:lnSpc>
              <a:buNone/>
            </a:pPr>
            <a:r>
              <a:rPr lang="en-US" sz="1100" dirty="0">
                <a:solidFill>
                  <a:srgbClr val="666666"/>
                </a:solidFill>
                <a:latin typeface="Calibri" pitchFamily="34" charset="0"/>
                <a:ea typeface="Calibri" pitchFamily="34" charset="-122"/>
                <a:cs typeface="Calibri" pitchFamily="34" charset="-120"/>
              </a:rPr>
              <a:t>PRESENTED BY
</a:t>
            </a:r>
            <a:endParaRPr lang="en-US" sz="1100" dirty="0"/>
          </a:p>
        </p:txBody>
      </p:sp>
      <p:sp>
        <p:nvSpPr>
          <p:cNvPr id="12" name="Text 2"/>
          <p:cNvSpPr/>
          <p:nvPr/>
        </p:nvSpPr>
        <p:spPr>
          <a:xfrm>
            <a:off x="184459" y="2579754"/>
            <a:ext cx="11961516" cy="2931908"/>
          </a:xfrm>
          <a:prstGeom prst="rect">
            <a:avLst/>
          </a:prstGeom>
          <a:noFill/>
          <a:ln/>
        </p:spPr>
        <p:txBody>
          <a:bodyPr wrap="square" lIns="1016" tIns="1016" rIns="1016" bIns="1016" rtlCol="0" anchor="t"/>
          <a:lstStyle/>
          <a:p>
            <a:pPr algn="ctr">
              <a:lnSpc>
                <a:spcPct val="130000"/>
              </a:lnSpc>
            </a:pPr>
            <a:r>
              <a:rPr lang="en-US" sz="2200" dirty="0" err="1">
                <a:solidFill>
                  <a:srgbClr val="E8EDF5"/>
                </a:solidFill>
                <a:latin typeface="Calibri" pitchFamily="34" charset="0"/>
                <a:ea typeface="Calibri" pitchFamily="34" charset="-122"/>
                <a:cs typeface="Calibri" pitchFamily="34" charset="-120"/>
              </a:rPr>
              <a:t>Reghioui</a:t>
            </a:r>
            <a:r>
              <a:rPr lang="en-US" sz="2200" dirty="0">
                <a:solidFill>
                  <a:srgbClr val="E8EDF5"/>
                </a:solidFill>
                <a:latin typeface="Calibri" pitchFamily="34" charset="0"/>
                <a:ea typeface="Calibri" pitchFamily="34" charset="-122"/>
                <a:cs typeface="Calibri" pitchFamily="34" charset="-120"/>
              </a:rPr>
              <a:t> Abdelrahim</a:t>
            </a:r>
          </a:p>
          <a:p>
            <a:pPr marL="0" indent="0" algn="ctr">
              <a:lnSpc>
                <a:spcPct val="130000"/>
              </a:lnSpc>
              <a:buNone/>
            </a:pPr>
            <a:r>
              <a:rPr lang="en-US" sz="2200" dirty="0">
                <a:solidFill>
                  <a:srgbClr val="E8EDF5"/>
                </a:solidFill>
                <a:latin typeface="Calibri" pitchFamily="34" charset="0"/>
                <a:ea typeface="Calibri" pitchFamily="34" charset="-122"/>
                <a:cs typeface="Calibri" pitchFamily="34" charset="-120"/>
              </a:rPr>
              <a:t>Souheil Guellil
Nazim Mohamed </a:t>
            </a:r>
            <a:r>
              <a:rPr lang="en-US" sz="2200" dirty="0" err="1">
                <a:solidFill>
                  <a:srgbClr val="E8EDF5"/>
                </a:solidFill>
                <a:latin typeface="Calibri" pitchFamily="34" charset="0"/>
                <a:ea typeface="Calibri" pitchFamily="34" charset="-122"/>
                <a:cs typeface="Calibri" pitchFamily="34" charset="-120"/>
              </a:rPr>
              <a:t>Guergadj</a:t>
            </a:r>
            <a:r>
              <a:rPr lang="en-US" sz="2200" dirty="0">
                <a:solidFill>
                  <a:srgbClr val="E8EDF5"/>
                </a:solidFill>
                <a:latin typeface="Calibri" pitchFamily="34" charset="0"/>
                <a:ea typeface="Calibri" pitchFamily="34" charset="-122"/>
                <a:cs typeface="Calibri" pitchFamily="34" charset="-120"/>
              </a:rPr>
              <a:t> 
Dellal Younes
Zadi Abderraouf
</a:t>
            </a:r>
            <a:endParaRPr lang="en-US" sz="2200" dirty="0"/>
          </a:p>
        </p:txBody>
      </p:sp>
      <p:sp>
        <p:nvSpPr>
          <p:cNvPr id="13" name="Text 3"/>
          <p:cNvSpPr/>
          <p:nvPr/>
        </p:nvSpPr>
        <p:spPr>
          <a:xfrm>
            <a:off x="1015975" y="3809905"/>
            <a:ext cx="11130001" cy="507987"/>
          </a:xfrm>
          <a:prstGeom prst="rect">
            <a:avLst/>
          </a:prstGeom>
          <a:noFill/>
          <a:ln/>
        </p:spPr>
        <p:txBody>
          <a:bodyPr wrap="square" lIns="1016" tIns="1016" rIns="1016" bIns="1016" rtlCol="0" anchor="t"/>
          <a:lstStyle/>
          <a:p>
            <a:pPr marL="0" indent="0" algn="ctr">
              <a:lnSpc>
                <a:spcPct val="130000"/>
              </a:lnSpc>
              <a:buNone/>
            </a:pPr>
            <a:r>
              <a:rPr lang="en-US" sz="1800" dirty="0">
                <a:solidFill>
                  <a:srgbClr val="FF00FF"/>
                </a:solidFill>
                <a:latin typeface="Calibri" pitchFamily="34" charset="0"/>
                <a:ea typeface="Calibri" pitchFamily="34" charset="-122"/>
                <a:cs typeface="Calibri" pitchFamily="34" charset="-120"/>
              </a:rPr>
              <a:t>
</a:t>
            </a:r>
            <a:endParaRPr lang="en-US" sz="1800" dirty="0"/>
          </a:p>
        </p:txBody>
      </p:sp>
      <p:sp>
        <p:nvSpPr>
          <p:cNvPr id="14" name="Text 4"/>
          <p:cNvSpPr/>
          <p:nvPr/>
        </p:nvSpPr>
        <p:spPr>
          <a:xfrm>
            <a:off x="1032908" y="4838579"/>
            <a:ext cx="10371407" cy="1600160"/>
          </a:xfrm>
          <a:prstGeom prst="rect">
            <a:avLst/>
          </a:prstGeom>
          <a:noFill/>
          <a:ln/>
        </p:spPr>
        <p:txBody>
          <a:bodyPr wrap="square" lIns="1016" tIns="1016" rIns="1016" bIns="1016" rtlCol="0" anchor="t"/>
          <a:lstStyle/>
          <a:p>
            <a:pPr marL="0" indent="0" algn="ctr">
              <a:lnSpc>
                <a:spcPct val="130000"/>
              </a:lnSpc>
              <a:buNone/>
            </a:pPr>
            <a:r>
              <a:rPr lang="en-US" sz="1400" dirty="0">
                <a:solidFill>
                  <a:srgbClr val="B8C5D6"/>
                </a:solidFill>
                <a:latin typeface="Calibri" pitchFamily="34" charset="0"/>
                <a:ea typeface="Calibri" pitchFamily="34" charset="-122"/>
                <a:cs typeface="Calibri" pitchFamily="34" charset="-120"/>
              </a:rPr>
              <a:t>May 23, 2026
</a:t>
            </a:r>
            <a:endParaRPr lang="en-US" sz="1400" dirty="0"/>
          </a:p>
        </p:txBody>
      </p:sp>
      <p:pic>
        <p:nvPicPr>
          <p:cNvPr id="15" name="Image 8" descr="preencoded.png"/>
          <p:cNvPicPr>
            <a:picLocks noChangeAspect="1"/>
          </p:cNvPicPr>
          <p:nvPr/>
        </p:nvPicPr>
        <p:blipFill>
          <a:blip r:embed="rId11"/>
          <a:stretch>
            <a:fillRect/>
          </a:stretch>
        </p:blipFill>
        <p:spPr>
          <a:xfrm>
            <a:off x="5841854" y="253994"/>
            <a:ext cx="507987" cy="507987"/>
          </a:xfrm>
          <a:prstGeom prst="rect">
            <a:avLst/>
          </a:prstGeom>
        </p:spPr>
      </p:pic>
      <p:sp>
        <p:nvSpPr>
          <p:cNvPr id="16" name="Text 5"/>
          <p:cNvSpPr/>
          <p:nvPr/>
        </p:nvSpPr>
        <p:spPr>
          <a:xfrm>
            <a:off x="0" y="5740257"/>
            <a:ext cx="11836104" cy="897444"/>
          </a:xfrm>
          <a:prstGeom prst="rect">
            <a:avLst/>
          </a:prstGeom>
          <a:noFill/>
          <a:ln/>
        </p:spPr>
        <p:txBody>
          <a:bodyPr wrap="square" lIns="1058" tIns="1058" rIns="1058" bIns="1058" rtlCol="0" anchor="t"/>
          <a:lstStyle/>
          <a:p>
            <a:pPr marL="0" indent="0" algn="l">
              <a:lnSpc>
                <a:spcPct val="110000"/>
              </a:lnSpc>
              <a:buNone/>
            </a:pPr>
            <a:endParaRPr lang="en-US" sz="2900" dirty="0"/>
          </a:p>
        </p:txBody>
      </p:sp>
      <p:sp>
        <p:nvSpPr>
          <p:cNvPr id="17" name="Text 6"/>
          <p:cNvSpPr/>
          <p:nvPr/>
        </p:nvSpPr>
        <p:spPr>
          <a:xfrm>
            <a:off x="2407883" y="5664057"/>
            <a:ext cx="10672812" cy="1015975"/>
          </a:xfrm>
          <a:prstGeom prst="rect">
            <a:avLst/>
          </a:prstGeom>
          <a:noFill/>
          <a:ln/>
        </p:spPr>
        <p:txBody>
          <a:bodyPr wrap="square" lIns="1058" tIns="1058" rIns="1058" bIns="1058" rtlCol="0" anchor="t"/>
          <a:lstStyle/>
          <a:p>
            <a:pPr marL="0" indent="0" algn="l">
              <a:lnSpc>
                <a:spcPct val="110000"/>
              </a:lnSpc>
              <a:buNone/>
            </a:pPr>
            <a:r>
              <a:rPr lang="en-US" sz="2500" dirty="0">
                <a:solidFill>
                  <a:srgbClr val="00FFFF"/>
                </a:solidFill>
                <a:latin typeface="Calibri" pitchFamily="34" charset="0"/>
                <a:ea typeface="Calibri" pitchFamily="34" charset="-122"/>
                <a:cs typeface="Calibri" pitchFamily="34" charset="-120"/>
              </a:rPr>
              <a:t>University of Science and Technologies Houri Boumedian
</a:t>
            </a:r>
            <a:endParaRPr lang="en-US" sz="2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524762" y="-634984"/>
            <a:ext cx="2621213" cy="3174921"/>
          </a:xfrm>
          <a:prstGeom prst="rect">
            <a:avLst/>
          </a:prstGeom>
        </p:spPr>
      </p:pic>
      <p:pic>
        <p:nvPicPr>
          <p:cNvPr id="3" name="Image 1" descr="preencoded.png"/>
          <p:cNvPicPr>
            <a:picLocks noChangeAspect="1"/>
          </p:cNvPicPr>
          <p:nvPr/>
        </p:nvPicPr>
        <p:blipFill>
          <a:blip r:embed="rId4"/>
          <a:stretch>
            <a:fillRect/>
          </a:stretch>
        </p:blipFill>
        <p:spPr>
          <a:xfrm>
            <a:off x="-1015975" y="4825879"/>
            <a:ext cx="3809905" cy="1986401"/>
          </a:xfrm>
          <a:prstGeom prst="rect">
            <a:avLst/>
          </a:prstGeom>
        </p:spPr>
      </p:pic>
      <p:pic>
        <p:nvPicPr>
          <p:cNvPr id="4" name="Image 2" descr="preencoded.png"/>
          <p:cNvPicPr>
            <a:picLocks noChangeAspect="1"/>
          </p:cNvPicPr>
          <p:nvPr/>
        </p:nvPicPr>
        <p:blipFill>
          <a:blip r:embed="rId3"/>
          <a:stretch>
            <a:fillRect/>
          </a:stretch>
        </p:blipFill>
        <p:spPr>
          <a:xfrm>
            <a:off x="9524762" y="-634984"/>
            <a:ext cx="2621213" cy="3174921"/>
          </a:xfrm>
          <a:prstGeom prst="rect">
            <a:avLst/>
          </a:prstGeom>
        </p:spPr>
      </p:pic>
      <p:pic>
        <p:nvPicPr>
          <p:cNvPr id="5" name="Image 3" descr="preencoded.png"/>
          <p:cNvPicPr>
            <a:picLocks noChangeAspect="1"/>
          </p:cNvPicPr>
          <p:nvPr/>
        </p:nvPicPr>
        <p:blipFill>
          <a:blip r:embed="rId4"/>
          <a:stretch>
            <a:fillRect/>
          </a:stretch>
        </p:blipFill>
        <p:spPr>
          <a:xfrm>
            <a:off x="-1015975" y="4825879"/>
            <a:ext cx="3809905" cy="1986401"/>
          </a:xfrm>
          <a:prstGeom prst="rect">
            <a:avLst/>
          </a:prstGeom>
        </p:spPr>
      </p:pic>
      <p:pic>
        <p:nvPicPr>
          <p:cNvPr id="6"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73803" y="761981"/>
            <a:ext cx="1015975" cy="1015975"/>
          </a:xfrm>
          <a:prstGeom prst="rect">
            <a:avLst/>
          </a:prstGeom>
        </p:spPr>
      </p:pic>
      <p:pic>
        <p:nvPicPr>
          <p:cNvPr id="8" name="Image 6" descr="preencoded.png"/>
          <p:cNvPicPr>
            <a:picLocks noChangeAspect="1"/>
          </p:cNvPicPr>
          <p:nvPr/>
        </p:nvPicPr>
        <p:blipFill>
          <a:blip r:embed="rId6"/>
          <a:stretch>
            <a:fillRect/>
          </a:stretch>
        </p:blipFill>
        <p:spPr>
          <a:xfrm>
            <a:off x="8191296" y="1111222"/>
            <a:ext cx="507987" cy="507987"/>
          </a:xfrm>
          <a:prstGeom prst="rect">
            <a:avLst/>
          </a:prstGeom>
        </p:spPr>
      </p:pic>
      <p:pic>
        <p:nvPicPr>
          <p:cNvPr id="9" name="Image 7"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73803" y="761981"/>
            <a:ext cx="1015975" cy="1015975"/>
          </a:xfrm>
          <a:prstGeom prst="rect">
            <a:avLst/>
          </a:prstGeom>
        </p:spPr>
      </p:pic>
      <p:pic>
        <p:nvPicPr>
          <p:cNvPr id="10" name="Image 8" descr="preencoded.png"/>
          <p:cNvPicPr>
            <a:picLocks noChangeAspect="1"/>
          </p:cNvPicPr>
          <p:nvPr/>
        </p:nvPicPr>
        <p:blipFill>
          <a:blip r:embed="rId7"/>
          <a:stretch>
            <a:fillRect/>
          </a:stretch>
        </p:blipFill>
        <p:spPr>
          <a:xfrm>
            <a:off x="11066215" y="5238619"/>
            <a:ext cx="507987" cy="507987"/>
          </a:xfrm>
          <a:prstGeom prst="rect">
            <a:avLst/>
          </a:prstGeom>
        </p:spPr>
      </p:pic>
      <p:pic>
        <p:nvPicPr>
          <p:cNvPr id="12" name="Image 10" descr="preencoded.png"/>
          <p:cNvPicPr>
            <a:picLocks noChangeAspect="1"/>
          </p:cNvPicPr>
          <p:nvPr/>
        </p:nvPicPr>
        <p:blipFill>
          <a:blip r:embed="rId8"/>
          <a:stretch>
            <a:fillRect/>
          </a:stretch>
        </p:blipFill>
        <p:spPr>
          <a:xfrm>
            <a:off x="0" y="0"/>
            <a:ext cx="12145975" cy="38099"/>
          </a:xfrm>
          <a:prstGeom prst="rect">
            <a:avLst/>
          </a:prstGeom>
        </p:spPr>
      </p:pic>
      <p:pic>
        <p:nvPicPr>
          <p:cNvPr id="13" name="Image 11" descr="preencoded.png"/>
          <p:cNvPicPr>
            <a:picLocks noChangeAspect="1"/>
          </p:cNvPicPr>
          <p:nvPr/>
        </p:nvPicPr>
        <p:blipFill>
          <a:blip r:embed="rId8"/>
          <a:stretch>
            <a:fillRect/>
          </a:stretch>
        </p:blipFill>
        <p:spPr>
          <a:xfrm>
            <a:off x="0" y="0"/>
            <a:ext cx="12145975" cy="38099"/>
          </a:xfrm>
          <a:prstGeom prst="rect">
            <a:avLst/>
          </a:prstGeom>
        </p:spPr>
      </p:pic>
      <p:pic>
        <p:nvPicPr>
          <p:cNvPr id="14" name="Image 12" descr="preencoded.png"/>
          <p:cNvPicPr>
            <a:picLocks noChangeAspect="1"/>
          </p:cNvPicPr>
          <p:nvPr/>
        </p:nvPicPr>
        <p:blipFill>
          <a:blip r:embed="rId9"/>
          <a:stretch>
            <a:fillRect/>
          </a:stretch>
        </p:blipFill>
        <p:spPr>
          <a:xfrm>
            <a:off x="253994" y="253994"/>
            <a:ext cx="507987" cy="507987"/>
          </a:xfrm>
          <a:prstGeom prst="rect">
            <a:avLst/>
          </a:prstGeom>
        </p:spPr>
      </p:pic>
      <p:pic>
        <p:nvPicPr>
          <p:cNvPr id="15" name="Image 13" descr="preencoded.png"/>
          <p:cNvPicPr>
            <a:picLocks noChangeAspect="1"/>
          </p:cNvPicPr>
          <p:nvPr/>
        </p:nvPicPr>
        <p:blipFill>
          <a:blip r:embed="rId10"/>
          <a:srcRect/>
          <a:stretch/>
        </p:blipFill>
        <p:spPr>
          <a:xfrm>
            <a:off x="8381790" y="1269968"/>
            <a:ext cx="3047924" cy="4317892"/>
          </a:xfrm>
          <a:prstGeom prst="rect">
            <a:avLst/>
          </a:prstGeom>
        </p:spPr>
      </p:pic>
      <p:sp>
        <p:nvSpPr>
          <p:cNvPr id="16" name="Text 0"/>
          <p:cNvSpPr/>
          <p:nvPr/>
        </p:nvSpPr>
        <p:spPr>
          <a:xfrm>
            <a:off x="1015975" y="1777956"/>
            <a:ext cx="6984825" cy="1777956"/>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Introduction to ErcTrack Project
</a:t>
            </a:r>
            <a:endParaRPr lang="en-US" sz="2900" dirty="0"/>
          </a:p>
        </p:txBody>
      </p:sp>
      <p:sp>
        <p:nvSpPr>
          <p:cNvPr id="17" name="Text 1"/>
          <p:cNvSpPr/>
          <p:nvPr/>
        </p:nvSpPr>
        <p:spPr>
          <a:xfrm>
            <a:off x="1015975" y="3200320"/>
            <a:ext cx="6942493" cy="2666933"/>
          </a:xfrm>
          <a:prstGeom prst="rect">
            <a:avLst/>
          </a:prstGeom>
          <a:noFill/>
          <a:ln/>
        </p:spPr>
        <p:txBody>
          <a:bodyPr wrap="square" lIns="1016" tIns="1016" rIns="1016" bIns="1016" rtlCol="0" anchor="t"/>
          <a:lstStyle/>
          <a:p>
            <a:pPr marL="0" indent="0" algn="l">
              <a:lnSpc>
                <a:spcPct val="150000"/>
              </a:lnSpc>
              <a:buNone/>
            </a:pPr>
            <a:r>
              <a:rPr lang="en-US" sz="1300" dirty="0">
                <a:solidFill>
                  <a:srgbClr val="00FFFF"/>
                </a:solidFill>
                <a:latin typeface="Calibri" pitchFamily="34" charset="0"/>
                <a:ea typeface="Calibri" pitchFamily="34" charset="-122"/>
                <a:cs typeface="Calibri" pitchFamily="34" charset="-120"/>
              </a:rPr>
              <a:t>ErcTrack is an innovative solution designed to address the critical issue of package and missions tracking in logistics. Ericsson faces significant challenges in tracking its equipment , leading to wasting time and resources . This presentation will outline the project's objectives, the technology behind it, and its potential impact on the logistics industry. Join us as we explore how ErcTrack can revolutionize package tracking and enhance operational efficiency.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5" name="Image 3" descr="preencoded.png"/>
          <p:cNvPicPr>
            <a:picLocks noChangeAspect="1"/>
          </p:cNvPicPr>
          <p:nvPr/>
        </p:nvPicPr>
        <p:blipFill>
          <a:blip r:embed="rId4"/>
          <a:stretch>
            <a:fillRect/>
          </a:stretch>
        </p:blipFill>
        <p:spPr>
          <a:xfrm>
            <a:off x="495287" y="1650959"/>
            <a:ext cx="380990" cy="380990"/>
          </a:xfrm>
          <a:prstGeom prst="rect">
            <a:avLst/>
          </a:prstGeom>
        </p:spPr>
      </p:pic>
      <p:pic>
        <p:nvPicPr>
          <p:cNvPr id="6" name="Image 4" descr="preencoded.png"/>
          <p:cNvPicPr>
            <a:picLocks noChangeAspect="1"/>
          </p:cNvPicPr>
          <p:nvPr/>
        </p:nvPicPr>
        <p:blipFill>
          <a:blip r:embed="rId5"/>
          <a:stretch>
            <a:fillRect/>
          </a:stretch>
        </p:blipFill>
        <p:spPr>
          <a:xfrm>
            <a:off x="253994" y="253994"/>
            <a:ext cx="507987" cy="507987"/>
          </a:xfrm>
          <a:prstGeom prst="rect">
            <a:avLst/>
          </a:prstGeom>
        </p:spPr>
      </p:pic>
      <p:sp>
        <p:nvSpPr>
          <p:cNvPr id="7"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Identifying Core Issues
</a:t>
            </a:r>
            <a:endParaRPr lang="en-US" sz="2900" dirty="0"/>
          </a:p>
        </p:txBody>
      </p:sp>
      <p:pic>
        <p:nvPicPr>
          <p:cNvPr id="8" name="Image 5" descr="preencoded.png"/>
          <p:cNvPicPr>
            <a:picLocks noChangeAspect="1"/>
          </p:cNvPicPr>
          <p:nvPr/>
        </p:nvPicPr>
        <p:blipFill>
          <a:blip r:embed="rId6"/>
          <a:srcRect/>
          <a:stretch/>
        </p:blipFill>
        <p:spPr>
          <a:xfrm>
            <a:off x="8775481" y="0"/>
            <a:ext cx="3370495" cy="6812280"/>
          </a:xfrm>
          <a:prstGeom prst="rect">
            <a:avLst/>
          </a:prstGeom>
        </p:spPr>
      </p:pic>
      <p:sp>
        <p:nvSpPr>
          <p:cNvPr id="9" name="Shape 1"/>
          <p:cNvSpPr/>
          <p:nvPr/>
        </p:nvSpPr>
        <p:spPr>
          <a:xfrm>
            <a:off x="380990" y="1523962"/>
            <a:ext cx="3962301" cy="2438339"/>
          </a:xfrm>
          <a:prstGeom prst="rect">
            <a:avLst/>
          </a:prstGeom>
          <a:noFill/>
          <a:ln/>
        </p:spPr>
      </p:sp>
      <p:sp>
        <p:nvSpPr>
          <p:cNvPr id="10" name="Text 2"/>
          <p:cNvSpPr/>
          <p:nvPr/>
        </p:nvSpPr>
        <p:spPr>
          <a:xfrm>
            <a:off x="634984" y="1752556"/>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Challenges in Tracking
</a:t>
            </a:r>
            <a:endParaRPr lang="en-US" sz="1300" dirty="0"/>
          </a:p>
        </p:txBody>
      </p:sp>
      <p:sp>
        <p:nvSpPr>
          <p:cNvPr id="11" name="Text 3"/>
          <p:cNvSpPr/>
          <p:nvPr/>
        </p:nvSpPr>
        <p:spPr>
          <a:xfrm>
            <a:off x="634984" y="2158946"/>
            <a:ext cx="3361183" cy="1502796"/>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Many companies and Ericsson is one of them struggle with tracking packages, leading to significant operational challenges and inefficiencies that hinder overall productivity .
</a:t>
            </a:r>
            <a:endParaRPr lang="en-US" sz="1300" dirty="0"/>
          </a:p>
        </p:txBody>
      </p:sp>
      <p:sp>
        <p:nvSpPr>
          <p:cNvPr id="12" name="Shape 4"/>
          <p:cNvSpPr/>
          <p:nvPr/>
        </p:nvSpPr>
        <p:spPr>
          <a:xfrm>
            <a:off x="4546486" y="1523962"/>
            <a:ext cx="3962301" cy="2438339"/>
          </a:xfrm>
          <a:prstGeom prst="rect">
            <a:avLst/>
          </a:prstGeom>
          <a:noFill/>
          <a:ln/>
        </p:spPr>
      </p:sp>
      <p:sp>
        <p:nvSpPr>
          <p:cNvPr id="13" name="Text 5"/>
          <p:cNvSpPr/>
          <p:nvPr/>
        </p:nvSpPr>
        <p:spPr>
          <a:xfrm>
            <a:off x="4800480" y="1752556"/>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Visibility and Delays
</a:t>
            </a:r>
            <a:endParaRPr lang="en-US" sz="1300" dirty="0"/>
          </a:p>
        </p:txBody>
      </p:sp>
      <p:sp>
        <p:nvSpPr>
          <p:cNvPr id="14" name="Text 6"/>
          <p:cNvSpPr/>
          <p:nvPr/>
        </p:nvSpPr>
        <p:spPr>
          <a:xfrm>
            <a:off x="4800480" y="2158946"/>
            <a:ext cx="2497604" cy="143929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A lack of visibility in package tracking results in delayed deliveries, which can lead to   a negative impact on repeat business and brand loyalty.
</a:t>
            </a:r>
            <a:endParaRPr lang="en-US" sz="1300" dirty="0"/>
          </a:p>
        </p:txBody>
      </p:sp>
      <p:sp>
        <p:nvSpPr>
          <p:cNvPr id="15" name="Shape 7"/>
          <p:cNvSpPr/>
          <p:nvPr/>
        </p:nvSpPr>
        <p:spPr>
          <a:xfrm>
            <a:off x="380990" y="4470288"/>
            <a:ext cx="8140496" cy="673212"/>
          </a:xfrm>
          <a:prstGeom prst="rect">
            <a:avLst/>
          </a:prstGeom>
          <a:noFill/>
          <a:ln/>
        </p:spPr>
      </p:sp>
      <p:sp>
        <p:nvSpPr>
          <p:cNvPr id="16" name="Text 8"/>
          <p:cNvSpPr/>
          <p:nvPr/>
        </p:nvSpPr>
        <p:spPr>
          <a:xfrm>
            <a:off x="634984" y="4698883"/>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Financial Implications
</a:t>
            </a:r>
            <a:endParaRPr lang="en-US" sz="1300" dirty="0"/>
          </a:p>
        </p:txBody>
      </p:sp>
      <p:sp>
        <p:nvSpPr>
          <p:cNvPr id="17" name="Text 9"/>
          <p:cNvSpPr/>
          <p:nvPr/>
        </p:nvSpPr>
        <p:spPr>
          <a:xfrm>
            <a:off x="634984" y="5105272"/>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Inefficient tracking methods can cause financial losses, with studies showing that companies can lose a lot of revenue due to delivery errors and delays.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pic>
        <p:nvPicPr>
          <p:cNvPr id="6" name="Image 4" descr="preencoded.png"/>
          <p:cNvPicPr>
            <a:picLocks noChangeAspect="1"/>
          </p:cNvPicPr>
          <p:nvPr/>
        </p:nvPicPr>
        <p:blipFill>
          <a:blip r:embed="rId5"/>
          <a:stretch>
            <a:fillRect/>
          </a:stretch>
        </p:blipFill>
        <p:spPr>
          <a:xfrm>
            <a:off x="11429714" y="253994"/>
            <a:ext cx="507987" cy="507987"/>
          </a:xfrm>
          <a:prstGeom prst="rect">
            <a:avLst/>
          </a:prstGeom>
        </p:spPr>
      </p:pic>
      <p:sp>
        <p:nvSpPr>
          <p:cNvPr id="7" name="Text 0"/>
          <p:cNvSpPr/>
          <p:nvPr/>
        </p:nvSpPr>
        <p:spPr>
          <a:xfrm>
            <a:off x="1015975" y="634984"/>
            <a:ext cx="11130001" cy="647684"/>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Possible Solutions</a:t>
            </a:r>
            <a:r>
              <a:rPr lang="en-US" sz="2900" dirty="0">
                <a:solidFill>
                  <a:srgbClr val="00FFFF"/>
                </a:solidFill>
                <a:latin typeface="Calibri" pitchFamily="34" charset="0"/>
                <a:ea typeface="Calibri" pitchFamily="34" charset="-122"/>
                <a:cs typeface="Calibri" pitchFamily="34" charset="-120"/>
              </a:rPr>
              <a:t>
</a:t>
            </a:r>
            <a:endParaRPr lang="en-US" sz="2900" dirty="0"/>
          </a:p>
        </p:txBody>
      </p:sp>
      <p:sp>
        <p:nvSpPr>
          <p:cNvPr id="8" name="Shape 1"/>
          <p:cNvSpPr/>
          <p:nvPr/>
        </p:nvSpPr>
        <p:spPr>
          <a:xfrm>
            <a:off x="380990" y="1650959"/>
            <a:ext cx="3606710" cy="3492541"/>
          </a:xfrm>
          <a:prstGeom prst="rect">
            <a:avLst/>
          </a:prstGeom>
          <a:noFill/>
          <a:ln/>
        </p:spPr>
      </p:sp>
      <p:pic>
        <p:nvPicPr>
          <p:cNvPr id="9" name="Image 5" descr="preencoded.png"/>
          <p:cNvPicPr>
            <a:picLocks noChangeAspect="1"/>
          </p:cNvPicPr>
          <p:nvPr/>
        </p:nvPicPr>
        <p:blipFill>
          <a:blip r:embed="rId6"/>
          <a:srcRect/>
          <a:stretch/>
        </p:blipFill>
        <p:spPr>
          <a:xfrm>
            <a:off x="380990" y="1650959"/>
            <a:ext cx="3606710" cy="2336742"/>
          </a:xfrm>
          <a:prstGeom prst="rect">
            <a:avLst/>
          </a:prstGeom>
        </p:spPr>
      </p:pic>
      <p:sp>
        <p:nvSpPr>
          <p:cNvPr id="10" name="Text 2"/>
          <p:cNvSpPr/>
          <p:nvPr/>
        </p:nvSpPr>
        <p:spPr>
          <a:xfrm>
            <a:off x="380990" y="4292493"/>
            <a:ext cx="3086023" cy="507987"/>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AI\camera based solution</a:t>
            </a:r>
            <a:r>
              <a:rPr lang="en-US" sz="1300" dirty="0">
                <a:solidFill>
                  <a:srgbClr val="00FFFF"/>
                </a:solidFill>
                <a:latin typeface="Calibri" pitchFamily="34" charset="0"/>
                <a:ea typeface="Calibri" pitchFamily="34" charset="-122"/>
                <a:cs typeface="Calibri" pitchFamily="34" charset="-120"/>
              </a:rPr>
              <a:t>
</a:t>
            </a:r>
            <a:endParaRPr lang="en-US" sz="1300" dirty="0"/>
          </a:p>
        </p:txBody>
      </p:sp>
      <p:sp>
        <p:nvSpPr>
          <p:cNvPr id="11" name="Text 3"/>
          <p:cNvSpPr/>
          <p:nvPr/>
        </p:nvSpPr>
        <p:spPr>
          <a:xfrm>
            <a:off x="380990" y="4609985"/>
            <a:ext cx="3386582" cy="507987"/>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by install cameras in the delivery path but it is so expensive to be applied
</a:t>
            </a:r>
            <a:endParaRPr lang="en-US" sz="1300" dirty="0"/>
          </a:p>
        </p:txBody>
      </p:sp>
      <p:sp>
        <p:nvSpPr>
          <p:cNvPr id="12" name="Shape 4"/>
          <p:cNvSpPr/>
          <p:nvPr/>
        </p:nvSpPr>
        <p:spPr>
          <a:xfrm>
            <a:off x="4292493" y="1650959"/>
            <a:ext cx="3606710" cy="3492541"/>
          </a:xfrm>
          <a:prstGeom prst="rect">
            <a:avLst/>
          </a:prstGeom>
          <a:noFill/>
          <a:ln/>
        </p:spPr>
      </p:sp>
      <p:pic>
        <p:nvPicPr>
          <p:cNvPr id="13" name="Image 6" descr="preencoded.png"/>
          <p:cNvPicPr>
            <a:picLocks noChangeAspect="1"/>
          </p:cNvPicPr>
          <p:nvPr/>
        </p:nvPicPr>
        <p:blipFill>
          <a:blip r:embed="rId7"/>
          <a:srcRect/>
          <a:stretch/>
        </p:blipFill>
        <p:spPr>
          <a:xfrm>
            <a:off x="4292493" y="1650959"/>
            <a:ext cx="3606710" cy="2336742"/>
          </a:xfrm>
          <a:prstGeom prst="rect">
            <a:avLst/>
          </a:prstGeom>
        </p:spPr>
      </p:pic>
      <p:sp>
        <p:nvSpPr>
          <p:cNvPr id="14" name="Text 5"/>
          <p:cNvSpPr/>
          <p:nvPr/>
        </p:nvSpPr>
        <p:spPr>
          <a:xfrm>
            <a:off x="4292493"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IoT-Based Solutions
</a:t>
            </a:r>
            <a:endParaRPr lang="en-US" sz="1300" dirty="0"/>
          </a:p>
        </p:txBody>
      </p:sp>
      <p:sp>
        <p:nvSpPr>
          <p:cNvPr id="15" name="Text 6"/>
          <p:cNvSpPr/>
          <p:nvPr/>
        </p:nvSpPr>
        <p:spPr>
          <a:xfrm>
            <a:off x="4292493" y="4609985"/>
            <a:ext cx="3568611" cy="647684"/>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By attaching a tracking device in package and track it
</a:t>
            </a:r>
            <a:endParaRPr lang="en-US" sz="1300" dirty="0"/>
          </a:p>
        </p:txBody>
      </p:sp>
      <p:sp>
        <p:nvSpPr>
          <p:cNvPr id="16" name="Shape 7"/>
          <p:cNvSpPr/>
          <p:nvPr/>
        </p:nvSpPr>
        <p:spPr>
          <a:xfrm>
            <a:off x="8203995" y="1650959"/>
            <a:ext cx="940005" cy="3492541"/>
          </a:xfrm>
          <a:prstGeom prst="rect">
            <a:avLst/>
          </a:prstGeom>
          <a:noFill/>
          <a:ln/>
        </p:spPr>
      </p:sp>
      <p:pic>
        <p:nvPicPr>
          <p:cNvPr id="17" name="Image 7" descr="preencoded.png"/>
          <p:cNvPicPr>
            <a:picLocks noChangeAspect="1"/>
          </p:cNvPicPr>
          <p:nvPr/>
        </p:nvPicPr>
        <p:blipFill>
          <a:blip r:embed="rId8"/>
          <a:srcRect/>
          <a:stretch/>
        </p:blipFill>
        <p:spPr>
          <a:xfrm>
            <a:off x="8203995" y="1650959"/>
            <a:ext cx="3606710" cy="2336742"/>
          </a:xfrm>
          <a:prstGeom prst="rect">
            <a:avLst/>
          </a:prstGeom>
        </p:spPr>
      </p:pic>
      <p:sp>
        <p:nvSpPr>
          <p:cNvPr id="18" name="Text 8"/>
          <p:cNvSpPr/>
          <p:nvPr/>
        </p:nvSpPr>
        <p:spPr>
          <a:xfrm>
            <a:off x="8203995" y="4292493"/>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Network-Based Systems
</a:t>
            </a:r>
            <a:endParaRPr lang="en-US" sz="1300" dirty="0"/>
          </a:p>
        </p:txBody>
      </p:sp>
      <p:sp>
        <p:nvSpPr>
          <p:cNvPr id="19" name="Text 9"/>
          <p:cNvSpPr/>
          <p:nvPr/>
        </p:nvSpPr>
        <p:spPr>
          <a:xfrm>
            <a:off x="8203995" y="4614218"/>
            <a:ext cx="3941980" cy="507987"/>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by tracking location of the driver's phone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4" name="Image 2" descr="preencoded.png"/>
          <p:cNvPicPr>
            <a:picLocks noChangeAspect="1"/>
          </p:cNvPicPr>
          <p:nvPr/>
        </p:nvPicPr>
        <p:blipFill>
          <a:blip r:embed="rId4"/>
          <a:stretch>
            <a:fillRect/>
          </a:stretch>
        </p:blipFill>
        <p:spPr>
          <a:xfrm>
            <a:off x="761981" y="1650959"/>
            <a:ext cx="380990" cy="380990"/>
          </a:xfrm>
          <a:prstGeom prst="rect">
            <a:avLst/>
          </a:prstGeom>
        </p:spPr>
      </p:pic>
      <p:pic>
        <p:nvPicPr>
          <p:cNvPr id="5" name="Image 3" descr="preencoded.png"/>
          <p:cNvPicPr>
            <a:picLocks noChangeAspect="1"/>
          </p:cNvPicPr>
          <p:nvPr/>
        </p:nvPicPr>
        <p:blipFill>
          <a:blip r:embed="rId4"/>
          <a:stretch>
            <a:fillRect/>
          </a:stretch>
        </p:blipFill>
        <p:spPr>
          <a:xfrm>
            <a:off x="761981" y="1650959"/>
            <a:ext cx="380990" cy="380990"/>
          </a:xfrm>
          <a:prstGeom prst="rect">
            <a:avLst/>
          </a:prstGeom>
        </p:spPr>
      </p:pic>
      <p:pic>
        <p:nvPicPr>
          <p:cNvPr id="6" name="Image 4" descr="preencoded.png"/>
          <p:cNvPicPr>
            <a:picLocks noChangeAspect="1"/>
          </p:cNvPicPr>
          <p:nvPr/>
        </p:nvPicPr>
        <p:blipFill>
          <a:blip r:embed="rId5"/>
          <a:stretch>
            <a:fillRect/>
          </a:stretch>
        </p:blipFill>
        <p:spPr>
          <a:xfrm>
            <a:off x="253994" y="253994"/>
            <a:ext cx="507987" cy="507987"/>
          </a:xfrm>
          <a:prstGeom prst="rect">
            <a:avLst/>
          </a:prstGeom>
        </p:spPr>
      </p:pic>
      <p:sp>
        <p:nvSpPr>
          <p:cNvPr id="7"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Why We Chose IoT
</a:t>
            </a:r>
            <a:endParaRPr lang="en-US" sz="2900" dirty="0"/>
          </a:p>
        </p:txBody>
      </p:sp>
      <p:pic>
        <p:nvPicPr>
          <p:cNvPr id="8" name="Image 5" descr="preencoded.png"/>
          <p:cNvPicPr>
            <a:picLocks noChangeAspect="1"/>
          </p:cNvPicPr>
          <p:nvPr/>
        </p:nvPicPr>
        <p:blipFill>
          <a:blip r:embed="rId6"/>
          <a:srcRect/>
          <a:stretch/>
        </p:blipFill>
        <p:spPr>
          <a:xfrm>
            <a:off x="8775481" y="0"/>
            <a:ext cx="3370495" cy="6812280"/>
          </a:xfrm>
          <a:prstGeom prst="rect">
            <a:avLst/>
          </a:prstGeom>
        </p:spPr>
      </p:pic>
      <p:sp>
        <p:nvSpPr>
          <p:cNvPr id="9" name="Shape 1"/>
          <p:cNvSpPr/>
          <p:nvPr/>
        </p:nvSpPr>
        <p:spPr>
          <a:xfrm>
            <a:off x="380990" y="1523962"/>
            <a:ext cx="3962301" cy="2438339"/>
          </a:xfrm>
          <a:prstGeom prst="rect">
            <a:avLst/>
          </a:prstGeom>
          <a:noFill/>
          <a:ln/>
        </p:spPr>
      </p:sp>
      <p:sp>
        <p:nvSpPr>
          <p:cNvPr id="10" name="Text 2"/>
          <p:cNvSpPr/>
          <p:nvPr/>
        </p:nvSpPr>
        <p:spPr>
          <a:xfrm>
            <a:off x="1015975" y="1955751"/>
            <a:ext cx="11130001" cy="3987700"/>
          </a:xfrm>
          <a:prstGeom prst="rect">
            <a:avLst/>
          </a:prstGeom>
          <a:noFill/>
          <a:ln/>
        </p:spPr>
        <p:txBody>
          <a:bodyPr wrap="square" lIns="0" tIns="0" rIns="0" bIns="0" rtlCol="0" anchor="t"/>
          <a:lstStyle/>
          <a:p>
            <a:pPr marL="0" indent="0" algn="l">
              <a:lnSpc>
                <a:spcPct val="130000"/>
              </a:lnSpc>
              <a:buNone/>
            </a:pPr>
            <a:r>
              <a:rPr lang="en-US" sz="1600" b="1" dirty="0">
                <a:solidFill>
                  <a:srgbClr val="B8C5D6"/>
                </a:solidFill>
                <a:latin typeface="Calibri" pitchFamily="34" charset="0"/>
                <a:ea typeface="Calibri" pitchFamily="34" charset="-122"/>
                <a:cs typeface="Calibri" pitchFamily="34" charset="-120"/>
              </a:rPr>
              <a:t>Real-Time Tracking
Independent from user behaviors
Coast reduction
Better operational efficiency 
Faster problem detection
Improved accuracy
</a:t>
            </a:r>
            <a:endParaRPr lang="en-US" sz="1600" b="1" dirty="0"/>
          </a:p>
        </p:txBody>
      </p:sp>
      <p:sp>
        <p:nvSpPr>
          <p:cNvPr id="11" name="Shape 3"/>
          <p:cNvSpPr/>
          <p:nvPr/>
        </p:nvSpPr>
        <p:spPr>
          <a:xfrm>
            <a:off x="4546486" y="1523962"/>
            <a:ext cx="3962301" cy="2438339"/>
          </a:xfrm>
          <a:prstGeom prst="rect">
            <a:avLst/>
          </a:prstGeom>
          <a:noFill/>
          <a:ln/>
        </p:spPr>
      </p:sp>
      <p:sp>
        <p:nvSpPr>
          <p:cNvPr id="12" name="Text 4"/>
          <p:cNvSpPr/>
          <p:nvPr/>
        </p:nvSpPr>
        <p:spPr>
          <a:xfrm>
            <a:off x="1676358" y="3378116"/>
            <a:ext cx="2247844" cy="50798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
</a:t>
            </a:r>
            <a:endParaRPr lang="en-US" sz="1300" dirty="0"/>
          </a:p>
        </p:txBody>
      </p:sp>
      <p:sp>
        <p:nvSpPr>
          <p:cNvPr id="13" name="Text 5"/>
          <p:cNvSpPr/>
          <p:nvPr/>
        </p:nvSpPr>
        <p:spPr>
          <a:xfrm>
            <a:off x="4800480" y="2158946"/>
            <a:ext cx="3568611" cy="50798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
</a:t>
            </a:r>
            <a:endParaRPr lang="en-US" sz="1300" dirty="0"/>
          </a:p>
        </p:txBody>
      </p:sp>
      <p:sp>
        <p:nvSpPr>
          <p:cNvPr id="14" name="Shape 6"/>
          <p:cNvSpPr/>
          <p:nvPr/>
        </p:nvSpPr>
        <p:spPr>
          <a:xfrm>
            <a:off x="380990" y="4470288"/>
            <a:ext cx="8140496" cy="673212"/>
          </a:xfrm>
          <a:prstGeom prst="rect">
            <a:avLst/>
          </a:prstGeom>
          <a:noFill/>
          <a:ln/>
        </p:spPr>
      </p:sp>
      <p:sp>
        <p:nvSpPr>
          <p:cNvPr id="15" name="Text 7"/>
          <p:cNvSpPr/>
          <p:nvPr/>
        </p:nvSpPr>
        <p:spPr>
          <a:xfrm>
            <a:off x="634984" y="5105272"/>
            <a:ext cx="7746806" cy="50798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54794" y="-1015975"/>
            <a:ext cx="3891182" cy="4063898"/>
          </a:xfrm>
          <a:prstGeom prst="rect">
            <a:avLst/>
          </a:prstGeom>
        </p:spPr>
      </p:pic>
      <p:pic>
        <p:nvPicPr>
          <p:cNvPr id="3" name="Image 1" descr="preencoded.png"/>
          <p:cNvPicPr>
            <a:picLocks noChangeAspect="1"/>
          </p:cNvPicPr>
          <p:nvPr/>
        </p:nvPicPr>
        <p:blipFill>
          <a:blip r:embed="rId3"/>
          <a:stretch>
            <a:fillRect/>
          </a:stretch>
        </p:blipFill>
        <p:spPr>
          <a:xfrm>
            <a:off x="8254794" y="-1015975"/>
            <a:ext cx="3891182" cy="4063898"/>
          </a:xfrm>
          <a:prstGeom prst="rect">
            <a:avLst/>
          </a:prstGeom>
        </p:spPr>
      </p:pic>
      <p:pic>
        <p:nvPicPr>
          <p:cNvPr id="4" name="Image 2" descr="preencoded.png"/>
          <p:cNvPicPr>
            <a:picLocks noChangeAspect="1"/>
          </p:cNvPicPr>
          <p:nvPr/>
        </p:nvPicPr>
        <p:blipFill>
          <a:blip r:embed="rId4"/>
          <a:stretch>
            <a:fillRect/>
          </a:stretch>
        </p:blipFill>
        <p:spPr>
          <a:xfrm>
            <a:off x="1269968" y="1777956"/>
            <a:ext cx="9651759" cy="4444889"/>
          </a:xfrm>
          <a:prstGeom prst="rect">
            <a:avLst/>
          </a:prstGeom>
        </p:spPr>
      </p:pic>
      <p:pic>
        <p:nvPicPr>
          <p:cNvPr id="5" name="Image 3" descr="preencoded.png"/>
          <p:cNvPicPr>
            <a:picLocks noChangeAspect="1"/>
          </p:cNvPicPr>
          <p:nvPr/>
        </p:nvPicPr>
        <p:blipFill>
          <a:blip r:embed="rId5"/>
          <a:stretch>
            <a:fillRect/>
          </a:stretch>
        </p:blipFill>
        <p:spPr>
          <a:xfrm>
            <a:off x="11429714" y="253994"/>
            <a:ext cx="507987" cy="507987"/>
          </a:xfrm>
          <a:prstGeom prst="rect">
            <a:avLst/>
          </a:prstGeom>
        </p:spPr>
      </p:pic>
      <p:pic>
        <p:nvPicPr>
          <p:cNvPr id="6" name="Image 4" descr="preencoded.png"/>
          <p:cNvPicPr>
            <a:picLocks noChangeAspect="1"/>
          </p:cNvPicPr>
          <p:nvPr/>
        </p:nvPicPr>
        <p:blipFill>
          <a:blip r:embed="rId6"/>
          <a:stretch>
            <a:fillRect/>
          </a:stretch>
        </p:blipFill>
        <p:spPr>
          <a:xfrm>
            <a:off x="0" y="0"/>
            <a:ext cx="38099" cy="2285943"/>
          </a:xfrm>
          <a:prstGeom prst="rect">
            <a:avLst/>
          </a:prstGeom>
        </p:spPr>
      </p:pic>
      <p:pic>
        <p:nvPicPr>
          <p:cNvPr id="7" name="Image 5" descr="preencoded.png"/>
          <p:cNvPicPr>
            <a:picLocks noChangeAspect="1"/>
          </p:cNvPicPr>
          <p:nvPr/>
        </p:nvPicPr>
        <p:blipFill>
          <a:blip r:embed="rId6"/>
          <a:stretch>
            <a:fillRect/>
          </a:stretch>
        </p:blipFill>
        <p:spPr>
          <a:xfrm>
            <a:off x="0" y="0"/>
            <a:ext cx="38099" cy="2285943"/>
          </a:xfrm>
          <a:prstGeom prst="rect">
            <a:avLst/>
          </a:prstGeom>
        </p:spPr>
      </p:pic>
      <p:sp>
        <p:nvSpPr>
          <p:cNvPr id="8" name="Text 0"/>
          <p:cNvSpPr/>
          <p:nvPr/>
        </p:nvSpPr>
        <p:spPr>
          <a:xfrm>
            <a:off x="761981" y="888978"/>
            <a:ext cx="10667733" cy="660383"/>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Reliability and Efficiency of IoT
</a:t>
            </a:r>
            <a:endParaRPr lang="en-US" sz="2900" dirty="0"/>
          </a:p>
        </p:txBody>
      </p:sp>
      <p:pic>
        <p:nvPicPr>
          <p:cNvPr id="9" name="Image 6" descr="/static/uploads/39327/67efed06bf2b46d49b3d4dcc3dc1d4cd.png"/>
          <p:cNvPicPr>
            <a:picLocks noChangeAspect="1"/>
          </p:cNvPicPr>
          <p:nvPr/>
        </p:nvPicPr>
        <p:blipFill>
          <a:blip r:embed="rId7"/>
          <a:srcRect/>
          <a:stretch/>
        </p:blipFill>
        <p:spPr>
          <a:xfrm>
            <a:off x="1320767" y="1811821"/>
            <a:ext cx="9143771" cy="41654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429714" y="253994"/>
            <a:ext cx="507987" cy="507987"/>
          </a:xfrm>
          <a:prstGeom prst="rect">
            <a:avLst/>
          </a:prstGeom>
        </p:spPr>
      </p:pic>
      <p:sp>
        <p:nvSpPr>
          <p:cNvPr id="3" name="Text 0"/>
          <p:cNvSpPr/>
          <p:nvPr/>
        </p:nvSpPr>
        <p:spPr>
          <a:xfrm>
            <a:off x="761981" y="888978"/>
            <a:ext cx="10667733" cy="660383"/>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ErcTrack Architecture Overview
</a:t>
            </a:r>
            <a:endParaRPr lang="en-US" sz="2900" dirty="0"/>
          </a:p>
        </p:txBody>
      </p:sp>
      <p:pic>
        <p:nvPicPr>
          <p:cNvPr id="6" name="Picture 5">
            <a:extLst>
              <a:ext uri="{FF2B5EF4-FFF2-40B4-BE49-F238E27FC236}">
                <a16:creationId xmlns:a16="http://schemas.microsoft.com/office/drawing/2014/main" id="{FBD3862D-079B-2CC2-22AD-ED41D725F67E}"/>
              </a:ext>
            </a:extLst>
          </p:cNvPr>
          <p:cNvPicPr>
            <a:picLocks noChangeAspect="1"/>
          </p:cNvPicPr>
          <p:nvPr/>
        </p:nvPicPr>
        <p:blipFill>
          <a:blip r:embed="rId4"/>
          <a:srcRect t="17439"/>
          <a:stretch>
            <a:fillRect/>
          </a:stretch>
        </p:blipFill>
        <p:spPr>
          <a:xfrm>
            <a:off x="715814" y="1675087"/>
            <a:ext cx="10429706" cy="46713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232678" y="3733610"/>
            <a:ext cx="3256197" cy="3002375"/>
          </a:xfrm>
          <a:prstGeom prst="rect">
            <a:avLst/>
          </a:prstGeom>
        </p:spPr>
      </p:pic>
      <p:pic>
        <p:nvPicPr>
          <p:cNvPr id="4" name="Image 2" descr="preencoded.png"/>
          <p:cNvPicPr>
            <a:picLocks noChangeAspect="1"/>
          </p:cNvPicPr>
          <p:nvPr/>
        </p:nvPicPr>
        <p:blipFill>
          <a:blip r:embed="rId4"/>
          <a:stretch>
            <a:fillRect/>
          </a:stretch>
        </p:blipFill>
        <p:spPr>
          <a:xfrm>
            <a:off x="11429714" y="253994"/>
            <a:ext cx="507987" cy="507987"/>
          </a:xfrm>
          <a:prstGeom prst="rect">
            <a:avLst/>
          </a:prstGeom>
        </p:spPr>
      </p:pic>
      <p:sp>
        <p:nvSpPr>
          <p:cNvPr id="5"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Mobile App Features
</a:t>
            </a:r>
            <a:endParaRPr lang="en-US" sz="2900" dirty="0"/>
          </a:p>
        </p:txBody>
      </p:sp>
      <p:sp>
        <p:nvSpPr>
          <p:cNvPr id="12" name="Text 7"/>
          <p:cNvSpPr/>
          <p:nvPr/>
        </p:nvSpPr>
        <p:spPr>
          <a:xfrm>
            <a:off x="8144730" y="1925272"/>
            <a:ext cx="4001245" cy="507987"/>
          </a:xfrm>
          <a:prstGeom prst="rect">
            <a:avLst/>
          </a:prstGeom>
          <a:noFill/>
          <a:ln/>
        </p:spPr>
        <p:txBody>
          <a:bodyPr wrap="square" lIns="0" tIns="0" rIns="0" bIns="0" rtlCol="0" anchor="t"/>
          <a:lstStyle/>
          <a:p>
            <a:pPr marL="0" indent="0" algn="l">
              <a:lnSpc>
                <a:spcPct val="120000"/>
              </a:lnSpc>
              <a:buNone/>
            </a:pPr>
            <a:endParaRPr lang="en-US" sz="1400" dirty="0"/>
          </a:p>
        </p:txBody>
      </p:sp>
      <p:grpSp>
        <p:nvGrpSpPr>
          <p:cNvPr id="70" name="Group 69">
            <a:extLst>
              <a:ext uri="{FF2B5EF4-FFF2-40B4-BE49-F238E27FC236}">
                <a16:creationId xmlns:a16="http://schemas.microsoft.com/office/drawing/2014/main" id="{22F51942-B4D7-E7EB-8014-8D25EB6F7DD9}"/>
              </a:ext>
            </a:extLst>
          </p:cNvPr>
          <p:cNvGrpSpPr/>
          <p:nvPr/>
        </p:nvGrpSpPr>
        <p:grpSpPr>
          <a:xfrm>
            <a:off x="1015975" y="634984"/>
            <a:ext cx="10047941" cy="5323846"/>
            <a:chOff x="1889760" y="1280160"/>
            <a:chExt cx="8412480" cy="4297680"/>
          </a:xfrm>
        </p:grpSpPr>
        <p:sp>
          <p:nvSpPr>
            <p:cNvPr id="21" name="Text 3">
              <a:extLst>
                <a:ext uri="{FF2B5EF4-FFF2-40B4-BE49-F238E27FC236}">
                  <a16:creationId xmlns:a16="http://schemas.microsoft.com/office/drawing/2014/main" id="{38313232-8F7E-962C-A446-AD0C4E4B0B58}"/>
                </a:ext>
              </a:extLst>
            </p:cNvPr>
            <p:cNvSpPr/>
            <p:nvPr/>
          </p:nvSpPr>
          <p:spPr>
            <a:xfrm>
              <a:off x="1889760" y="1280160"/>
              <a:ext cx="8412480"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2100" dirty="0"/>
            </a:p>
          </p:txBody>
        </p:sp>
        <p:sp>
          <p:nvSpPr>
            <p:cNvPr id="23" name="Shape 5">
              <a:extLst>
                <a:ext uri="{FF2B5EF4-FFF2-40B4-BE49-F238E27FC236}">
                  <a16:creationId xmlns:a16="http://schemas.microsoft.com/office/drawing/2014/main" id="{DF241443-6C8D-7AFB-B410-2C5BFB991D2F}"/>
                </a:ext>
              </a:extLst>
            </p:cNvPr>
            <p:cNvSpPr/>
            <p:nvPr/>
          </p:nvSpPr>
          <p:spPr>
            <a:xfrm>
              <a:off x="1889760" y="1920240"/>
              <a:ext cx="4114800" cy="3657600"/>
            </a:xfrm>
            <a:prstGeom prst="rect">
              <a:avLst/>
            </a:prstGeom>
            <a:solidFill>
              <a:srgbClr val="0D1528"/>
            </a:solidFill>
            <a:ln w="10160">
              <a:solidFill>
                <a:schemeClr val="accent5"/>
              </a:solidFill>
              <a:prstDash val="solid"/>
            </a:ln>
            <a:effectLst>
              <a:outerShdw blurRad="127000" dist="38100" dir="8100000" algn="bl" rotWithShape="0">
                <a:srgbClr val="000000">
                  <a:alpha val="35000"/>
                </a:srgbClr>
              </a:outerShdw>
            </a:effectLst>
          </p:spPr>
          <p:txBody>
            <a:bodyPr/>
            <a:lstStyle/>
            <a:p>
              <a:endParaRPr lang="en-US"/>
            </a:p>
          </p:txBody>
        </p:sp>
        <p:sp>
          <p:nvSpPr>
            <p:cNvPr id="24" name="Shape 6">
              <a:extLst>
                <a:ext uri="{FF2B5EF4-FFF2-40B4-BE49-F238E27FC236}">
                  <a16:creationId xmlns:a16="http://schemas.microsoft.com/office/drawing/2014/main" id="{7DF687DD-664D-2A25-C968-0284A5799219}"/>
                </a:ext>
              </a:extLst>
            </p:cNvPr>
            <p:cNvSpPr/>
            <p:nvPr/>
          </p:nvSpPr>
          <p:spPr>
            <a:xfrm>
              <a:off x="1889760" y="1920240"/>
              <a:ext cx="4114800" cy="54864"/>
            </a:xfrm>
            <a:prstGeom prst="rect">
              <a:avLst/>
            </a:prstGeom>
            <a:solidFill>
              <a:schemeClr val="accent1"/>
            </a:solidFill>
            <a:ln w="12700">
              <a:solidFill>
                <a:schemeClr val="accent5"/>
              </a:solidFill>
              <a:prstDash val="solid"/>
            </a:ln>
          </p:spPr>
          <p:txBody>
            <a:bodyPr/>
            <a:lstStyle/>
            <a:p>
              <a:endParaRPr lang="en-US">
                <a:solidFill>
                  <a:schemeClr val="accent5"/>
                </a:solidFill>
              </a:endParaRPr>
            </a:p>
          </p:txBody>
        </p:sp>
        <p:sp>
          <p:nvSpPr>
            <p:cNvPr id="25" name="Text 7">
              <a:extLst>
                <a:ext uri="{FF2B5EF4-FFF2-40B4-BE49-F238E27FC236}">
                  <a16:creationId xmlns:a16="http://schemas.microsoft.com/office/drawing/2014/main" id="{4E0D549A-04C1-7808-1465-568CD65F74D9}"/>
                </a:ext>
              </a:extLst>
            </p:cNvPr>
            <p:cNvSpPr/>
            <p:nvPr/>
          </p:nvSpPr>
          <p:spPr>
            <a:xfrm>
              <a:off x="2026920" y="2011680"/>
              <a:ext cx="374904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chemeClr val="accent5"/>
                  </a:solidFill>
                </a:rPr>
                <a:t>  Driver Interface</a:t>
              </a:r>
              <a:endParaRPr lang="en-US" sz="1300" dirty="0">
                <a:solidFill>
                  <a:schemeClr val="accent5"/>
                </a:solidFill>
              </a:endParaRPr>
            </a:p>
          </p:txBody>
        </p:sp>
        <p:sp>
          <p:nvSpPr>
            <p:cNvPr id="26" name="Shape 8">
              <a:extLst>
                <a:ext uri="{FF2B5EF4-FFF2-40B4-BE49-F238E27FC236}">
                  <a16:creationId xmlns:a16="http://schemas.microsoft.com/office/drawing/2014/main" id="{EFA7113D-D4C3-B607-A135-E85C2A1AA535}"/>
                </a:ext>
              </a:extLst>
            </p:cNvPr>
            <p:cNvSpPr/>
            <p:nvPr/>
          </p:nvSpPr>
          <p:spPr>
            <a:xfrm>
              <a:off x="2026920" y="2496312"/>
              <a:ext cx="201168" cy="201168"/>
            </a:xfrm>
            <a:prstGeom prst="ellipse">
              <a:avLst/>
            </a:prstGeom>
            <a:solidFill>
              <a:schemeClr val="accent1"/>
            </a:solidFill>
            <a:ln w="12700">
              <a:solidFill>
                <a:schemeClr val="accent5"/>
              </a:solidFill>
              <a:prstDash val="solid"/>
            </a:ln>
          </p:spPr>
          <p:txBody>
            <a:bodyPr/>
            <a:lstStyle/>
            <a:p>
              <a:endParaRPr lang="en-US"/>
            </a:p>
          </p:txBody>
        </p:sp>
        <p:sp>
          <p:nvSpPr>
            <p:cNvPr id="27" name="Text 9">
              <a:extLst>
                <a:ext uri="{FF2B5EF4-FFF2-40B4-BE49-F238E27FC236}">
                  <a16:creationId xmlns:a16="http://schemas.microsoft.com/office/drawing/2014/main" id="{DAD554E3-8658-A6D0-4DA9-8B78EA412A00}"/>
                </a:ext>
              </a:extLst>
            </p:cNvPr>
            <p:cNvSpPr/>
            <p:nvPr/>
          </p:nvSpPr>
          <p:spPr>
            <a:xfrm>
              <a:off x="2026920" y="2496312"/>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dirty="0"/>
            </a:p>
          </p:txBody>
        </p:sp>
        <p:sp>
          <p:nvSpPr>
            <p:cNvPr id="28" name="Text 10">
              <a:extLst>
                <a:ext uri="{FF2B5EF4-FFF2-40B4-BE49-F238E27FC236}">
                  <a16:creationId xmlns:a16="http://schemas.microsoft.com/office/drawing/2014/main" id="{F67B1509-B61B-6405-B3C1-98D9F38A8BFF}"/>
                </a:ext>
              </a:extLst>
            </p:cNvPr>
            <p:cNvSpPr/>
            <p:nvPr/>
          </p:nvSpPr>
          <p:spPr>
            <a:xfrm>
              <a:off x="2346960" y="2496312"/>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View assigned missions &amp; details</a:t>
              </a:r>
              <a:endParaRPr lang="en-US" sz="1050" dirty="0"/>
            </a:p>
          </p:txBody>
        </p:sp>
        <p:sp>
          <p:nvSpPr>
            <p:cNvPr id="29" name="Shape 11">
              <a:extLst>
                <a:ext uri="{FF2B5EF4-FFF2-40B4-BE49-F238E27FC236}">
                  <a16:creationId xmlns:a16="http://schemas.microsoft.com/office/drawing/2014/main" id="{28C54C79-6086-43C0-C495-59E6A7921699}"/>
                </a:ext>
              </a:extLst>
            </p:cNvPr>
            <p:cNvSpPr/>
            <p:nvPr/>
          </p:nvSpPr>
          <p:spPr>
            <a:xfrm>
              <a:off x="2026920" y="2990088"/>
              <a:ext cx="201168" cy="201168"/>
            </a:xfrm>
            <a:prstGeom prst="ellipse">
              <a:avLst/>
            </a:prstGeom>
            <a:solidFill>
              <a:schemeClr val="accent1"/>
            </a:solidFill>
            <a:ln w="12700">
              <a:solidFill>
                <a:schemeClr val="accent5"/>
              </a:solidFill>
              <a:prstDash val="solid"/>
            </a:ln>
          </p:spPr>
          <p:txBody>
            <a:bodyPr/>
            <a:lstStyle/>
            <a:p>
              <a:endParaRPr lang="en-US"/>
            </a:p>
          </p:txBody>
        </p:sp>
        <p:sp>
          <p:nvSpPr>
            <p:cNvPr id="30" name="Text 12">
              <a:extLst>
                <a:ext uri="{FF2B5EF4-FFF2-40B4-BE49-F238E27FC236}">
                  <a16:creationId xmlns:a16="http://schemas.microsoft.com/office/drawing/2014/main" id="{537DFF1F-237B-C56B-0487-54F493F4E638}"/>
                </a:ext>
              </a:extLst>
            </p:cNvPr>
            <p:cNvSpPr/>
            <p:nvPr/>
          </p:nvSpPr>
          <p:spPr>
            <a:xfrm>
              <a:off x="2026920" y="2990088"/>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dirty="0"/>
            </a:p>
          </p:txBody>
        </p:sp>
        <p:sp>
          <p:nvSpPr>
            <p:cNvPr id="31" name="Text 13">
              <a:extLst>
                <a:ext uri="{FF2B5EF4-FFF2-40B4-BE49-F238E27FC236}">
                  <a16:creationId xmlns:a16="http://schemas.microsoft.com/office/drawing/2014/main" id="{EBC1AD97-C580-844B-886F-3F66718A32E8}"/>
                </a:ext>
              </a:extLst>
            </p:cNvPr>
            <p:cNvSpPr/>
            <p:nvPr/>
          </p:nvSpPr>
          <p:spPr>
            <a:xfrm>
              <a:off x="2346960" y="2990088"/>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Scan QR code to initiate delivery</a:t>
              </a:r>
              <a:endParaRPr lang="en-US" sz="1050" dirty="0"/>
            </a:p>
          </p:txBody>
        </p:sp>
        <p:sp>
          <p:nvSpPr>
            <p:cNvPr id="32" name="Shape 14">
              <a:extLst>
                <a:ext uri="{FF2B5EF4-FFF2-40B4-BE49-F238E27FC236}">
                  <a16:creationId xmlns:a16="http://schemas.microsoft.com/office/drawing/2014/main" id="{0F9A5720-6F66-9D04-DD01-4EC64350C037}"/>
                </a:ext>
              </a:extLst>
            </p:cNvPr>
            <p:cNvSpPr/>
            <p:nvPr/>
          </p:nvSpPr>
          <p:spPr>
            <a:xfrm>
              <a:off x="2026920" y="3483864"/>
              <a:ext cx="201168" cy="201168"/>
            </a:xfrm>
            <a:prstGeom prst="ellipse">
              <a:avLst/>
            </a:prstGeom>
            <a:solidFill>
              <a:schemeClr val="accent1"/>
            </a:solidFill>
            <a:ln w="12700">
              <a:solidFill>
                <a:schemeClr val="accent5"/>
              </a:solidFill>
              <a:prstDash val="solid"/>
            </a:ln>
          </p:spPr>
          <p:txBody>
            <a:bodyPr/>
            <a:lstStyle/>
            <a:p>
              <a:endParaRPr lang="en-US">
                <a:solidFill>
                  <a:schemeClr val="accent5"/>
                </a:solidFill>
              </a:endParaRPr>
            </a:p>
          </p:txBody>
        </p:sp>
        <p:sp>
          <p:nvSpPr>
            <p:cNvPr id="33" name="Text 15">
              <a:extLst>
                <a:ext uri="{FF2B5EF4-FFF2-40B4-BE49-F238E27FC236}">
                  <a16:creationId xmlns:a16="http://schemas.microsoft.com/office/drawing/2014/main" id="{58F03FA2-7F46-016D-267B-AE3D734F6514}"/>
                </a:ext>
              </a:extLst>
            </p:cNvPr>
            <p:cNvSpPr/>
            <p:nvPr/>
          </p:nvSpPr>
          <p:spPr>
            <a:xfrm>
              <a:off x="2026920" y="3483864"/>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dirty="0"/>
            </a:p>
          </p:txBody>
        </p:sp>
        <p:sp>
          <p:nvSpPr>
            <p:cNvPr id="34" name="Text 16">
              <a:extLst>
                <a:ext uri="{FF2B5EF4-FFF2-40B4-BE49-F238E27FC236}">
                  <a16:creationId xmlns:a16="http://schemas.microsoft.com/office/drawing/2014/main" id="{044F773C-C579-118E-0E99-F9E126C584F4}"/>
                </a:ext>
              </a:extLst>
            </p:cNvPr>
            <p:cNvSpPr/>
            <p:nvPr/>
          </p:nvSpPr>
          <p:spPr>
            <a:xfrm>
              <a:off x="2346960" y="3483864"/>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Real-time GPS route (Leaflet map)</a:t>
              </a:r>
              <a:endParaRPr lang="en-US" sz="1050" dirty="0"/>
            </a:p>
          </p:txBody>
        </p:sp>
        <p:sp>
          <p:nvSpPr>
            <p:cNvPr id="35" name="Shape 17">
              <a:extLst>
                <a:ext uri="{FF2B5EF4-FFF2-40B4-BE49-F238E27FC236}">
                  <a16:creationId xmlns:a16="http://schemas.microsoft.com/office/drawing/2014/main" id="{9654812C-8F76-C9E1-850D-53F5F197B5EB}"/>
                </a:ext>
              </a:extLst>
            </p:cNvPr>
            <p:cNvSpPr/>
            <p:nvPr/>
          </p:nvSpPr>
          <p:spPr>
            <a:xfrm>
              <a:off x="2026920" y="3977640"/>
              <a:ext cx="201168" cy="201168"/>
            </a:xfrm>
            <a:prstGeom prst="ellipse">
              <a:avLst/>
            </a:prstGeom>
            <a:solidFill>
              <a:schemeClr val="accent1"/>
            </a:solidFill>
            <a:ln w="12700">
              <a:solidFill>
                <a:schemeClr val="accent5"/>
              </a:solidFill>
              <a:prstDash val="solid"/>
            </a:ln>
          </p:spPr>
          <p:txBody>
            <a:bodyPr/>
            <a:lstStyle/>
            <a:p>
              <a:endParaRPr lang="en-US"/>
            </a:p>
          </p:txBody>
        </p:sp>
        <p:sp>
          <p:nvSpPr>
            <p:cNvPr id="36" name="Text 18">
              <a:extLst>
                <a:ext uri="{FF2B5EF4-FFF2-40B4-BE49-F238E27FC236}">
                  <a16:creationId xmlns:a16="http://schemas.microsoft.com/office/drawing/2014/main" id="{3DEA4CD6-919A-AE17-FB06-135203C2244E}"/>
                </a:ext>
              </a:extLst>
            </p:cNvPr>
            <p:cNvSpPr/>
            <p:nvPr/>
          </p:nvSpPr>
          <p:spPr>
            <a:xfrm>
              <a:off x="2026920" y="3977640"/>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dirty="0"/>
            </a:p>
          </p:txBody>
        </p:sp>
        <p:sp>
          <p:nvSpPr>
            <p:cNvPr id="37" name="Text 19">
              <a:extLst>
                <a:ext uri="{FF2B5EF4-FFF2-40B4-BE49-F238E27FC236}">
                  <a16:creationId xmlns:a16="http://schemas.microsoft.com/office/drawing/2014/main" id="{E84F3667-BEDB-42B1-2304-FCCAD40B69CE}"/>
                </a:ext>
              </a:extLst>
            </p:cNvPr>
            <p:cNvSpPr/>
            <p:nvPr/>
          </p:nvSpPr>
          <p:spPr>
            <a:xfrm>
              <a:off x="2346960" y="3977640"/>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Push notifications (Firebase FCM)</a:t>
              </a:r>
              <a:endParaRPr lang="en-US" sz="1050" dirty="0"/>
            </a:p>
          </p:txBody>
        </p:sp>
        <p:sp>
          <p:nvSpPr>
            <p:cNvPr id="38" name="Shape 20">
              <a:extLst>
                <a:ext uri="{FF2B5EF4-FFF2-40B4-BE49-F238E27FC236}">
                  <a16:creationId xmlns:a16="http://schemas.microsoft.com/office/drawing/2014/main" id="{EDA16284-D34C-5122-DD11-35B089C95D65}"/>
                </a:ext>
              </a:extLst>
            </p:cNvPr>
            <p:cNvSpPr/>
            <p:nvPr/>
          </p:nvSpPr>
          <p:spPr>
            <a:xfrm>
              <a:off x="2026920" y="4471416"/>
              <a:ext cx="201168" cy="201168"/>
            </a:xfrm>
            <a:prstGeom prst="ellipse">
              <a:avLst/>
            </a:prstGeom>
            <a:solidFill>
              <a:srgbClr val="4ADE80"/>
            </a:solidFill>
            <a:ln w="12700">
              <a:solidFill>
                <a:srgbClr val="4ADE80"/>
              </a:solidFill>
              <a:prstDash val="solid"/>
            </a:ln>
          </p:spPr>
          <p:txBody>
            <a:bodyPr/>
            <a:lstStyle/>
            <a:p>
              <a:endParaRPr lang="en-US"/>
            </a:p>
          </p:txBody>
        </p:sp>
        <p:sp>
          <p:nvSpPr>
            <p:cNvPr id="39" name="Text 21">
              <a:extLst>
                <a:ext uri="{FF2B5EF4-FFF2-40B4-BE49-F238E27FC236}">
                  <a16:creationId xmlns:a16="http://schemas.microsoft.com/office/drawing/2014/main" id="{607D7722-06F5-4008-EBCE-F13C45DC54E8}"/>
                </a:ext>
              </a:extLst>
            </p:cNvPr>
            <p:cNvSpPr/>
            <p:nvPr/>
          </p:nvSpPr>
          <p:spPr>
            <a:xfrm>
              <a:off x="2026920" y="4471416"/>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dirty="0"/>
            </a:p>
          </p:txBody>
        </p:sp>
        <p:sp>
          <p:nvSpPr>
            <p:cNvPr id="40" name="Text 22">
              <a:extLst>
                <a:ext uri="{FF2B5EF4-FFF2-40B4-BE49-F238E27FC236}">
                  <a16:creationId xmlns:a16="http://schemas.microsoft.com/office/drawing/2014/main" id="{55D52115-C017-DDB8-259B-AA9AC1062438}"/>
                </a:ext>
              </a:extLst>
            </p:cNvPr>
            <p:cNvSpPr/>
            <p:nvPr/>
          </p:nvSpPr>
          <p:spPr>
            <a:xfrm>
              <a:off x="2346960" y="4471416"/>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Report incidents during transit</a:t>
              </a:r>
              <a:endParaRPr lang="en-US" sz="1050" dirty="0"/>
            </a:p>
          </p:txBody>
        </p:sp>
        <p:sp>
          <p:nvSpPr>
            <p:cNvPr id="41" name="Shape 23">
              <a:extLst>
                <a:ext uri="{FF2B5EF4-FFF2-40B4-BE49-F238E27FC236}">
                  <a16:creationId xmlns:a16="http://schemas.microsoft.com/office/drawing/2014/main" id="{32954EB4-DB8A-6FD0-B31A-1E7EDF431BD3}"/>
                </a:ext>
              </a:extLst>
            </p:cNvPr>
            <p:cNvSpPr/>
            <p:nvPr/>
          </p:nvSpPr>
          <p:spPr>
            <a:xfrm>
              <a:off x="2026920" y="4297680"/>
              <a:ext cx="3840480" cy="1051560"/>
            </a:xfrm>
            <a:prstGeom prst="rect">
              <a:avLst/>
            </a:prstGeom>
            <a:solidFill>
              <a:srgbClr val="0B1222"/>
            </a:solidFill>
            <a:ln w="3810">
              <a:solidFill>
                <a:srgbClr val="475569"/>
              </a:solidFill>
              <a:prstDash val="solid"/>
            </a:ln>
            <a:effectLst>
              <a:outerShdw blurRad="127000" dist="38100" dir="8100000" algn="bl" rotWithShape="0">
                <a:srgbClr val="000000">
                  <a:alpha val="35000"/>
                </a:srgbClr>
              </a:outerShdw>
            </a:effectLst>
          </p:spPr>
          <p:txBody>
            <a:bodyPr/>
            <a:lstStyle/>
            <a:p>
              <a:endParaRPr lang="en-US"/>
            </a:p>
          </p:txBody>
        </p:sp>
        <p:sp>
          <p:nvSpPr>
            <p:cNvPr id="42" name="Text 24">
              <a:extLst>
                <a:ext uri="{FF2B5EF4-FFF2-40B4-BE49-F238E27FC236}">
                  <a16:creationId xmlns:a16="http://schemas.microsoft.com/office/drawing/2014/main" id="{683A7DAB-C41F-3BC0-793B-B90346A4B832}"/>
                </a:ext>
              </a:extLst>
            </p:cNvPr>
            <p:cNvSpPr/>
            <p:nvPr/>
          </p:nvSpPr>
          <p:spPr>
            <a:xfrm>
              <a:off x="2118360" y="4343400"/>
              <a:ext cx="36576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b="1" kern="0" spc="150" dirty="0">
                  <a:solidFill>
                    <a:srgbClr val="475569"/>
                  </a:solidFill>
                </a:rPr>
                <a:t>KEY PERMISSIONS</a:t>
              </a:r>
              <a:endParaRPr lang="en-US" sz="750" dirty="0"/>
            </a:p>
          </p:txBody>
        </p:sp>
        <p:sp>
          <p:nvSpPr>
            <p:cNvPr id="43" name="Shape 25">
              <a:extLst>
                <a:ext uri="{FF2B5EF4-FFF2-40B4-BE49-F238E27FC236}">
                  <a16:creationId xmlns:a16="http://schemas.microsoft.com/office/drawing/2014/main" id="{810E96CA-1632-6FC6-8C78-84F88EE81D49}"/>
                </a:ext>
              </a:extLst>
            </p:cNvPr>
            <p:cNvSpPr/>
            <p:nvPr/>
          </p:nvSpPr>
          <p:spPr>
            <a:xfrm>
              <a:off x="2118360" y="4572000"/>
              <a:ext cx="1143000" cy="274320"/>
            </a:xfrm>
            <a:prstGeom prst="rect">
              <a:avLst/>
            </a:prstGeom>
            <a:solidFill>
              <a:srgbClr val="0D1528"/>
            </a:solidFill>
            <a:ln w="6350">
              <a:solidFill>
                <a:srgbClr val="4ADE80"/>
              </a:solidFill>
              <a:prstDash val="solid"/>
            </a:ln>
            <a:effectLst>
              <a:outerShdw blurRad="127000" dist="38100" dir="8100000" algn="bl" rotWithShape="0">
                <a:srgbClr val="000000">
                  <a:alpha val="35000"/>
                </a:srgbClr>
              </a:outerShdw>
            </a:effectLst>
          </p:spPr>
          <p:txBody>
            <a:bodyPr/>
            <a:lstStyle/>
            <a:p>
              <a:endParaRPr lang="en-US"/>
            </a:p>
          </p:txBody>
        </p:sp>
        <p:sp>
          <p:nvSpPr>
            <p:cNvPr id="44" name="Text 26">
              <a:extLst>
                <a:ext uri="{FF2B5EF4-FFF2-40B4-BE49-F238E27FC236}">
                  <a16:creationId xmlns:a16="http://schemas.microsoft.com/office/drawing/2014/main" id="{68FEB12E-81DD-7A5F-5F63-B9055F1DFA40}"/>
                </a:ext>
              </a:extLst>
            </p:cNvPr>
            <p:cNvSpPr/>
            <p:nvPr/>
          </p:nvSpPr>
          <p:spPr>
            <a:xfrm>
              <a:off x="2118360" y="4572000"/>
              <a:ext cx="11430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dirty="0">
                  <a:solidFill>
                    <a:srgbClr val="4ADE80"/>
                  </a:solidFill>
                </a:rPr>
                <a:t>Location</a:t>
              </a:r>
              <a:endParaRPr lang="en-US" sz="850" dirty="0"/>
            </a:p>
          </p:txBody>
        </p:sp>
        <p:sp>
          <p:nvSpPr>
            <p:cNvPr id="45" name="Shape 27">
              <a:extLst>
                <a:ext uri="{FF2B5EF4-FFF2-40B4-BE49-F238E27FC236}">
                  <a16:creationId xmlns:a16="http://schemas.microsoft.com/office/drawing/2014/main" id="{AEDFB37C-EB13-E934-D722-C4F6DC683806}"/>
                </a:ext>
              </a:extLst>
            </p:cNvPr>
            <p:cNvSpPr/>
            <p:nvPr/>
          </p:nvSpPr>
          <p:spPr>
            <a:xfrm>
              <a:off x="3380232" y="4572000"/>
              <a:ext cx="1143000" cy="274320"/>
            </a:xfrm>
            <a:prstGeom prst="rect">
              <a:avLst/>
            </a:prstGeom>
            <a:solidFill>
              <a:srgbClr val="0D1528"/>
            </a:solidFill>
            <a:ln w="6350">
              <a:solidFill>
                <a:srgbClr val="4ADE80"/>
              </a:solidFill>
              <a:prstDash val="solid"/>
            </a:ln>
            <a:effectLst>
              <a:outerShdw blurRad="127000" dist="38100" dir="8100000" algn="bl" rotWithShape="0">
                <a:srgbClr val="000000">
                  <a:alpha val="35000"/>
                </a:srgbClr>
              </a:outerShdw>
            </a:effectLst>
          </p:spPr>
          <p:txBody>
            <a:bodyPr/>
            <a:lstStyle/>
            <a:p>
              <a:endParaRPr lang="en-US"/>
            </a:p>
          </p:txBody>
        </p:sp>
        <p:sp>
          <p:nvSpPr>
            <p:cNvPr id="46" name="Text 28">
              <a:extLst>
                <a:ext uri="{FF2B5EF4-FFF2-40B4-BE49-F238E27FC236}">
                  <a16:creationId xmlns:a16="http://schemas.microsoft.com/office/drawing/2014/main" id="{A5892090-B3CB-4CD5-4A6B-1CF656AC422E}"/>
                </a:ext>
              </a:extLst>
            </p:cNvPr>
            <p:cNvSpPr/>
            <p:nvPr/>
          </p:nvSpPr>
          <p:spPr>
            <a:xfrm>
              <a:off x="3380232" y="4572000"/>
              <a:ext cx="11430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dirty="0">
                  <a:solidFill>
                    <a:srgbClr val="4ADE80"/>
                  </a:solidFill>
                </a:rPr>
                <a:t>Camera</a:t>
              </a:r>
              <a:endParaRPr lang="en-US" sz="850" dirty="0"/>
            </a:p>
          </p:txBody>
        </p:sp>
        <p:sp>
          <p:nvSpPr>
            <p:cNvPr id="47" name="Shape 29">
              <a:extLst>
                <a:ext uri="{FF2B5EF4-FFF2-40B4-BE49-F238E27FC236}">
                  <a16:creationId xmlns:a16="http://schemas.microsoft.com/office/drawing/2014/main" id="{E9B6CD78-0CA8-7E6F-5B77-94351396F3E1}"/>
                </a:ext>
              </a:extLst>
            </p:cNvPr>
            <p:cNvSpPr/>
            <p:nvPr/>
          </p:nvSpPr>
          <p:spPr>
            <a:xfrm>
              <a:off x="4642104" y="4572000"/>
              <a:ext cx="1143000" cy="274320"/>
            </a:xfrm>
            <a:prstGeom prst="rect">
              <a:avLst/>
            </a:prstGeom>
            <a:solidFill>
              <a:srgbClr val="0D1528"/>
            </a:solidFill>
            <a:ln w="6350">
              <a:solidFill>
                <a:srgbClr val="4ADE80"/>
              </a:solidFill>
              <a:prstDash val="solid"/>
            </a:ln>
            <a:effectLst>
              <a:outerShdw blurRad="127000" dist="38100" dir="8100000" algn="bl" rotWithShape="0">
                <a:srgbClr val="000000">
                  <a:alpha val="35000"/>
                </a:srgbClr>
              </a:outerShdw>
            </a:effectLst>
          </p:spPr>
          <p:txBody>
            <a:bodyPr/>
            <a:lstStyle/>
            <a:p>
              <a:endParaRPr lang="en-US"/>
            </a:p>
          </p:txBody>
        </p:sp>
        <p:sp>
          <p:nvSpPr>
            <p:cNvPr id="48" name="Text 30">
              <a:extLst>
                <a:ext uri="{FF2B5EF4-FFF2-40B4-BE49-F238E27FC236}">
                  <a16:creationId xmlns:a16="http://schemas.microsoft.com/office/drawing/2014/main" id="{E69174E5-BD46-D204-9853-9CD6F4F13A70}"/>
                </a:ext>
              </a:extLst>
            </p:cNvPr>
            <p:cNvSpPr/>
            <p:nvPr/>
          </p:nvSpPr>
          <p:spPr>
            <a:xfrm>
              <a:off x="4642104" y="4572000"/>
              <a:ext cx="11430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dirty="0">
                  <a:solidFill>
                    <a:srgbClr val="4ADE80"/>
                  </a:solidFill>
                </a:rPr>
                <a:t>Notifications</a:t>
              </a:r>
              <a:endParaRPr lang="en-US" sz="850" dirty="0"/>
            </a:p>
          </p:txBody>
        </p:sp>
        <p:sp>
          <p:nvSpPr>
            <p:cNvPr id="49" name="Shape 31">
              <a:extLst>
                <a:ext uri="{FF2B5EF4-FFF2-40B4-BE49-F238E27FC236}">
                  <a16:creationId xmlns:a16="http://schemas.microsoft.com/office/drawing/2014/main" id="{3FACE81B-2398-1E3D-186D-F267C2266044}"/>
                </a:ext>
              </a:extLst>
            </p:cNvPr>
            <p:cNvSpPr/>
            <p:nvPr/>
          </p:nvSpPr>
          <p:spPr>
            <a:xfrm>
              <a:off x="6187440" y="1920240"/>
              <a:ext cx="4114800" cy="3657600"/>
            </a:xfrm>
            <a:prstGeom prst="rect">
              <a:avLst/>
            </a:prstGeom>
            <a:solidFill>
              <a:srgbClr val="0D1528"/>
            </a:solidFill>
            <a:ln w="10160">
              <a:solidFill>
                <a:schemeClr val="accent5"/>
              </a:solidFill>
              <a:prstDash val="solid"/>
            </a:ln>
            <a:effectLst>
              <a:outerShdw blurRad="127000" dist="38100" dir="8100000" algn="bl" rotWithShape="0">
                <a:srgbClr val="000000">
                  <a:alpha val="35000"/>
                </a:srgbClr>
              </a:outerShdw>
            </a:effectLst>
          </p:spPr>
          <p:txBody>
            <a:bodyPr/>
            <a:lstStyle/>
            <a:p>
              <a:endParaRPr lang="en-US"/>
            </a:p>
          </p:txBody>
        </p:sp>
        <p:sp>
          <p:nvSpPr>
            <p:cNvPr id="50" name="Shape 32">
              <a:extLst>
                <a:ext uri="{FF2B5EF4-FFF2-40B4-BE49-F238E27FC236}">
                  <a16:creationId xmlns:a16="http://schemas.microsoft.com/office/drawing/2014/main" id="{0F55F0D8-98E8-B5F6-1E91-DFDA42736390}"/>
                </a:ext>
              </a:extLst>
            </p:cNvPr>
            <p:cNvSpPr/>
            <p:nvPr/>
          </p:nvSpPr>
          <p:spPr>
            <a:xfrm>
              <a:off x="6187440" y="1920240"/>
              <a:ext cx="4114800" cy="54864"/>
            </a:xfrm>
            <a:prstGeom prst="rect">
              <a:avLst/>
            </a:prstGeom>
            <a:solidFill>
              <a:schemeClr val="accent1"/>
            </a:solidFill>
            <a:ln w="12700">
              <a:solidFill>
                <a:schemeClr val="accent5"/>
              </a:solidFill>
              <a:prstDash val="solid"/>
            </a:ln>
          </p:spPr>
          <p:txBody>
            <a:bodyPr/>
            <a:lstStyle/>
            <a:p>
              <a:endParaRPr lang="en-US"/>
            </a:p>
          </p:txBody>
        </p:sp>
        <p:sp>
          <p:nvSpPr>
            <p:cNvPr id="51" name="Text 33">
              <a:extLst>
                <a:ext uri="{FF2B5EF4-FFF2-40B4-BE49-F238E27FC236}">
                  <a16:creationId xmlns:a16="http://schemas.microsoft.com/office/drawing/2014/main" id="{F33296CD-7BD5-D0BD-EC90-A8511907C6D3}"/>
                </a:ext>
              </a:extLst>
            </p:cNvPr>
            <p:cNvSpPr/>
            <p:nvPr/>
          </p:nvSpPr>
          <p:spPr>
            <a:xfrm>
              <a:off x="6324600" y="2011680"/>
              <a:ext cx="374904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chemeClr val="accent5"/>
                  </a:solidFill>
                </a:rPr>
                <a:t>  Technician Interface</a:t>
              </a:r>
              <a:endParaRPr lang="en-US" sz="1300" dirty="0">
                <a:solidFill>
                  <a:schemeClr val="accent5"/>
                </a:solidFill>
              </a:endParaRPr>
            </a:p>
          </p:txBody>
        </p:sp>
        <p:sp>
          <p:nvSpPr>
            <p:cNvPr id="52" name="Shape 34">
              <a:extLst>
                <a:ext uri="{FF2B5EF4-FFF2-40B4-BE49-F238E27FC236}">
                  <a16:creationId xmlns:a16="http://schemas.microsoft.com/office/drawing/2014/main" id="{F38563F7-256C-0E02-2212-C263941705C8}"/>
                </a:ext>
              </a:extLst>
            </p:cNvPr>
            <p:cNvSpPr/>
            <p:nvPr/>
          </p:nvSpPr>
          <p:spPr>
            <a:xfrm>
              <a:off x="6324600" y="2496312"/>
              <a:ext cx="201168" cy="201168"/>
            </a:xfrm>
            <a:prstGeom prst="ellipse">
              <a:avLst/>
            </a:prstGeom>
            <a:solidFill>
              <a:schemeClr val="accent1"/>
            </a:solidFill>
            <a:ln w="12700">
              <a:solidFill>
                <a:schemeClr val="accent5"/>
              </a:solidFill>
              <a:prstDash val="solid"/>
            </a:ln>
          </p:spPr>
          <p:txBody>
            <a:bodyPr/>
            <a:lstStyle/>
            <a:p>
              <a:endParaRPr lang="en-US"/>
            </a:p>
          </p:txBody>
        </p:sp>
        <p:sp>
          <p:nvSpPr>
            <p:cNvPr id="53" name="Text 35">
              <a:extLst>
                <a:ext uri="{FF2B5EF4-FFF2-40B4-BE49-F238E27FC236}">
                  <a16:creationId xmlns:a16="http://schemas.microsoft.com/office/drawing/2014/main" id="{36C336EA-5DB8-B0F7-8C68-92493BB5A942}"/>
                </a:ext>
              </a:extLst>
            </p:cNvPr>
            <p:cNvSpPr/>
            <p:nvPr/>
          </p:nvSpPr>
          <p:spPr>
            <a:xfrm>
              <a:off x="6644640" y="2496312"/>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View mission details &amp; site info</a:t>
              </a:r>
              <a:endParaRPr lang="en-US" sz="1050" dirty="0"/>
            </a:p>
          </p:txBody>
        </p:sp>
        <p:sp>
          <p:nvSpPr>
            <p:cNvPr id="54" name="Shape 36">
              <a:extLst>
                <a:ext uri="{FF2B5EF4-FFF2-40B4-BE49-F238E27FC236}">
                  <a16:creationId xmlns:a16="http://schemas.microsoft.com/office/drawing/2014/main" id="{10D15A5A-82E8-D12B-077D-166241B54C6C}"/>
                </a:ext>
              </a:extLst>
            </p:cNvPr>
            <p:cNvSpPr/>
            <p:nvPr/>
          </p:nvSpPr>
          <p:spPr>
            <a:xfrm>
              <a:off x="6324600" y="2990088"/>
              <a:ext cx="201168" cy="201168"/>
            </a:xfrm>
            <a:prstGeom prst="ellipse">
              <a:avLst/>
            </a:prstGeom>
            <a:solidFill>
              <a:schemeClr val="accent1"/>
            </a:solidFill>
            <a:ln w="12700">
              <a:solidFill>
                <a:schemeClr val="accent5"/>
              </a:solidFill>
              <a:prstDash val="solid"/>
            </a:ln>
          </p:spPr>
          <p:txBody>
            <a:bodyPr/>
            <a:lstStyle/>
            <a:p>
              <a:endParaRPr lang="en-US"/>
            </a:p>
          </p:txBody>
        </p:sp>
        <p:sp>
          <p:nvSpPr>
            <p:cNvPr id="55" name="Text 37">
              <a:extLst>
                <a:ext uri="{FF2B5EF4-FFF2-40B4-BE49-F238E27FC236}">
                  <a16:creationId xmlns:a16="http://schemas.microsoft.com/office/drawing/2014/main" id="{BB2AF4DD-CA85-CD2A-26E8-181703E17165}"/>
                </a:ext>
              </a:extLst>
            </p:cNvPr>
            <p:cNvSpPr/>
            <p:nvPr/>
          </p:nvSpPr>
          <p:spPr>
            <a:xfrm>
              <a:off x="6644640" y="2990088"/>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Scan QR code to confirm delivery</a:t>
              </a:r>
              <a:endParaRPr lang="en-US" sz="1050" dirty="0"/>
            </a:p>
          </p:txBody>
        </p:sp>
        <p:sp>
          <p:nvSpPr>
            <p:cNvPr id="56" name="Shape 38">
              <a:extLst>
                <a:ext uri="{FF2B5EF4-FFF2-40B4-BE49-F238E27FC236}">
                  <a16:creationId xmlns:a16="http://schemas.microsoft.com/office/drawing/2014/main" id="{F77A89F1-D02E-4851-F1F1-2097B9BFAF77}"/>
                </a:ext>
              </a:extLst>
            </p:cNvPr>
            <p:cNvSpPr/>
            <p:nvPr/>
          </p:nvSpPr>
          <p:spPr>
            <a:xfrm>
              <a:off x="6324600" y="3483864"/>
              <a:ext cx="201168" cy="201168"/>
            </a:xfrm>
            <a:prstGeom prst="ellipse">
              <a:avLst/>
            </a:prstGeom>
            <a:solidFill>
              <a:schemeClr val="accent1"/>
            </a:solidFill>
            <a:ln w="12700">
              <a:solidFill>
                <a:schemeClr val="accent5"/>
              </a:solidFill>
              <a:prstDash val="solid"/>
            </a:ln>
          </p:spPr>
          <p:txBody>
            <a:bodyPr/>
            <a:lstStyle/>
            <a:p>
              <a:endParaRPr lang="en-US"/>
            </a:p>
          </p:txBody>
        </p:sp>
        <p:sp>
          <p:nvSpPr>
            <p:cNvPr id="57" name="Text 39">
              <a:extLst>
                <a:ext uri="{FF2B5EF4-FFF2-40B4-BE49-F238E27FC236}">
                  <a16:creationId xmlns:a16="http://schemas.microsoft.com/office/drawing/2014/main" id="{BF72087D-10E6-B836-0D5F-1DFC07822318}"/>
                </a:ext>
              </a:extLst>
            </p:cNvPr>
            <p:cNvSpPr/>
            <p:nvPr/>
          </p:nvSpPr>
          <p:spPr>
            <a:xfrm>
              <a:off x="6644640" y="3483864"/>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Submit field intervention report</a:t>
              </a:r>
              <a:endParaRPr lang="en-US" sz="1050" dirty="0"/>
            </a:p>
          </p:txBody>
        </p:sp>
        <p:sp>
          <p:nvSpPr>
            <p:cNvPr id="58" name="Shape 40">
              <a:extLst>
                <a:ext uri="{FF2B5EF4-FFF2-40B4-BE49-F238E27FC236}">
                  <a16:creationId xmlns:a16="http://schemas.microsoft.com/office/drawing/2014/main" id="{CC66EB1B-B4C6-ECB0-3860-CEFB8E12F66D}"/>
                </a:ext>
              </a:extLst>
            </p:cNvPr>
            <p:cNvSpPr/>
            <p:nvPr/>
          </p:nvSpPr>
          <p:spPr>
            <a:xfrm>
              <a:off x="6324600" y="3977640"/>
              <a:ext cx="201168" cy="201168"/>
            </a:xfrm>
            <a:prstGeom prst="ellipse">
              <a:avLst/>
            </a:prstGeom>
            <a:solidFill>
              <a:schemeClr val="accent1"/>
            </a:solidFill>
            <a:ln w="12700">
              <a:solidFill>
                <a:schemeClr val="accent5"/>
              </a:solidFill>
              <a:prstDash val="solid"/>
            </a:ln>
          </p:spPr>
          <p:txBody>
            <a:bodyPr/>
            <a:lstStyle/>
            <a:p>
              <a:endParaRPr lang="en-US"/>
            </a:p>
          </p:txBody>
        </p:sp>
        <p:sp>
          <p:nvSpPr>
            <p:cNvPr id="59" name="Text 41">
              <a:extLst>
                <a:ext uri="{FF2B5EF4-FFF2-40B4-BE49-F238E27FC236}">
                  <a16:creationId xmlns:a16="http://schemas.microsoft.com/office/drawing/2014/main" id="{31D62E8E-70F1-E961-EE17-9010EE541E93}"/>
                </a:ext>
              </a:extLst>
            </p:cNvPr>
            <p:cNvSpPr/>
            <p:nvPr/>
          </p:nvSpPr>
          <p:spPr>
            <a:xfrm>
              <a:off x="6644640" y="3977640"/>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Upload site photos (AI-validated)</a:t>
              </a:r>
              <a:endParaRPr lang="en-US" sz="1050" dirty="0"/>
            </a:p>
          </p:txBody>
        </p:sp>
        <p:sp>
          <p:nvSpPr>
            <p:cNvPr id="60" name="Shape 42">
              <a:extLst>
                <a:ext uri="{FF2B5EF4-FFF2-40B4-BE49-F238E27FC236}">
                  <a16:creationId xmlns:a16="http://schemas.microsoft.com/office/drawing/2014/main" id="{57C05838-CC87-CA63-3283-A1E5C847FCF9}"/>
                </a:ext>
              </a:extLst>
            </p:cNvPr>
            <p:cNvSpPr/>
            <p:nvPr/>
          </p:nvSpPr>
          <p:spPr>
            <a:xfrm>
              <a:off x="6324600" y="4471416"/>
              <a:ext cx="201168" cy="201168"/>
            </a:xfrm>
            <a:prstGeom prst="ellipse">
              <a:avLst/>
            </a:prstGeom>
            <a:solidFill>
              <a:srgbClr val="2DD4BF"/>
            </a:solidFill>
            <a:ln w="12700">
              <a:solidFill>
                <a:srgbClr val="2DD4BF"/>
              </a:solidFill>
              <a:prstDash val="solid"/>
            </a:ln>
          </p:spPr>
          <p:txBody>
            <a:bodyPr/>
            <a:lstStyle/>
            <a:p>
              <a:endParaRPr lang="en-US"/>
            </a:p>
          </p:txBody>
        </p:sp>
        <p:sp>
          <p:nvSpPr>
            <p:cNvPr id="61" name="Text 43">
              <a:extLst>
                <a:ext uri="{FF2B5EF4-FFF2-40B4-BE49-F238E27FC236}">
                  <a16:creationId xmlns:a16="http://schemas.microsoft.com/office/drawing/2014/main" id="{56C0A1D8-380F-32F8-E334-F6DDFCB34A63}"/>
                </a:ext>
              </a:extLst>
            </p:cNvPr>
            <p:cNvSpPr/>
            <p:nvPr/>
          </p:nvSpPr>
          <p:spPr>
            <a:xfrm>
              <a:off x="6644640" y="4471416"/>
              <a:ext cx="35204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E2E8F0"/>
                  </a:solidFill>
                </a:rPr>
                <a:t>View past interventions history</a:t>
              </a:r>
              <a:endParaRPr lang="en-US" sz="1050" dirty="0"/>
            </a:p>
          </p:txBody>
        </p:sp>
        <p:sp>
          <p:nvSpPr>
            <p:cNvPr id="62" name="Shape 44">
              <a:extLst>
                <a:ext uri="{FF2B5EF4-FFF2-40B4-BE49-F238E27FC236}">
                  <a16:creationId xmlns:a16="http://schemas.microsoft.com/office/drawing/2014/main" id="{4BF2361F-F633-0AEF-AF21-163BC3F2DE7C}"/>
                </a:ext>
              </a:extLst>
            </p:cNvPr>
            <p:cNvSpPr/>
            <p:nvPr/>
          </p:nvSpPr>
          <p:spPr>
            <a:xfrm>
              <a:off x="6324600" y="4297680"/>
              <a:ext cx="3840480" cy="1051560"/>
            </a:xfrm>
            <a:prstGeom prst="rect">
              <a:avLst/>
            </a:prstGeom>
            <a:solidFill>
              <a:srgbClr val="0B1222"/>
            </a:solidFill>
            <a:ln w="3810">
              <a:solidFill>
                <a:srgbClr val="475569"/>
              </a:solidFill>
              <a:prstDash val="solid"/>
            </a:ln>
            <a:effectLst>
              <a:outerShdw blurRad="127000" dist="38100" dir="8100000" algn="bl" rotWithShape="0">
                <a:srgbClr val="000000">
                  <a:alpha val="35000"/>
                </a:srgbClr>
              </a:outerShdw>
            </a:effectLst>
          </p:spPr>
          <p:txBody>
            <a:bodyPr/>
            <a:lstStyle/>
            <a:p>
              <a:endParaRPr lang="en-US"/>
            </a:p>
          </p:txBody>
        </p:sp>
        <p:sp>
          <p:nvSpPr>
            <p:cNvPr id="63" name="Text 45">
              <a:extLst>
                <a:ext uri="{FF2B5EF4-FFF2-40B4-BE49-F238E27FC236}">
                  <a16:creationId xmlns:a16="http://schemas.microsoft.com/office/drawing/2014/main" id="{F883E121-BC86-993C-8F31-F72B76C48443}"/>
                </a:ext>
              </a:extLst>
            </p:cNvPr>
            <p:cNvSpPr/>
            <p:nvPr/>
          </p:nvSpPr>
          <p:spPr>
            <a:xfrm>
              <a:off x="6416040" y="4343400"/>
              <a:ext cx="36576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b="1" kern="0" spc="150" dirty="0">
                  <a:solidFill>
                    <a:srgbClr val="475569"/>
                  </a:solidFill>
                </a:rPr>
                <a:t>KEY PERMISSIONS</a:t>
              </a:r>
              <a:endParaRPr lang="en-US" sz="750" dirty="0"/>
            </a:p>
          </p:txBody>
        </p:sp>
        <p:sp>
          <p:nvSpPr>
            <p:cNvPr id="64" name="Shape 46">
              <a:extLst>
                <a:ext uri="{FF2B5EF4-FFF2-40B4-BE49-F238E27FC236}">
                  <a16:creationId xmlns:a16="http://schemas.microsoft.com/office/drawing/2014/main" id="{1DA0C4D1-6574-75C1-F7F1-7561910ED0BC}"/>
                </a:ext>
              </a:extLst>
            </p:cNvPr>
            <p:cNvSpPr/>
            <p:nvPr/>
          </p:nvSpPr>
          <p:spPr>
            <a:xfrm>
              <a:off x="6416040" y="4572000"/>
              <a:ext cx="1143000" cy="274320"/>
            </a:xfrm>
            <a:prstGeom prst="rect">
              <a:avLst/>
            </a:prstGeom>
            <a:solidFill>
              <a:srgbClr val="0D1528"/>
            </a:solidFill>
            <a:ln w="6350">
              <a:solidFill>
                <a:srgbClr val="2DD4BF"/>
              </a:solidFill>
              <a:prstDash val="solid"/>
            </a:ln>
            <a:effectLst>
              <a:outerShdw blurRad="127000" dist="38100" dir="8100000" algn="bl" rotWithShape="0">
                <a:srgbClr val="000000">
                  <a:alpha val="35000"/>
                </a:srgbClr>
              </a:outerShdw>
            </a:effectLst>
          </p:spPr>
          <p:txBody>
            <a:bodyPr/>
            <a:lstStyle/>
            <a:p>
              <a:endParaRPr lang="en-US"/>
            </a:p>
          </p:txBody>
        </p:sp>
        <p:sp>
          <p:nvSpPr>
            <p:cNvPr id="65" name="Text 47">
              <a:extLst>
                <a:ext uri="{FF2B5EF4-FFF2-40B4-BE49-F238E27FC236}">
                  <a16:creationId xmlns:a16="http://schemas.microsoft.com/office/drawing/2014/main" id="{E5A28C31-50B4-2B85-2B8C-4F4F30E44066}"/>
                </a:ext>
              </a:extLst>
            </p:cNvPr>
            <p:cNvSpPr/>
            <p:nvPr/>
          </p:nvSpPr>
          <p:spPr>
            <a:xfrm>
              <a:off x="6416040" y="4572000"/>
              <a:ext cx="11430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dirty="0">
                  <a:solidFill>
                    <a:srgbClr val="2DD4BF"/>
                  </a:solidFill>
                </a:rPr>
                <a:t>Camera</a:t>
              </a:r>
              <a:endParaRPr lang="en-US" sz="850" dirty="0"/>
            </a:p>
          </p:txBody>
        </p:sp>
        <p:sp>
          <p:nvSpPr>
            <p:cNvPr id="66" name="Shape 48">
              <a:extLst>
                <a:ext uri="{FF2B5EF4-FFF2-40B4-BE49-F238E27FC236}">
                  <a16:creationId xmlns:a16="http://schemas.microsoft.com/office/drawing/2014/main" id="{AB4226E3-4858-79C7-17E3-A0D7F0A671A5}"/>
                </a:ext>
              </a:extLst>
            </p:cNvPr>
            <p:cNvSpPr/>
            <p:nvPr/>
          </p:nvSpPr>
          <p:spPr>
            <a:xfrm>
              <a:off x="7677912" y="4572000"/>
              <a:ext cx="1143000" cy="274320"/>
            </a:xfrm>
            <a:prstGeom prst="rect">
              <a:avLst/>
            </a:prstGeom>
            <a:solidFill>
              <a:srgbClr val="0D1528"/>
            </a:solidFill>
            <a:ln w="6350">
              <a:solidFill>
                <a:srgbClr val="2DD4BF"/>
              </a:solidFill>
              <a:prstDash val="solid"/>
            </a:ln>
            <a:effectLst>
              <a:outerShdw blurRad="127000" dist="38100" dir="8100000" algn="bl" rotWithShape="0">
                <a:srgbClr val="000000">
                  <a:alpha val="35000"/>
                </a:srgbClr>
              </a:outerShdw>
            </a:effectLst>
          </p:spPr>
          <p:txBody>
            <a:bodyPr/>
            <a:lstStyle/>
            <a:p>
              <a:endParaRPr lang="en-US"/>
            </a:p>
          </p:txBody>
        </p:sp>
        <p:sp>
          <p:nvSpPr>
            <p:cNvPr id="67" name="Text 49">
              <a:extLst>
                <a:ext uri="{FF2B5EF4-FFF2-40B4-BE49-F238E27FC236}">
                  <a16:creationId xmlns:a16="http://schemas.microsoft.com/office/drawing/2014/main" id="{312B3897-B255-984C-A926-8BE4172C41DB}"/>
                </a:ext>
              </a:extLst>
            </p:cNvPr>
            <p:cNvSpPr/>
            <p:nvPr/>
          </p:nvSpPr>
          <p:spPr>
            <a:xfrm>
              <a:off x="7677912" y="4572000"/>
              <a:ext cx="11430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dirty="0">
                  <a:solidFill>
                    <a:srgbClr val="2DD4BF"/>
                  </a:solidFill>
                </a:rPr>
                <a:t>Storage</a:t>
              </a:r>
              <a:endParaRPr lang="en-US" sz="850" dirty="0"/>
            </a:p>
          </p:txBody>
        </p:sp>
        <p:sp>
          <p:nvSpPr>
            <p:cNvPr id="68" name="Shape 50">
              <a:extLst>
                <a:ext uri="{FF2B5EF4-FFF2-40B4-BE49-F238E27FC236}">
                  <a16:creationId xmlns:a16="http://schemas.microsoft.com/office/drawing/2014/main" id="{C61F9F25-408B-5419-9D33-102F064640B3}"/>
                </a:ext>
              </a:extLst>
            </p:cNvPr>
            <p:cNvSpPr/>
            <p:nvPr/>
          </p:nvSpPr>
          <p:spPr>
            <a:xfrm>
              <a:off x="8939784" y="4572000"/>
              <a:ext cx="1143000" cy="274320"/>
            </a:xfrm>
            <a:prstGeom prst="rect">
              <a:avLst/>
            </a:prstGeom>
            <a:solidFill>
              <a:srgbClr val="0D1528"/>
            </a:solidFill>
            <a:ln w="6350">
              <a:solidFill>
                <a:srgbClr val="2DD4BF"/>
              </a:solidFill>
              <a:prstDash val="solid"/>
            </a:ln>
            <a:effectLst>
              <a:outerShdw blurRad="127000" dist="38100" dir="8100000" algn="bl" rotWithShape="0">
                <a:srgbClr val="000000">
                  <a:alpha val="35000"/>
                </a:srgbClr>
              </a:outerShdw>
            </a:effectLst>
          </p:spPr>
          <p:txBody>
            <a:bodyPr/>
            <a:lstStyle/>
            <a:p>
              <a:endParaRPr lang="en-US"/>
            </a:p>
          </p:txBody>
        </p:sp>
        <p:sp>
          <p:nvSpPr>
            <p:cNvPr id="69" name="Text 51">
              <a:extLst>
                <a:ext uri="{FF2B5EF4-FFF2-40B4-BE49-F238E27FC236}">
                  <a16:creationId xmlns:a16="http://schemas.microsoft.com/office/drawing/2014/main" id="{53A53EF6-FE74-EAED-FA51-C5D314BAE0C2}"/>
                </a:ext>
              </a:extLst>
            </p:cNvPr>
            <p:cNvSpPr/>
            <p:nvPr/>
          </p:nvSpPr>
          <p:spPr>
            <a:xfrm>
              <a:off x="8939784" y="4572000"/>
              <a:ext cx="11430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dirty="0">
                  <a:solidFill>
                    <a:srgbClr val="2DD4BF"/>
                  </a:solidFill>
                </a:rPr>
                <a:t>Location</a:t>
              </a:r>
              <a:endParaRPr lang="en-US" sz="85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88735" y="1569682"/>
            <a:ext cx="3383194" cy="5034324"/>
          </a:xfrm>
          <a:prstGeom prst="rect">
            <a:avLst/>
          </a:prstGeom>
        </p:spPr>
      </p:pic>
      <p:pic>
        <p:nvPicPr>
          <p:cNvPr id="3" name="Image 1" descr="preencoded.png"/>
          <p:cNvPicPr>
            <a:picLocks noChangeAspect="1"/>
          </p:cNvPicPr>
          <p:nvPr/>
        </p:nvPicPr>
        <p:blipFill>
          <a:blip r:embed="rId4"/>
          <a:stretch>
            <a:fillRect/>
          </a:stretch>
        </p:blipFill>
        <p:spPr>
          <a:xfrm>
            <a:off x="-2285943" y="1777956"/>
            <a:ext cx="5714857" cy="5034324"/>
          </a:xfrm>
          <a:prstGeom prst="rect">
            <a:avLst/>
          </a:prstGeom>
        </p:spPr>
      </p:pic>
      <p:pic>
        <p:nvPicPr>
          <p:cNvPr id="4" name="Image 2" descr="preencoded.png"/>
          <p:cNvPicPr>
            <a:picLocks noChangeAspect="1"/>
          </p:cNvPicPr>
          <p:nvPr/>
        </p:nvPicPr>
        <p:blipFill>
          <a:blip r:embed="rId3"/>
          <a:stretch>
            <a:fillRect/>
          </a:stretch>
        </p:blipFill>
        <p:spPr>
          <a:xfrm>
            <a:off x="6859339" y="1442686"/>
            <a:ext cx="3383194" cy="5034324"/>
          </a:xfrm>
          <a:prstGeom prst="rect">
            <a:avLst/>
          </a:prstGeom>
        </p:spPr>
      </p:pic>
      <p:pic>
        <p:nvPicPr>
          <p:cNvPr id="5" name="Image 3" descr="preencoded.png"/>
          <p:cNvPicPr>
            <a:picLocks noChangeAspect="1"/>
          </p:cNvPicPr>
          <p:nvPr/>
        </p:nvPicPr>
        <p:blipFill>
          <a:blip r:embed="rId4"/>
          <a:stretch>
            <a:fillRect/>
          </a:stretch>
        </p:blipFill>
        <p:spPr>
          <a:xfrm>
            <a:off x="-2285943" y="1777956"/>
            <a:ext cx="5714857" cy="5034324"/>
          </a:xfrm>
          <a:prstGeom prst="rect">
            <a:avLst/>
          </a:prstGeom>
        </p:spPr>
      </p:pic>
      <p:pic>
        <p:nvPicPr>
          <p:cNvPr id="6" name="Image 4" descr="preencoded.png"/>
          <p:cNvPicPr>
            <a:picLocks noChangeAspect="1"/>
          </p:cNvPicPr>
          <p:nvPr/>
        </p:nvPicPr>
        <p:blipFill>
          <a:blip r:embed="rId5"/>
          <a:stretch>
            <a:fillRect/>
          </a:stretch>
        </p:blipFill>
        <p:spPr>
          <a:xfrm>
            <a:off x="10413740" y="4825879"/>
            <a:ext cx="761981" cy="761981"/>
          </a:xfrm>
          <a:prstGeom prst="rect">
            <a:avLst/>
          </a:prstGeom>
        </p:spPr>
      </p:pic>
      <p:pic>
        <p:nvPicPr>
          <p:cNvPr id="7" name="Image 5" descr="preencoded.png"/>
          <p:cNvPicPr>
            <a:picLocks noChangeAspect="1"/>
          </p:cNvPicPr>
          <p:nvPr/>
        </p:nvPicPr>
        <p:blipFill>
          <a:blip r:embed="rId6"/>
          <a:stretch>
            <a:fillRect/>
          </a:stretch>
        </p:blipFill>
        <p:spPr>
          <a:xfrm>
            <a:off x="1015975" y="1777956"/>
            <a:ext cx="761981" cy="761981"/>
          </a:xfrm>
          <a:prstGeom prst="rect">
            <a:avLst/>
          </a:prstGeom>
        </p:spPr>
      </p:pic>
      <p:pic>
        <p:nvPicPr>
          <p:cNvPr id="8" name="Image 6" descr="preencoded.png"/>
          <p:cNvPicPr>
            <a:picLocks noChangeAspect="1"/>
          </p:cNvPicPr>
          <p:nvPr/>
        </p:nvPicPr>
        <p:blipFill>
          <a:blip r:embed="rId5"/>
          <a:stretch>
            <a:fillRect/>
          </a:stretch>
        </p:blipFill>
        <p:spPr>
          <a:xfrm>
            <a:off x="10413740" y="4825879"/>
            <a:ext cx="761981" cy="761981"/>
          </a:xfrm>
          <a:prstGeom prst="rect">
            <a:avLst/>
          </a:prstGeom>
        </p:spPr>
      </p:pic>
      <p:pic>
        <p:nvPicPr>
          <p:cNvPr id="9" name="Image 7" descr="preencoded.png"/>
          <p:cNvPicPr>
            <a:picLocks noChangeAspect="1"/>
          </p:cNvPicPr>
          <p:nvPr/>
        </p:nvPicPr>
        <p:blipFill>
          <a:blip r:embed="rId6"/>
          <a:stretch>
            <a:fillRect/>
          </a:stretch>
        </p:blipFill>
        <p:spPr>
          <a:xfrm>
            <a:off x="1015975" y="1777956"/>
            <a:ext cx="761981" cy="761981"/>
          </a:xfrm>
          <a:prstGeom prst="rect">
            <a:avLst/>
          </a:prstGeom>
        </p:spPr>
      </p:pic>
      <p:pic>
        <p:nvPicPr>
          <p:cNvPr id="10" name="Image 8" descr="preencoded.png"/>
          <p:cNvPicPr>
            <a:picLocks noChangeAspect="1"/>
          </p:cNvPicPr>
          <p:nvPr/>
        </p:nvPicPr>
        <p:blipFill>
          <a:blip r:embed="rId7"/>
          <a:stretch>
            <a:fillRect/>
          </a:stretch>
        </p:blipFill>
        <p:spPr>
          <a:xfrm>
            <a:off x="11429714" y="253994"/>
            <a:ext cx="507987" cy="507987"/>
          </a:xfrm>
          <a:prstGeom prst="rect">
            <a:avLst/>
          </a:prstGeom>
        </p:spPr>
      </p:pic>
      <p:sp>
        <p:nvSpPr>
          <p:cNvPr id="11" name="Text 0"/>
          <p:cNvSpPr/>
          <p:nvPr/>
        </p:nvSpPr>
        <p:spPr>
          <a:xfrm>
            <a:off x="1523961" y="380990"/>
            <a:ext cx="9143771" cy="2031949"/>
          </a:xfrm>
          <a:prstGeom prst="rect">
            <a:avLst/>
          </a:prstGeom>
          <a:noFill/>
          <a:ln/>
        </p:spPr>
        <p:txBody>
          <a:bodyPr wrap="square" lIns="1016" tIns="1016" rIns="1016" bIns="1016" rtlCol="0" anchor="t"/>
          <a:lstStyle/>
          <a:p>
            <a:pPr marL="0" indent="0" algn="ctr">
              <a:lnSpc>
                <a:spcPct val="130000"/>
              </a:lnSpc>
              <a:buNone/>
            </a:pPr>
            <a:r>
              <a:rPr lang="en-US" sz="2700" i="1" dirty="0">
                <a:solidFill>
                  <a:srgbClr val="00FFFF"/>
                </a:solidFill>
                <a:latin typeface="Calibri" pitchFamily="34" charset="0"/>
                <a:ea typeface="Calibri" pitchFamily="34" charset="-122"/>
                <a:cs typeface="Calibri" pitchFamily="34" charset="-120"/>
              </a:rPr>
              <a:t>Some Pictures of the mobile app</a:t>
            </a:r>
            <a:endParaRPr lang="en-US" sz="2700" dirty="0"/>
          </a:p>
        </p:txBody>
      </p:sp>
      <p:sp>
        <p:nvSpPr>
          <p:cNvPr id="13" name="Text 2"/>
          <p:cNvSpPr/>
          <p:nvPr/>
        </p:nvSpPr>
        <p:spPr>
          <a:xfrm>
            <a:off x="1523962" y="5206870"/>
            <a:ext cx="9143771" cy="761981"/>
          </a:xfrm>
          <a:prstGeom prst="rect">
            <a:avLst/>
          </a:prstGeom>
          <a:noFill/>
          <a:ln/>
        </p:spPr>
        <p:txBody>
          <a:bodyPr wrap="square" lIns="1016" tIns="1016" rIns="1016" bIns="1016" rtlCol="0" anchor="t"/>
          <a:lstStyle/>
          <a:p>
            <a:pPr marL="0" indent="0" algn="ctr">
              <a:lnSpc>
                <a:spcPct val="130000"/>
              </a:lnSpc>
              <a:buNone/>
            </a:pPr>
            <a:endParaRPr lang="en-US" sz="1300" dirty="0"/>
          </a:p>
        </p:txBody>
      </p:sp>
      <p:pic>
        <p:nvPicPr>
          <p:cNvPr id="16" name="Picture 15">
            <a:extLst>
              <a:ext uri="{FF2B5EF4-FFF2-40B4-BE49-F238E27FC236}">
                <a16:creationId xmlns:a16="http://schemas.microsoft.com/office/drawing/2014/main" id="{117719F4-4409-F80D-EDB0-DBC5AA00E855}"/>
              </a:ext>
            </a:extLst>
          </p:cNvPr>
          <p:cNvPicPr>
            <a:picLocks noChangeAspect="1"/>
          </p:cNvPicPr>
          <p:nvPr/>
        </p:nvPicPr>
        <p:blipFill>
          <a:blip r:embed="rId8"/>
          <a:stretch>
            <a:fillRect/>
          </a:stretch>
        </p:blipFill>
        <p:spPr>
          <a:xfrm>
            <a:off x="1118813" y="1854191"/>
            <a:ext cx="2080269" cy="3733669"/>
          </a:xfrm>
          <a:prstGeom prst="rect">
            <a:avLst/>
          </a:prstGeom>
        </p:spPr>
      </p:pic>
      <p:pic>
        <p:nvPicPr>
          <p:cNvPr id="18" name="Picture 17">
            <a:extLst>
              <a:ext uri="{FF2B5EF4-FFF2-40B4-BE49-F238E27FC236}">
                <a16:creationId xmlns:a16="http://schemas.microsoft.com/office/drawing/2014/main" id="{5ED55A14-481D-A748-716B-800A2F7F1AD1}"/>
              </a:ext>
            </a:extLst>
          </p:cNvPr>
          <p:cNvPicPr>
            <a:picLocks noChangeAspect="1"/>
          </p:cNvPicPr>
          <p:nvPr/>
        </p:nvPicPr>
        <p:blipFill>
          <a:blip r:embed="rId9"/>
          <a:stretch>
            <a:fillRect/>
          </a:stretch>
        </p:blipFill>
        <p:spPr>
          <a:xfrm>
            <a:off x="3740667" y="1777957"/>
            <a:ext cx="2080269" cy="3809903"/>
          </a:xfrm>
          <a:prstGeom prst="rect">
            <a:avLst/>
          </a:prstGeom>
        </p:spPr>
      </p:pic>
      <p:pic>
        <p:nvPicPr>
          <p:cNvPr id="20" name="Picture 19">
            <a:extLst>
              <a:ext uri="{FF2B5EF4-FFF2-40B4-BE49-F238E27FC236}">
                <a16:creationId xmlns:a16="http://schemas.microsoft.com/office/drawing/2014/main" id="{13A66B53-FB16-8939-2881-916082DB3CED}"/>
              </a:ext>
            </a:extLst>
          </p:cNvPr>
          <p:cNvPicPr>
            <a:picLocks noChangeAspect="1"/>
          </p:cNvPicPr>
          <p:nvPr/>
        </p:nvPicPr>
        <p:blipFill>
          <a:blip r:embed="rId10"/>
          <a:stretch>
            <a:fillRect/>
          </a:stretch>
        </p:blipFill>
        <p:spPr>
          <a:xfrm>
            <a:off x="6214459" y="1725606"/>
            <a:ext cx="2368296" cy="3809903"/>
          </a:xfrm>
          <a:prstGeom prst="rect">
            <a:avLst/>
          </a:prstGeom>
        </p:spPr>
      </p:pic>
      <p:pic>
        <p:nvPicPr>
          <p:cNvPr id="22" name="Picture 21">
            <a:extLst>
              <a:ext uri="{FF2B5EF4-FFF2-40B4-BE49-F238E27FC236}">
                <a16:creationId xmlns:a16="http://schemas.microsoft.com/office/drawing/2014/main" id="{3CFA041D-8A92-6031-FC84-D537ABA4A20E}"/>
              </a:ext>
            </a:extLst>
          </p:cNvPr>
          <p:cNvPicPr>
            <a:picLocks noChangeAspect="1"/>
          </p:cNvPicPr>
          <p:nvPr/>
        </p:nvPicPr>
        <p:blipFill>
          <a:blip r:embed="rId11"/>
          <a:stretch>
            <a:fillRect/>
          </a:stretch>
        </p:blipFill>
        <p:spPr>
          <a:xfrm>
            <a:off x="8876982" y="1703309"/>
            <a:ext cx="2195898" cy="3832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62668" y="4043505"/>
            <a:ext cx="3315463" cy="3002375"/>
          </a:xfrm>
          <a:prstGeom prst="rect">
            <a:avLst/>
          </a:prstGeom>
        </p:spPr>
      </p:pic>
      <p:pic>
        <p:nvPicPr>
          <p:cNvPr id="4" name="Image 2" descr="preencoded.png"/>
          <p:cNvPicPr>
            <a:picLocks noChangeAspect="1"/>
          </p:cNvPicPr>
          <p:nvPr/>
        </p:nvPicPr>
        <p:blipFill>
          <a:blip r:embed="rId4"/>
          <a:stretch>
            <a:fillRect/>
          </a:stretch>
        </p:blipFill>
        <p:spPr>
          <a:xfrm>
            <a:off x="11429714" y="253994"/>
            <a:ext cx="507987" cy="507987"/>
          </a:xfrm>
          <a:prstGeom prst="rect">
            <a:avLst/>
          </a:prstGeom>
        </p:spPr>
      </p:pic>
      <p:sp>
        <p:nvSpPr>
          <p:cNvPr id="5"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Web App Features
</a:t>
            </a:r>
            <a:endParaRPr lang="en-US" sz="2900" dirty="0"/>
          </a:p>
        </p:txBody>
      </p:sp>
      <p:sp>
        <p:nvSpPr>
          <p:cNvPr id="16" name="Text 8"/>
          <p:cNvSpPr/>
          <p:nvPr/>
        </p:nvSpPr>
        <p:spPr>
          <a:xfrm>
            <a:off x="1587460" y="5650089"/>
            <a:ext cx="9956551" cy="507987"/>
          </a:xfrm>
          <a:prstGeom prst="rect">
            <a:avLst/>
          </a:prstGeom>
          <a:noFill/>
          <a:ln/>
        </p:spPr>
        <p:txBody>
          <a:bodyPr wrap="square" lIns="0" tIns="0" rIns="0" bIns="0" rtlCol="0" anchor="t"/>
          <a:lstStyle/>
          <a:p>
            <a:pPr marL="0" indent="0" algn="l">
              <a:lnSpc>
                <a:spcPct val="150000"/>
              </a:lnSpc>
              <a:buNone/>
            </a:pPr>
            <a:r>
              <a:rPr lang="en-US" sz="1500" dirty="0">
                <a:solidFill>
                  <a:schemeClr val="accent5"/>
                </a:solidFill>
                <a:ea typeface="Calibri" pitchFamily="34" charset="-122"/>
                <a:cs typeface="Calibri" pitchFamily="34" charset="-120"/>
              </a:rPr>
              <a:t>
</a:t>
            </a:r>
            <a:endParaRPr lang="en-US" sz="1500" dirty="0">
              <a:solidFill>
                <a:schemeClr val="accent5"/>
              </a:solidFill>
            </a:endParaRPr>
          </a:p>
        </p:txBody>
      </p:sp>
      <p:sp>
        <p:nvSpPr>
          <p:cNvPr id="17" name="Text 3">
            <a:extLst>
              <a:ext uri="{FF2B5EF4-FFF2-40B4-BE49-F238E27FC236}">
                <a16:creationId xmlns:a16="http://schemas.microsoft.com/office/drawing/2014/main" id="{8F0E6698-3532-AF9F-5099-A8210196142D}"/>
              </a:ext>
            </a:extLst>
          </p:cNvPr>
          <p:cNvSpPr/>
          <p:nvPr/>
        </p:nvSpPr>
        <p:spPr>
          <a:xfrm>
            <a:off x="1889760" y="1234440"/>
            <a:ext cx="8412480" cy="438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500" dirty="0"/>
          </a:p>
        </p:txBody>
      </p:sp>
      <p:sp>
        <p:nvSpPr>
          <p:cNvPr id="19" name="Shape 5">
            <a:extLst>
              <a:ext uri="{FF2B5EF4-FFF2-40B4-BE49-F238E27FC236}">
                <a16:creationId xmlns:a16="http://schemas.microsoft.com/office/drawing/2014/main" id="{B740753E-7973-7C88-868F-8FAE88475A89}"/>
              </a:ext>
            </a:extLst>
          </p:cNvPr>
          <p:cNvSpPr/>
          <p:nvPr/>
        </p:nvSpPr>
        <p:spPr>
          <a:xfrm>
            <a:off x="1015975" y="1513840"/>
            <a:ext cx="3292853" cy="2326815"/>
          </a:xfrm>
          <a:prstGeom prst="rect">
            <a:avLst/>
          </a:prstGeom>
          <a:solidFill>
            <a:srgbClr val="0D1528"/>
          </a:solidFill>
          <a:ln w="8890">
            <a:solidFill>
              <a:srgbClr val="3B82F6"/>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20" name="Shape 6">
            <a:extLst>
              <a:ext uri="{FF2B5EF4-FFF2-40B4-BE49-F238E27FC236}">
                <a16:creationId xmlns:a16="http://schemas.microsoft.com/office/drawing/2014/main" id="{F7BE660E-B76F-FC1B-E26E-B5472B73F4B7}"/>
              </a:ext>
            </a:extLst>
          </p:cNvPr>
          <p:cNvSpPr/>
          <p:nvPr/>
        </p:nvSpPr>
        <p:spPr>
          <a:xfrm>
            <a:off x="1015975" y="1513840"/>
            <a:ext cx="3292853" cy="71594"/>
          </a:xfrm>
          <a:prstGeom prst="rect">
            <a:avLst/>
          </a:prstGeom>
          <a:solidFill>
            <a:srgbClr val="3B82F6"/>
          </a:solidFill>
          <a:ln w="12700">
            <a:solidFill>
              <a:srgbClr val="3B82F6"/>
            </a:solidFill>
            <a:prstDash val="solid"/>
          </a:ln>
        </p:spPr>
        <p:txBody>
          <a:bodyPr/>
          <a:lstStyle/>
          <a:p>
            <a:endParaRPr lang="en-US" sz="1500">
              <a:solidFill>
                <a:schemeClr val="accent5"/>
              </a:solidFill>
            </a:endParaRPr>
          </a:p>
        </p:txBody>
      </p:sp>
      <p:sp>
        <p:nvSpPr>
          <p:cNvPr id="21" name="Text 7">
            <a:extLst>
              <a:ext uri="{FF2B5EF4-FFF2-40B4-BE49-F238E27FC236}">
                <a16:creationId xmlns:a16="http://schemas.microsoft.com/office/drawing/2014/main" id="{3ADED99B-C6AC-B3B9-DDB3-D8C750CA906F}"/>
              </a:ext>
            </a:extLst>
          </p:cNvPr>
          <p:cNvSpPr/>
          <p:nvPr/>
        </p:nvSpPr>
        <p:spPr>
          <a:xfrm>
            <a:off x="1186295" y="1680893"/>
            <a:ext cx="3008986" cy="41763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accent5"/>
                </a:solidFill>
              </a:rPr>
              <a:t>KPIs &amp; Analytics</a:t>
            </a:r>
            <a:endParaRPr lang="en-US" sz="1500" dirty="0">
              <a:solidFill>
                <a:schemeClr val="accent5"/>
              </a:solidFill>
            </a:endParaRPr>
          </a:p>
        </p:txBody>
      </p:sp>
      <p:sp>
        <p:nvSpPr>
          <p:cNvPr id="22" name="Text 8">
            <a:extLst>
              <a:ext uri="{FF2B5EF4-FFF2-40B4-BE49-F238E27FC236}">
                <a16:creationId xmlns:a16="http://schemas.microsoft.com/office/drawing/2014/main" id="{B3811ED1-A8C0-2EA3-7DD4-BD46E94DB43C}"/>
              </a:ext>
            </a:extLst>
          </p:cNvPr>
          <p:cNvSpPr/>
          <p:nvPr/>
        </p:nvSpPr>
        <p:spPr>
          <a:xfrm>
            <a:off x="1186295" y="2170121"/>
            <a:ext cx="3008986" cy="152734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500" dirty="0">
                <a:solidFill>
                  <a:schemeClr val="accent5"/>
                </a:solidFill>
              </a:rPr>
              <a:t>Active missions, deployed equipment, field technicians, critical alerts in real time.</a:t>
            </a:r>
          </a:p>
        </p:txBody>
      </p:sp>
      <p:sp>
        <p:nvSpPr>
          <p:cNvPr id="23" name="Shape 9">
            <a:extLst>
              <a:ext uri="{FF2B5EF4-FFF2-40B4-BE49-F238E27FC236}">
                <a16:creationId xmlns:a16="http://schemas.microsoft.com/office/drawing/2014/main" id="{32145AA8-B21E-5B4A-D961-DFBD38DC0CDB}"/>
              </a:ext>
            </a:extLst>
          </p:cNvPr>
          <p:cNvSpPr/>
          <p:nvPr/>
        </p:nvSpPr>
        <p:spPr>
          <a:xfrm>
            <a:off x="4535921" y="1513840"/>
            <a:ext cx="3292853" cy="2326815"/>
          </a:xfrm>
          <a:prstGeom prst="rect">
            <a:avLst/>
          </a:prstGeom>
          <a:solidFill>
            <a:srgbClr val="0D1528"/>
          </a:solidFill>
          <a:ln w="8890">
            <a:solidFill>
              <a:schemeClr val="accent1"/>
            </a:solidFill>
            <a:prstDash val="solid"/>
          </a:ln>
          <a:effectLst>
            <a:outerShdw blurRad="127000" dist="38100" dir="8100000" algn="bl" rotWithShape="0">
              <a:srgbClr val="000000">
                <a:alpha val="35000"/>
              </a:srgbClr>
            </a:outerShdw>
          </a:effectLst>
        </p:spPr>
        <p:txBody>
          <a:bodyPr/>
          <a:lstStyle/>
          <a:p>
            <a:endParaRPr lang="en-US" sz="1500" dirty="0">
              <a:solidFill>
                <a:schemeClr val="accent5"/>
              </a:solidFill>
            </a:endParaRPr>
          </a:p>
        </p:txBody>
      </p:sp>
      <p:sp>
        <p:nvSpPr>
          <p:cNvPr id="24" name="Shape 10">
            <a:extLst>
              <a:ext uri="{FF2B5EF4-FFF2-40B4-BE49-F238E27FC236}">
                <a16:creationId xmlns:a16="http://schemas.microsoft.com/office/drawing/2014/main" id="{7A4EFC78-AA6D-89FB-7614-FEEC14BBD291}"/>
              </a:ext>
            </a:extLst>
          </p:cNvPr>
          <p:cNvSpPr/>
          <p:nvPr/>
        </p:nvSpPr>
        <p:spPr>
          <a:xfrm>
            <a:off x="4535921" y="1513840"/>
            <a:ext cx="3292853" cy="71594"/>
          </a:xfrm>
          <a:prstGeom prst="rect">
            <a:avLst/>
          </a:prstGeom>
          <a:solidFill>
            <a:schemeClr val="accent1"/>
          </a:solidFill>
          <a:ln w="12700">
            <a:solidFill>
              <a:schemeClr val="accent1"/>
            </a:solidFill>
            <a:prstDash val="solid"/>
          </a:ln>
        </p:spPr>
        <p:txBody>
          <a:bodyPr/>
          <a:lstStyle/>
          <a:p>
            <a:endParaRPr lang="en-US" sz="1500">
              <a:solidFill>
                <a:schemeClr val="accent5"/>
              </a:solidFill>
            </a:endParaRPr>
          </a:p>
        </p:txBody>
      </p:sp>
      <p:sp>
        <p:nvSpPr>
          <p:cNvPr id="25" name="Text 11">
            <a:extLst>
              <a:ext uri="{FF2B5EF4-FFF2-40B4-BE49-F238E27FC236}">
                <a16:creationId xmlns:a16="http://schemas.microsoft.com/office/drawing/2014/main" id="{E0FE29D9-AAB2-C04E-AE20-18BC3C79D738}"/>
              </a:ext>
            </a:extLst>
          </p:cNvPr>
          <p:cNvSpPr/>
          <p:nvPr/>
        </p:nvSpPr>
        <p:spPr>
          <a:xfrm>
            <a:off x="4706241" y="1680893"/>
            <a:ext cx="3008986" cy="41763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accent5"/>
                </a:solidFill>
              </a:rPr>
              <a:t>Live GPS Map</a:t>
            </a:r>
            <a:endParaRPr lang="en-US" sz="1500" dirty="0">
              <a:solidFill>
                <a:schemeClr val="accent5"/>
              </a:solidFill>
            </a:endParaRPr>
          </a:p>
        </p:txBody>
      </p:sp>
      <p:sp>
        <p:nvSpPr>
          <p:cNvPr id="26" name="Text 12">
            <a:extLst>
              <a:ext uri="{FF2B5EF4-FFF2-40B4-BE49-F238E27FC236}">
                <a16:creationId xmlns:a16="http://schemas.microsoft.com/office/drawing/2014/main" id="{1532B77B-CC15-0227-641A-0C6FFBD15DAB}"/>
              </a:ext>
            </a:extLst>
          </p:cNvPr>
          <p:cNvSpPr/>
          <p:nvPr/>
        </p:nvSpPr>
        <p:spPr>
          <a:xfrm>
            <a:off x="4706241" y="2170121"/>
            <a:ext cx="3008986" cy="152734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500" dirty="0">
                <a:solidFill>
                  <a:schemeClr val="accent5"/>
                </a:solidFill>
              </a:rPr>
              <a:t>Leaflet.js map with real-time markers. Triple strategy: Socket.IO + 5s polling fallback.</a:t>
            </a:r>
          </a:p>
        </p:txBody>
      </p:sp>
      <p:sp>
        <p:nvSpPr>
          <p:cNvPr id="27" name="Shape 13">
            <a:extLst>
              <a:ext uri="{FF2B5EF4-FFF2-40B4-BE49-F238E27FC236}">
                <a16:creationId xmlns:a16="http://schemas.microsoft.com/office/drawing/2014/main" id="{48E11964-22B6-A5DC-DBD3-F30B1586C9EA}"/>
              </a:ext>
            </a:extLst>
          </p:cNvPr>
          <p:cNvSpPr/>
          <p:nvPr/>
        </p:nvSpPr>
        <p:spPr>
          <a:xfrm>
            <a:off x="8055867" y="1513840"/>
            <a:ext cx="3292853" cy="2326815"/>
          </a:xfrm>
          <a:prstGeom prst="rect">
            <a:avLst/>
          </a:prstGeom>
          <a:solidFill>
            <a:srgbClr val="0D1528"/>
          </a:solidFill>
          <a:ln w="8890">
            <a:solidFill>
              <a:schemeClr val="accent1"/>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28" name="Shape 14">
            <a:extLst>
              <a:ext uri="{FF2B5EF4-FFF2-40B4-BE49-F238E27FC236}">
                <a16:creationId xmlns:a16="http://schemas.microsoft.com/office/drawing/2014/main" id="{32809294-58F7-3902-A945-FB4425A0DED8}"/>
              </a:ext>
            </a:extLst>
          </p:cNvPr>
          <p:cNvSpPr/>
          <p:nvPr/>
        </p:nvSpPr>
        <p:spPr>
          <a:xfrm>
            <a:off x="8055867" y="1513840"/>
            <a:ext cx="3292853" cy="71594"/>
          </a:xfrm>
          <a:prstGeom prst="rect">
            <a:avLst/>
          </a:prstGeom>
          <a:solidFill>
            <a:schemeClr val="accent1"/>
          </a:solidFill>
          <a:ln w="12700">
            <a:solidFill>
              <a:schemeClr val="accent1"/>
            </a:solidFill>
            <a:prstDash val="solid"/>
          </a:ln>
        </p:spPr>
        <p:txBody>
          <a:bodyPr/>
          <a:lstStyle/>
          <a:p>
            <a:endParaRPr lang="en-US" sz="1500">
              <a:solidFill>
                <a:schemeClr val="accent5"/>
              </a:solidFill>
            </a:endParaRPr>
          </a:p>
        </p:txBody>
      </p:sp>
      <p:sp>
        <p:nvSpPr>
          <p:cNvPr id="29" name="Text 15">
            <a:extLst>
              <a:ext uri="{FF2B5EF4-FFF2-40B4-BE49-F238E27FC236}">
                <a16:creationId xmlns:a16="http://schemas.microsoft.com/office/drawing/2014/main" id="{87D2A6D7-F307-F84F-B8CF-9A28E67A8669}"/>
              </a:ext>
            </a:extLst>
          </p:cNvPr>
          <p:cNvSpPr/>
          <p:nvPr/>
        </p:nvSpPr>
        <p:spPr>
          <a:xfrm>
            <a:off x="8226187" y="1680893"/>
            <a:ext cx="3008986" cy="41763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accent5"/>
                </a:solidFill>
              </a:rPr>
              <a:t>Mission Management</a:t>
            </a:r>
            <a:endParaRPr lang="en-US" sz="1500" dirty="0">
              <a:solidFill>
                <a:schemeClr val="accent5"/>
              </a:solidFill>
            </a:endParaRPr>
          </a:p>
        </p:txBody>
      </p:sp>
      <p:sp>
        <p:nvSpPr>
          <p:cNvPr id="30" name="Text 16">
            <a:extLst>
              <a:ext uri="{FF2B5EF4-FFF2-40B4-BE49-F238E27FC236}">
                <a16:creationId xmlns:a16="http://schemas.microsoft.com/office/drawing/2014/main" id="{8D478F3E-2ADA-3BB8-A8C7-C8909644345B}"/>
              </a:ext>
            </a:extLst>
          </p:cNvPr>
          <p:cNvSpPr/>
          <p:nvPr/>
        </p:nvSpPr>
        <p:spPr>
          <a:xfrm>
            <a:off x="8226187" y="2170121"/>
            <a:ext cx="3008986" cy="152734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500" dirty="0">
                <a:solidFill>
                  <a:schemeClr val="accent5"/>
                </a:solidFill>
              </a:rPr>
              <a:t>JSON import, assignment to driver/technician, status tracking end-to-end.</a:t>
            </a:r>
          </a:p>
        </p:txBody>
      </p:sp>
      <p:sp>
        <p:nvSpPr>
          <p:cNvPr id="31" name="Shape 17">
            <a:extLst>
              <a:ext uri="{FF2B5EF4-FFF2-40B4-BE49-F238E27FC236}">
                <a16:creationId xmlns:a16="http://schemas.microsoft.com/office/drawing/2014/main" id="{78F3A535-4A08-61AB-0297-59187CB063BF}"/>
              </a:ext>
            </a:extLst>
          </p:cNvPr>
          <p:cNvSpPr/>
          <p:nvPr/>
        </p:nvSpPr>
        <p:spPr>
          <a:xfrm>
            <a:off x="1015975" y="4043505"/>
            <a:ext cx="3292853" cy="2326815"/>
          </a:xfrm>
          <a:prstGeom prst="rect">
            <a:avLst/>
          </a:prstGeom>
          <a:solidFill>
            <a:srgbClr val="0D1528"/>
          </a:solidFill>
          <a:ln w="8890">
            <a:solidFill>
              <a:schemeClr val="accent1"/>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32" name="Shape 18">
            <a:extLst>
              <a:ext uri="{FF2B5EF4-FFF2-40B4-BE49-F238E27FC236}">
                <a16:creationId xmlns:a16="http://schemas.microsoft.com/office/drawing/2014/main" id="{ED513EC3-BE01-67BE-3D5F-BD853C5BFD16}"/>
              </a:ext>
            </a:extLst>
          </p:cNvPr>
          <p:cNvSpPr/>
          <p:nvPr/>
        </p:nvSpPr>
        <p:spPr>
          <a:xfrm>
            <a:off x="1015975" y="4043505"/>
            <a:ext cx="3292853" cy="71594"/>
          </a:xfrm>
          <a:prstGeom prst="rect">
            <a:avLst/>
          </a:prstGeom>
          <a:solidFill>
            <a:schemeClr val="accent1"/>
          </a:solidFill>
          <a:ln w="12700">
            <a:solidFill>
              <a:schemeClr val="accent1"/>
            </a:solidFill>
            <a:prstDash val="solid"/>
          </a:ln>
        </p:spPr>
        <p:txBody>
          <a:bodyPr/>
          <a:lstStyle/>
          <a:p>
            <a:endParaRPr lang="en-US" sz="1500">
              <a:solidFill>
                <a:schemeClr val="accent5"/>
              </a:solidFill>
            </a:endParaRPr>
          </a:p>
        </p:txBody>
      </p:sp>
      <p:sp>
        <p:nvSpPr>
          <p:cNvPr id="33" name="Text 19">
            <a:extLst>
              <a:ext uri="{FF2B5EF4-FFF2-40B4-BE49-F238E27FC236}">
                <a16:creationId xmlns:a16="http://schemas.microsoft.com/office/drawing/2014/main" id="{B95DE21E-7E3B-24D0-DA83-DB1CDC170E29}"/>
              </a:ext>
            </a:extLst>
          </p:cNvPr>
          <p:cNvSpPr/>
          <p:nvPr/>
        </p:nvSpPr>
        <p:spPr>
          <a:xfrm>
            <a:off x="1186295" y="4210559"/>
            <a:ext cx="3008986" cy="41763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accent5"/>
                </a:solidFill>
              </a:rPr>
              <a:t>Report Validation</a:t>
            </a:r>
            <a:endParaRPr lang="en-US" sz="1500" dirty="0">
              <a:solidFill>
                <a:schemeClr val="accent5"/>
              </a:solidFill>
            </a:endParaRPr>
          </a:p>
        </p:txBody>
      </p:sp>
      <p:sp>
        <p:nvSpPr>
          <p:cNvPr id="34" name="Text 20">
            <a:extLst>
              <a:ext uri="{FF2B5EF4-FFF2-40B4-BE49-F238E27FC236}">
                <a16:creationId xmlns:a16="http://schemas.microsoft.com/office/drawing/2014/main" id="{A2F56EAA-F336-D73F-92AE-AEABC8CF67B2}"/>
              </a:ext>
            </a:extLst>
          </p:cNvPr>
          <p:cNvSpPr/>
          <p:nvPr/>
        </p:nvSpPr>
        <p:spPr>
          <a:xfrm>
            <a:off x="1186295" y="4699786"/>
            <a:ext cx="3008986" cy="152734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500" dirty="0">
                <a:solidFill>
                  <a:schemeClr val="accent5"/>
                </a:solidFill>
              </a:rPr>
              <a:t>Review field reports, approve or reject with admin comments and audit trail.</a:t>
            </a:r>
          </a:p>
        </p:txBody>
      </p:sp>
      <p:sp>
        <p:nvSpPr>
          <p:cNvPr id="35" name="Shape 21">
            <a:extLst>
              <a:ext uri="{FF2B5EF4-FFF2-40B4-BE49-F238E27FC236}">
                <a16:creationId xmlns:a16="http://schemas.microsoft.com/office/drawing/2014/main" id="{34C99B65-32A7-8027-6086-653A1C29993C}"/>
              </a:ext>
            </a:extLst>
          </p:cNvPr>
          <p:cNvSpPr/>
          <p:nvPr/>
        </p:nvSpPr>
        <p:spPr>
          <a:xfrm>
            <a:off x="4535921" y="4043505"/>
            <a:ext cx="3292853" cy="2326815"/>
          </a:xfrm>
          <a:prstGeom prst="rect">
            <a:avLst/>
          </a:prstGeom>
          <a:solidFill>
            <a:srgbClr val="0D1528"/>
          </a:solidFill>
          <a:ln w="8890">
            <a:solidFill>
              <a:schemeClr val="accent5"/>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36" name="Shape 22">
            <a:extLst>
              <a:ext uri="{FF2B5EF4-FFF2-40B4-BE49-F238E27FC236}">
                <a16:creationId xmlns:a16="http://schemas.microsoft.com/office/drawing/2014/main" id="{E5A99460-DF5C-D8DC-901F-C8AE5B4CEF98}"/>
              </a:ext>
            </a:extLst>
          </p:cNvPr>
          <p:cNvSpPr/>
          <p:nvPr/>
        </p:nvSpPr>
        <p:spPr>
          <a:xfrm>
            <a:off x="4535921" y="4043505"/>
            <a:ext cx="3292853" cy="71594"/>
          </a:xfrm>
          <a:prstGeom prst="rect">
            <a:avLst/>
          </a:prstGeom>
          <a:solidFill>
            <a:schemeClr val="accent1"/>
          </a:solidFill>
          <a:ln w="12700">
            <a:solidFill>
              <a:schemeClr val="accent1"/>
            </a:solidFill>
            <a:prstDash val="solid"/>
          </a:ln>
        </p:spPr>
        <p:txBody>
          <a:bodyPr/>
          <a:lstStyle/>
          <a:p>
            <a:endParaRPr lang="en-US" sz="1500">
              <a:solidFill>
                <a:schemeClr val="accent5"/>
              </a:solidFill>
            </a:endParaRPr>
          </a:p>
        </p:txBody>
      </p:sp>
      <p:sp>
        <p:nvSpPr>
          <p:cNvPr id="37" name="Text 23">
            <a:extLst>
              <a:ext uri="{FF2B5EF4-FFF2-40B4-BE49-F238E27FC236}">
                <a16:creationId xmlns:a16="http://schemas.microsoft.com/office/drawing/2014/main" id="{6D671931-3751-D250-0999-BAE9F9771D74}"/>
              </a:ext>
            </a:extLst>
          </p:cNvPr>
          <p:cNvSpPr/>
          <p:nvPr/>
        </p:nvSpPr>
        <p:spPr>
          <a:xfrm>
            <a:off x="4706241" y="4210559"/>
            <a:ext cx="3008986" cy="41763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accent5"/>
                </a:solidFill>
              </a:rPr>
              <a:t>Team Management</a:t>
            </a:r>
            <a:endParaRPr lang="en-US" sz="1500" dirty="0">
              <a:solidFill>
                <a:schemeClr val="accent5"/>
              </a:solidFill>
            </a:endParaRPr>
          </a:p>
        </p:txBody>
      </p:sp>
      <p:sp>
        <p:nvSpPr>
          <p:cNvPr id="38" name="Text 24">
            <a:extLst>
              <a:ext uri="{FF2B5EF4-FFF2-40B4-BE49-F238E27FC236}">
                <a16:creationId xmlns:a16="http://schemas.microsoft.com/office/drawing/2014/main" id="{BB044DAE-0CF7-B9B7-EB53-34EB2AFEFED9}"/>
              </a:ext>
            </a:extLst>
          </p:cNvPr>
          <p:cNvSpPr/>
          <p:nvPr/>
        </p:nvSpPr>
        <p:spPr>
          <a:xfrm>
            <a:off x="4706241" y="4699786"/>
            <a:ext cx="3008986" cy="152734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500" dirty="0">
                <a:solidFill>
                  <a:schemeClr val="accent5"/>
                </a:solidFill>
              </a:rPr>
              <a:t>Full CRUD for drivers &amp; technicians, mission history, contact info.</a:t>
            </a:r>
          </a:p>
        </p:txBody>
      </p:sp>
      <p:sp>
        <p:nvSpPr>
          <p:cNvPr id="39" name="Shape 25">
            <a:extLst>
              <a:ext uri="{FF2B5EF4-FFF2-40B4-BE49-F238E27FC236}">
                <a16:creationId xmlns:a16="http://schemas.microsoft.com/office/drawing/2014/main" id="{DD2E1F22-6136-F198-F34D-B5F9F7A6F1B5}"/>
              </a:ext>
            </a:extLst>
          </p:cNvPr>
          <p:cNvSpPr/>
          <p:nvPr/>
        </p:nvSpPr>
        <p:spPr>
          <a:xfrm>
            <a:off x="8055867" y="4043505"/>
            <a:ext cx="3292853" cy="2326815"/>
          </a:xfrm>
          <a:prstGeom prst="rect">
            <a:avLst/>
          </a:prstGeom>
          <a:solidFill>
            <a:srgbClr val="0D1528"/>
          </a:solidFill>
          <a:ln w="8890">
            <a:solidFill>
              <a:schemeClr val="accent1"/>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40" name="Shape 26">
            <a:extLst>
              <a:ext uri="{FF2B5EF4-FFF2-40B4-BE49-F238E27FC236}">
                <a16:creationId xmlns:a16="http://schemas.microsoft.com/office/drawing/2014/main" id="{2C0F5B30-94F7-5447-C157-0E7379F7DF6B}"/>
              </a:ext>
            </a:extLst>
          </p:cNvPr>
          <p:cNvSpPr/>
          <p:nvPr/>
        </p:nvSpPr>
        <p:spPr>
          <a:xfrm>
            <a:off x="8055867" y="4043505"/>
            <a:ext cx="3292853" cy="71594"/>
          </a:xfrm>
          <a:prstGeom prst="rect">
            <a:avLst/>
          </a:prstGeom>
          <a:solidFill>
            <a:schemeClr val="accent1"/>
          </a:solidFill>
          <a:ln w="12700">
            <a:solidFill>
              <a:schemeClr val="accent1"/>
            </a:solidFill>
            <a:prstDash val="solid"/>
          </a:ln>
        </p:spPr>
        <p:txBody>
          <a:bodyPr/>
          <a:lstStyle/>
          <a:p>
            <a:endParaRPr lang="en-US" sz="1500">
              <a:solidFill>
                <a:schemeClr val="accent5"/>
              </a:solidFill>
            </a:endParaRPr>
          </a:p>
        </p:txBody>
      </p:sp>
      <p:sp>
        <p:nvSpPr>
          <p:cNvPr id="41" name="Text 27">
            <a:extLst>
              <a:ext uri="{FF2B5EF4-FFF2-40B4-BE49-F238E27FC236}">
                <a16:creationId xmlns:a16="http://schemas.microsoft.com/office/drawing/2014/main" id="{8908E233-FC1E-7778-EC8E-D8247065B9F6}"/>
              </a:ext>
            </a:extLst>
          </p:cNvPr>
          <p:cNvSpPr/>
          <p:nvPr/>
        </p:nvSpPr>
        <p:spPr>
          <a:xfrm>
            <a:off x="8226187" y="4210559"/>
            <a:ext cx="3008986" cy="41763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accent5"/>
                </a:solidFill>
              </a:rPr>
              <a:t>  Live Notifications</a:t>
            </a:r>
            <a:endParaRPr lang="en-US" sz="1500" dirty="0">
              <a:solidFill>
                <a:schemeClr val="accent5"/>
              </a:solidFill>
            </a:endParaRPr>
          </a:p>
        </p:txBody>
      </p:sp>
      <p:sp>
        <p:nvSpPr>
          <p:cNvPr id="42" name="Text 28">
            <a:extLst>
              <a:ext uri="{FF2B5EF4-FFF2-40B4-BE49-F238E27FC236}">
                <a16:creationId xmlns:a16="http://schemas.microsoft.com/office/drawing/2014/main" id="{FFE510A7-4971-73AF-D244-F00DF29D90ED}"/>
              </a:ext>
            </a:extLst>
          </p:cNvPr>
          <p:cNvSpPr/>
          <p:nvPr/>
        </p:nvSpPr>
        <p:spPr>
          <a:xfrm>
            <a:off x="8226187" y="4699786"/>
            <a:ext cx="3008986" cy="152734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500" dirty="0">
                <a:solidFill>
                  <a:schemeClr val="accent5"/>
                </a:solidFill>
              </a:rPr>
              <a:t>Real-time alerts for missions, GPS events, reports — click to navigate directly.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E27"/>
        </a:solidFill>
        <a:effectLst/>
      </p:bgPr>
    </p:bg>
    <p:spTree>
      <p:nvGrpSpPr>
        <p:cNvPr id="1" name="">
          <a:extLst>
            <a:ext uri="{FF2B5EF4-FFF2-40B4-BE49-F238E27FC236}">
              <a16:creationId xmlns:a16="http://schemas.microsoft.com/office/drawing/2014/main" id="{16A4A88A-AC9F-F52A-9C08-FDD3590EC13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94EA98A-E481-6F20-E040-40BF472B9099}"/>
              </a:ext>
            </a:extLst>
          </p:cNvPr>
          <p:cNvPicPr>
            <a:picLocks noChangeAspect="1"/>
          </p:cNvPicPr>
          <p:nvPr/>
        </p:nvPicPr>
        <p:blipFill>
          <a:blip r:embed="rId3"/>
          <a:stretch>
            <a:fillRect/>
          </a:stretch>
        </p:blipFill>
        <p:spPr>
          <a:xfrm>
            <a:off x="9188735" y="1569682"/>
            <a:ext cx="3383194" cy="5034324"/>
          </a:xfrm>
          <a:prstGeom prst="rect">
            <a:avLst/>
          </a:prstGeom>
        </p:spPr>
      </p:pic>
      <p:pic>
        <p:nvPicPr>
          <p:cNvPr id="3" name="Image 1" descr="preencoded.png">
            <a:extLst>
              <a:ext uri="{FF2B5EF4-FFF2-40B4-BE49-F238E27FC236}">
                <a16:creationId xmlns:a16="http://schemas.microsoft.com/office/drawing/2014/main" id="{D6FE8B20-E17B-5ECF-AEC7-DD71F689FAD7}"/>
              </a:ext>
            </a:extLst>
          </p:cNvPr>
          <p:cNvPicPr>
            <a:picLocks noChangeAspect="1"/>
          </p:cNvPicPr>
          <p:nvPr/>
        </p:nvPicPr>
        <p:blipFill>
          <a:blip r:embed="rId4"/>
          <a:stretch>
            <a:fillRect/>
          </a:stretch>
        </p:blipFill>
        <p:spPr>
          <a:xfrm>
            <a:off x="-2285943" y="1777956"/>
            <a:ext cx="5714857" cy="5034324"/>
          </a:xfrm>
          <a:prstGeom prst="rect">
            <a:avLst/>
          </a:prstGeom>
        </p:spPr>
      </p:pic>
      <p:pic>
        <p:nvPicPr>
          <p:cNvPr id="4" name="Image 2" descr="preencoded.png">
            <a:extLst>
              <a:ext uri="{FF2B5EF4-FFF2-40B4-BE49-F238E27FC236}">
                <a16:creationId xmlns:a16="http://schemas.microsoft.com/office/drawing/2014/main" id="{340B8293-995C-F2BA-85B4-D4BC4761B2A7}"/>
              </a:ext>
            </a:extLst>
          </p:cNvPr>
          <p:cNvPicPr>
            <a:picLocks noChangeAspect="1"/>
          </p:cNvPicPr>
          <p:nvPr/>
        </p:nvPicPr>
        <p:blipFill>
          <a:blip r:embed="rId3"/>
          <a:stretch>
            <a:fillRect/>
          </a:stretch>
        </p:blipFill>
        <p:spPr>
          <a:xfrm>
            <a:off x="6859339" y="1442686"/>
            <a:ext cx="3383194" cy="5034324"/>
          </a:xfrm>
          <a:prstGeom prst="rect">
            <a:avLst/>
          </a:prstGeom>
        </p:spPr>
      </p:pic>
      <p:pic>
        <p:nvPicPr>
          <p:cNvPr id="5" name="Image 3" descr="preencoded.png">
            <a:extLst>
              <a:ext uri="{FF2B5EF4-FFF2-40B4-BE49-F238E27FC236}">
                <a16:creationId xmlns:a16="http://schemas.microsoft.com/office/drawing/2014/main" id="{9BF1B306-093D-969B-9CC8-E7489118BDC4}"/>
              </a:ext>
            </a:extLst>
          </p:cNvPr>
          <p:cNvPicPr>
            <a:picLocks noChangeAspect="1"/>
          </p:cNvPicPr>
          <p:nvPr/>
        </p:nvPicPr>
        <p:blipFill>
          <a:blip r:embed="rId4"/>
          <a:stretch>
            <a:fillRect/>
          </a:stretch>
        </p:blipFill>
        <p:spPr>
          <a:xfrm>
            <a:off x="-304743" y="1569682"/>
            <a:ext cx="5714857" cy="5034324"/>
          </a:xfrm>
          <a:prstGeom prst="rect">
            <a:avLst/>
          </a:prstGeom>
        </p:spPr>
      </p:pic>
      <p:pic>
        <p:nvPicPr>
          <p:cNvPr id="6" name="Image 4" descr="preencoded.png">
            <a:extLst>
              <a:ext uri="{FF2B5EF4-FFF2-40B4-BE49-F238E27FC236}">
                <a16:creationId xmlns:a16="http://schemas.microsoft.com/office/drawing/2014/main" id="{E3352719-4A0F-C777-1663-FB4ED302FA36}"/>
              </a:ext>
            </a:extLst>
          </p:cNvPr>
          <p:cNvPicPr>
            <a:picLocks noChangeAspect="1"/>
          </p:cNvPicPr>
          <p:nvPr/>
        </p:nvPicPr>
        <p:blipFill>
          <a:blip r:embed="rId5"/>
          <a:stretch>
            <a:fillRect/>
          </a:stretch>
        </p:blipFill>
        <p:spPr>
          <a:xfrm>
            <a:off x="10413740" y="4825879"/>
            <a:ext cx="761981" cy="761981"/>
          </a:xfrm>
          <a:prstGeom prst="rect">
            <a:avLst/>
          </a:prstGeom>
        </p:spPr>
      </p:pic>
      <p:pic>
        <p:nvPicPr>
          <p:cNvPr id="7" name="Image 5" descr="preencoded.png">
            <a:extLst>
              <a:ext uri="{FF2B5EF4-FFF2-40B4-BE49-F238E27FC236}">
                <a16:creationId xmlns:a16="http://schemas.microsoft.com/office/drawing/2014/main" id="{07481DB1-F6DF-0532-4007-0E40E1470D25}"/>
              </a:ext>
            </a:extLst>
          </p:cNvPr>
          <p:cNvPicPr>
            <a:picLocks noChangeAspect="1"/>
          </p:cNvPicPr>
          <p:nvPr/>
        </p:nvPicPr>
        <p:blipFill>
          <a:blip r:embed="rId6"/>
          <a:stretch>
            <a:fillRect/>
          </a:stretch>
        </p:blipFill>
        <p:spPr>
          <a:xfrm>
            <a:off x="1015975" y="1777956"/>
            <a:ext cx="761981" cy="761981"/>
          </a:xfrm>
          <a:prstGeom prst="rect">
            <a:avLst/>
          </a:prstGeom>
        </p:spPr>
      </p:pic>
      <p:pic>
        <p:nvPicPr>
          <p:cNvPr id="8" name="Image 6" descr="preencoded.png">
            <a:extLst>
              <a:ext uri="{FF2B5EF4-FFF2-40B4-BE49-F238E27FC236}">
                <a16:creationId xmlns:a16="http://schemas.microsoft.com/office/drawing/2014/main" id="{33B998B9-E2AD-CC48-9014-2E6EE2E3577D}"/>
              </a:ext>
            </a:extLst>
          </p:cNvPr>
          <p:cNvPicPr>
            <a:picLocks noChangeAspect="1"/>
          </p:cNvPicPr>
          <p:nvPr/>
        </p:nvPicPr>
        <p:blipFill>
          <a:blip r:embed="rId5"/>
          <a:stretch>
            <a:fillRect/>
          </a:stretch>
        </p:blipFill>
        <p:spPr>
          <a:xfrm>
            <a:off x="10413740" y="4825879"/>
            <a:ext cx="761981" cy="761981"/>
          </a:xfrm>
          <a:prstGeom prst="rect">
            <a:avLst/>
          </a:prstGeom>
        </p:spPr>
      </p:pic>
      <p:pic>
        <p:nvPicPr>
          <p:cNvPr id="9" name="Image 7" descr="preencoded.png">
            <a:extLst>
              <a:ext uri="{FF2B5EF4-FFF2-40B4-BE49-F238E27FC236}">
                <a16:creationId xmlns:a16="http://schemas.microsoft.com/office/drawing/2014/main" id="{83CF876A-A424-1C99-80FC-13B4441BBE69}"/>
              </a:ext>
            </a:extLst>
          </p:cNvPr>
          <p:cNvPicPr>
            <a:picLocks noChangeAspect="1"/>
          </p:cNvPicPr>
          <p:nvPr/>
        </p:nvPicPr>
        <p:blipFill>
          <a:blip r:embed="rId6"/>
          <a:stretch>
            <a:fillRect/>
          </a:stretch>
        </p:blipFill>
        <p:spPr>
          <a:xfrm>
            <a:off x="1015975" y="1777956"/>
            <a:ext cx="761981" cy="761981"/>
          </a:xfrm>
          <a:prstGeom prst="rect">
            <a:avLst/>
          </a:prstGeom>
        </p:spPr>
      </p:pic>
      <p:pic>
        <p:nvPicPr>
          <p:cNvPr id="10" name="Image 8" descr="preencoded.png">
            <a:extLst>
              <a:ext uri="{FF2B5EF4-FFF2-40B4-BE49-F238E27FC236}">
                <a16:creationId xmlns:a16="http://schemas.microsoft.com/office/drawing/2014/main" id="{EEB7E548-95FA-BB9D-32E8-D3F185A035AC}"/>
              </a:ext>
            </a:extLst>
          </p:cNvPr>
          <p:cNvPicPr>
            <a:picLocks noChangeAspect="1"/>
          </p:cNvPicPr>
          <p:nvPr/>
        </p:nvPicPr>
        <p:blipFill>
          <a:blip r:embed="rId7"/>
          <a:stretch>
            <a:fillRect/>
          </a:stretch>
        </p:blipFill>
        <p:spPr>
          <a:xfrm>
            <a:off x="11429714" y="253994"/>
            <a:ext cx="507987" cy="507987"/>
          </a:xfrm>
          <a:prstGeom prst="rect">
            <a:avLst/>
          </a:prstGeom>
        </p:spPr>
      </p:pic>
      <p:sp>
        <p:nvSpPr>
          <p:cNvPr id="11" name="Text 0">
            <a:extLst>
              <a:ext uri="{FF2B5EF4-FFF2-40B4-BE49-F238E27FC236}">
                <a16:creationId xmlns:a16="http://schemas.microsoft.com/office/drawing/2014/main" id="{6DD5ADDB-F4A4-D8D5-753B-C644C8202D25}"/>
              </a:ext>
            </a:extLst>
          </p:cNvPr>
          <p:cNvSpPr/>
          <p:nvPr/>
        </p:nvSpPr>
        <p:spPr>
          <a:xfrm>
            <a:off x="1523961" y="380990"/>
            <a:ext cx="9143771" cy="2031949"/>
          </a:xfrm>
          <a:prstGeom prst="rect">
            <a:avLst/>
          </a:prstGeom>
          <a:noFill/>
          <a:ln/>
        </p:spPr>
        <p:txBody>
          <a:bodyPr wrap="square" lIns="1016" tIns="1016" rIns="1016" bIns="1016" rtlCol="0" anchor="t"/>
          <a:lstStyle/>
          <a:p>
            <a:pPr marL="0" indent="0" algn="ctr">
              <a:lnSpc>
                <a:spcPct val="130000"/>
              </a:lnSpc>
              <a:buNone/>
            </a:pPr>
            <a:r>
              <a:rPr lang="en-US" sz="2700" i="1" dirty="0">
                <a:solidFill>
                  <a:srgbClr val="00FFFF"/>
                </a:solidFill>
                <a:latin typeface="Calibri" pitchFamily="34" charset="0"/>
                <a:ea typeface="Calibri" pitchFamily="34" charset="-122"/>
                <a:cs typeface="Calibri" pitchFamily="34" charset="-120"/>
              </a:rPr>
              <a:t>Some Pictures of the Website</a:t>
            </a:r>
            <a:endParaRPr lang="en-US" sz="2700" dirty="0"/>
          </a:p>
        </p:txBody>
      </p:sp>
      <p:sp>
        <p:nvSpPr>
          <p:cNvPr id="13" name="Text 2">
            <a:extLst>
              <a:ext uri="{FF2B5EF4-FFF2-40B4-BE49-F238E27FC236}">
                <a16:creationId xmlns:a16="http://schemas.microsoft.com/office/drawing/2014/main" id="{6F20911F-51AD-C332-5A76-03E8977DD111}"/>
              </a:ext>
            </a:extLst>
          </p:cNvPr>
          <p:cNvSpPr/>
          <p:nvPr/>
        </p:nvSpPr>
        <p:spPr>
          <a:xfrm>
            <a:off x="1523962" y="5206870"/>
            <a:ext cx="9143771" cy="761981"/>
          </a:xfrm>
          <a:prstGeom prst="rect">
            <a:avLst/>
          </a:prstGeom>
          <a:noFill/>
          <a:ln/>
        </p:spPr>
        <p:txBody>
          <a:bodyPr wrap="square" lIns="1016" tIns="1016" rIns="1016" bIns="1016" rtlCol="0" anchor="t"/>
          <a:lstStyle/>
          <a:p>
            <a:pPr marL="0" indent="0" algn="ctr">
              <a:lnSpc>
                <a:spcPct val="130000"/>
              </a:lnSpc>
              <a:buNone/>
            </a:pPr>
            <a:endParaRPr lang="en-US" sz="1300" dirty="0"/>
          </a:p>
        </p:txBody>
      </p:sp>
      <p:pic>
        <p:nvPicPr>
          <p:cNvPr id="14" name="Picture 13">
            <a:extLst>
              <a:ext uri="{FF2B5EF4-FFF2-40B4-BE49-F238E27FC236}">
                <a16:creationId xmlns:a16="http://schemas.microsoft.com/office/drawing/2014/main" id="{3D372DC2-795E-9373-0782-81322C2210A0}"/>
              </a:ext>
            </a:extLst>
          </p:cNvPr>
          <p:cNvPicPr>
            <a:picLocks noChangeAspect="1"/>
          </p:cNvPicPr>
          <p:nvPr/>
        </p:nvPicPr>
        <p:blipFill>
          <a:blip r:embed="rId8"/>
          <a:stretch>
            <a:fillRect/>
          </a:stretch>
        </p:blipFill>
        <p:spPr>
          <a:xfrm>
            <a:off x="1096767" y="1860152"/>
            <a:ext cx="9947153" cy="3681067"/>
          </a:xfrm>
          <a:prstGeom prst="rect">
            <a:avLst/>
          </a:prstGeom>
        </p:spPr>
      </p:pic>
    </p:spTree>
    <p:extLst>
      <p:ext uri="{BB962C8B-B14F-4D97-AF65-F5344CB8AC3E}">
        <p14:creationId xmlns:p14="http://schemas.microsoft.com/office/powerpoint/2010/main" val="252459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91A"/>
        </a:solidFill>
        <a:effectLst/>
      </p:bgPr>
    </p:bg>
    <p:spTree>
      <p:nvGrpSpPr>
        <p:cNvPr id="1" name=""/>
        <p:cNvGrpSpPr/>
        <p:nvPr/>
      </p:nvGrpSpPr>
      <p:grpSpPr>
        <a:xfrm>
          <a:off x="0" y="0"/>
          <a:ext cx="0" cy="0"/>
          <a:chOff x="0" y="0"/>
          <a:chExt cx="0" cy="0"/>
        </a:xfrm>
      </p:grpSpPr>
      <p:sp>
        <p:nvSpPr>
          <p:cNvPr id="3" name="Shape 1"/>
          <p:cNvSpPr/>
          <p:nvPr/>
        </p:nvSpPr>
        <p:spPr>
          <a:xfrm>
            <a:off x="0" y="6809232"/>
            <a:ext cx="12192000" cy="48768"/>
          </a:xfrm>
          <a:prstGeom prst="rect">
            <a:avLst/>
          </a:prstGeom>
          <a:solidFill>
            <a:srgbClr val="0D1528"/>
          </a:solidFill>
          <a:ln w="12700">
            <a:solidFill>
              <a:srgbClr val="0D1528"/>
            </a:solidFill>
            <a:prstDash val="solid"/>
          </a:ln>
        </p:spPr>
      </p:sp>
      <p:sp>
        <p:nvSpPr>
          <p:cNvPr id="5" name="Text 3"/>
          <p:cNvSpPr/>
          <p:nvPr/>
        </p:nvSpPr>
        <p:spPr>
          <a:xfrm>
            <a:off x="487680" y="365760"/>
            <a:ext cx="11216640" cy="670560"/>
          </a:xfrm>
          <a:prstGeom prst="rect">
            <a:avLst/>
          </a:prstGeom>
          <a:noFill/>
          <a:ln/>
        </p:spPr>
        <p:txBody>
          <a:bodyPr wrap="square" lIns="0" tIns="0" rIns="0" bIns="0" rtlCol="0" anchor="ctr"/>
          <a:lstStyle/>
          <a:p>
            <a:pPr defTabSz="1219170"/>
            <a:r>
              <a:rPr lang="en-US" sz="3200" b="1" dirty="0">
                <a:solidFill>
                  <a:srgbClr val="A78BFA"/>
                </a:solidFill>
                <a:ea typeface="Arial Black" pitchFamily="34" charset="-122"/>
                <a:cs typeface="Arial Black" pitchFamily="34" charset="-120"/>
              </a:rPr>
              <a:t>AI Image Validation — CLIP + OpenCV</a:t>
            </a:r>
            <a:endParaRPr lang="en-US" sz="3200" dirty="0">
              <a:solidFill>
                <a:prstClr val="black"/>
              </a:solidFill>
            </a:endParaRPr>
          </a:p>
        </p:txBody>
      </p:sp>
      <p:sp>
        <p:nvSpPr>
          <p:cNvPr id="6" name="Shape 4"/>
          <p:cNvSpPr/>
          <p:nvPr/>
        </p:nvSpPr>
        <p:spPr>
          <a:xfrm>
            <a:off x="487680" y="1072896"/>
            <a:ext cx="731520" cy="48768"/>
          </a:xfrm>
          <a:prstGeom prst="rect">
            <a:avLst/>
          </a:prstGeom>
          <a:solidFill>
            <a:srgbClr val="A78BFA"/>
          </a:solidFill>
          <a:ln w="12700">
            <a:solidFill>
              <a:srgbClr val="A78BFA"/>
            </a:solidFill>
            <a:prstDash val="solid"/>
          </a:ln>
        </p:spPr>
      </p:sp>
      <p:sp>
        <p:nvSpPr>
          <p:cNvPr id="8" name="Text 6"/>
          <p:cNvSpPr/>
          <p:nvPr/>
        </p:nvSpPr>
        <p:spPr>
          <a:xfrm>
            <a:off x="487680" y="121920"/>
            <a:ext cx="2682240" cy="316992"/>
          </a:xfrm>
          <a:prstGeom prst="rect">
            <a:avLst/>
          </a:prstGeom>
          <a:noFill/>
          <a:ln/>
        </p:spPr>
        <p:txBody>
          <a:bodyPr wrap="square" lIns="0" tIns="0" rIns="0" bIns="0" rtlCol="0" anchor="ctr"/>
          <a:lstStyle/>
          <a:p>
            <a:pPr algn="ctr" defTabSz="1219170"/>
            <a:endParaRPr lang="en-US" sz="1000" dirty="0">
              <a:solidFill>
                <a:prstClr val="black"/>
              </a:solidFill>
              <a:latin typeface="Calibri" panose="020F0502020204030204"/>
            </a:endParaRPr>
          </a:p>
        </p:txBody>
      </p:sp>
      <p:grpSp>
        <p:nvGrpSpPr>
          <p:cNvPr id="2" name="Group 1">
            <a:extLst>
              <a:ext uri="{FF2B5EF4-FFF2-40B4-BE49-F238E27FC236}">
                <a16:creationId xmlns:a16="http://schemas.microsoft.com/office/drawing/2014/main" id="{FC8D96A5-16C1-BECB-6ECA-C68605C865BA}"/>
              </a:ext>
            </a:extLst>
          </p:cNvPr>
          <p:cNvGrpSpPr/>
          <p:nvPr/>
        </p:nvGrpSpPr>
        <p:grpSpPr>
          <a:xfrm>
            <a:off x="390144" y="1292352"/>
            <a:ext cx="11338560" cy="5132832"/>
            <a:chOff x="390144" y="1292352"/>
            <a:chExt cx="11679936" cy="5132832"/>
          </a:xfrm>
        </p:grpSpPr>
        <p:sp>
          <p:nvSpPr>
            <p:cNvPr id="9" name="Text 7"/>
            <p:cNvSpPr/>
            <p:nvPr/>
          </p:nvSpPr>
          <p:spPr>
            <a:xfrm>
              <a:off x="463296" y="1292352"/>
              <a:ext cx="11265408" cy="341376"/>
            </a:xfrm>
            <a:prstGeom prst="rect">
              <a:avLst/>
            </a:prstGeom>
            <a:noFill/>
            <a:ln/>
          </p:spPr>
          <p:txBody>
            <a:bodyPr wrap="square" lIns="0" tIns="0" rIns="0" bIns="0" rtlCol="0" anchor="ctr"/>
            <a:lstStyle/>
            <a:p>
              <a:pPr defTabSz="1219170"/>
              <a:r>
                <a:rPr lang="en-US" sz="1467" dirty="0">
                  <a:solidFill>
                    <a:srgbClr val="94A3B8"/>
                  </a:solidFill>
                </a:rPr>
                <a:t>Python microservice validates every photo before storage in Cloudinary.</a:t>
              </a:r>
              <a:endParaRPr lang="en-US" sz="1467" dirty="0">
                <a:solidFill>
                  <a:prstClr val="black"/>
                </a:solidFill>
              </a:endParaRPr>
            </a:p>
          </p:txBody>
        </p:sp>
        <p:sp>
          <p:nvSpPr>
            <p:cNvPr id="10" name="Shape 8"/>
            <p:cNvSpPr/>
            <p:nvPr/>
          </p:nvSpPr>
          <p:spPr>
            <a:xfrm>
              <a:off x="390144" y="1767840"/>
              <a:ext cx="3755136" cy="3925824"/>
            </a:xfrm>
            <a:prstGeom prst="rect">
              <a:avLst/>
            </a:prstGeom>
            <a:solidFill>
              <a:srgbClr val="0D1528"/>
            </a:solidFill>
            <a:ln w="12700">
              <a:solidFill>
                <a:srgbClr val="3B82F6"/>
              </a:solidFill>
              <a:prstDash val="solid"/>
            </a:ln>
            <a:effectLst>
              <a:outerShdw blurRad="101600" dist="25400" dir="8100000" algn="bl" rotWithShape="0">
                <a:srgbClr val="000000">
                  <a:alpha val="30000"/>
                </a:srgbClr>
              </a:outerShdw>
            </a:effectLst>
          </p:spPr>
          <p:txBody>
            <a:bodyPr/>
            <a:lstStyle/>
            <a:p>
              <a:pPr defTabSz="1219170"/>
              <a:endParaRPr lang="en-US" sz="2400" dirty="0">
                <a:solidFill>
                  <a:prstClr val="black"/>
                </a:solidFill>
              </a:endParaRPr>
            </a:p>
          </p:txBody>
        </p:sp>
        <p:sp>
          <p:nvSpPr>
            <p:cNvPr id="11" name="Shape 9"/>
            <p:cNvSpPr/>
            <p:nvPr/>
          </p:nvSpPr>
          <p:spPr>
            <a:xfrm>
              <a:off x="390144" y="1767840"/>
              <a:ext cx="3755136" cy="73152"/>
            </a:xfrm>
            <a:prstGeom prst="rect">
              <a:avLst/>
            </a:prstGeom>
            <a:solidFill>
              <a:srgbClr val="3B82F6"/>
            </a:solidFill>
            <a:ln w="12700">
              <a:solidFill>
                <a:srgbClr val="3B82F6"/>
              </a:solidFill>
              <a:prstDash val="solid"/>
            </a:ln>
          </p:spPr>
        </p:sp>
        <p:sp>
          <p:nvSpPr>
            <p:cNvPr id="12" name="Shape 10"/>
            <p:cNvSpPr/>
            <p:nvPr/>
          </p:nvSpPr>
          <p:spPr>
            <a:xfrm>
              <a:off x="390144" y="1767840"/>
              <a:ext cx="3755136" cy="73152"/>
            </a:xfrm>
            <a:prstGeom prst="rect">
              <a:avLst/>
            </a:prstGeom>
            <a:solidFill>
              <a:srgbClr val="3B82F6"/>
            </a:solidFill>
            <a:ln w="12700">
              <a:solidFill>
                <a:srgbClr val="3B82F6"/>
              </a:solidFill>
              <a:prstDash val="solid"/>
            </a:ln>
          </p:spPr>
        </p:sp>
        <p:sp>
          <p:nvSpPr>
            <p:cNvPr id="13" name="Text 11"/>
            <p:cNvSpPr/>
            <p:nvPr/>
          </p:nvSpPr>
          <p:spPr>
            <a:xfrm>
              <a:off x="573024" y="1889760"/>
              <a:ext cx="731520" cy="609600"/>
            </a:xfrm>
            <a:prstGeom prst="rect">
              <a:avLst/>
            </a:prstGeom>
            <a:noFill/>
            <a:ln/>
          </p:spPr>
          <p:txBody>
            <a:bodyPr wrap="square" lIns="0" tIns="0" rIns="0" bIns="0" rtlCol="0" anchor="ctr"/>
            <a:lstStyle/>
            <a:p>
              <a:pPr defTabSz="1219170"/>
              <a:r>
                <a:rPr lang="en-US" sz="2933" b="1" dirty="0">
                  <a:solidFill>
                    <a:srgbClr val="3B82F6"/>
                  </a:solidFill>
                  <a:ea typeface="Arial Black" pitchFamily="34" charset="-122"/>
                  <a:cs typeface="Arial Black" pitchFamily="34" charset="-120"/>
                </a:rPr>
                <a:t>01</a:t>
              </a:r>
              <a:endParaRPr lang="en-US" sz="2933" dirty="0">
                <a:solidFill>
                  <a:prstClr val="black"/>
                </a:solidFill>
              </a:endParaRPr>
            </a:p>
          </p:txBody>
        </p:sp>
        <p:sp>
          <p:nvSpPr>
            <p:cNvPr id="14" name="Text 12"/>
            <p:cNvSpPr/>
            <p:nvPr/>
          </p:nvSpPr>
          <p:spPr>
            <a:xfrm>
              <a:off x="390144" y="1926336"/>
              <a:ext cx="3755136" cy="670560"/>
            </a:xfrm>
            <a:prstGeom prst="rect">
              <a:avLst/>
            </a:prstGeom>
            <a:noFill/>
            <a:ln/>
          </p:spPr>
          <p:txBody>
            <a:bodyPr wrap="square" lIns="0" tIns="0" rIns="0" bIns="0" rtlCol="0" anchor="ctr"/>
            <a:lstStyle/>
            <a:p>
              <a:pPr algn="ctr" defTabSz="1219170"/>
              <a:endParaRPr lang="en-US" sz="3200" dirty="0">
                <a:solidFill>
                  <a:prstClr val="black"/>
                </a:solidFill>
              </a:endParaRPr>
            </a:p>
          </p:txBody>
        </p:sp>
        <p:sp>
          <p:nvSpPr>
            <p:cNvPr id="15" name="Text 13"/>
            <p:cNvSpPr/>
            <p:nvPr/>
          </p:nvSpPr>
          <p:spPr>
            <a:xfrm>
              <a:off x="536448" y="2682240"/>
              <a:ext cx="3486912" cy="438912"/>
            </a:xfrm>
            <a:prstGeom prst="rect">
              <a:avLst/>
            </a:prstGeom>
            <a:noFill/>
            <a:ln/>
          </p:spPr>
          <p:txBody>
            <a:bodyPr wrap="square" lIns="0" tIns="0" rIns="0" bIns="0" rtlCol="0" anchor="ctr"/>
            <a:lstStyle/>
            <a:p>
              <a:pPr algn="ctr" defTabSz="1219170"/>
              <a:r>
                <a:rPr lang="en-US" sz="1733" b="1" dirty="0">
                  <a:solidFill>
                    <a:srgbClr val="3B82F6"/>
                  </a:solidFill>
                </a:rPr>
                <a:t>Blur Detection</a:t>
              </a:r>
              <a:endParaRPr lang="en-US" sz="1733" dirty="0">
                <a:solidFill>
                  <a:prstClr val="black"/>
                </a:solidFill>
              </a:endParaRPr>
            </a:p>
          </p:txBody>
        </p:sp>
        <p:sp>
          <p:nvSpPr>
            <p:cNvPr id="16" name="Shape 14"/>
            <p:cNvSpPr/>
            <p:nvPr/>
          </p:nvSpPr>
          <p:spPr>
            <a:xfrm>
              <a:off x="1121664" y="3194304"/>
              <a:ext cx="2316480" cy="30480"/>
            </a:xfrm>
            <a:prstGeom prst="rect">
              <a:avLst/>
            </a:prstGeom>
            <a:solidFill>
              <a:srgbClr val="475569"/>
            </a:solidFill>
            <a:ln w="12700">
              <a:solidFill>
                <a:srgbClr val="475569"/>
              </a:solidFill>
              <a:prstDash val="solid"/>
            </a:ln>
          </p:spPr>
        </p:sp>
        <p:sp>
          <p:nvSpPr>
            <p:cNvPr id="17" name="Text 15"/>
            <p:cNvSpPr/>
            <p:nvPr/>
          </p:nvSpPr>
          <p:spPr>
            <a:xfrm>
              <a:off x="536448" y="3291840"/>
              <a:ext cx="3486912" cy="426720"/>
            </a:xfrm>
            <a:prstGeom prst="rect">
              <a:avLst/>
            </a:prstGeom>
            <a:noFill/>
            <a:ln/>
          </p:spPr>
          <p:txBody>
            <a:bodyPr wrap="square" lIns="0" tIns="0" rIns="0" bIns="0" rtlCol="0" anchor="ctr"/>
            <a:lstStyle/>
            <a:p>
              <a:pPr algn="ctr" defTabSz="1219170"/>
              <a:r>
                <a:rPr lang="en-US" sz="1200" i="1" dirty="0">
                  <a:solidFill>
                    <a:srgbClr val="94A3B8"/>
                  </a:solidFill>
                </a:rPr>
                <a:t>Laplacian Variance (OpenCV)</a:t>
              </a:r>
              <a:endParaRPr lang="en-US" sz="1200" dirty="0">
                <a:solidFill>
                  <a:prstClr val="black"/>
                </a:solidFill>
              </a:endParaRPr>
            </a:p>
          </p:txBody>
        </p:sp>
        <p:sp>
          <p:nvSpPr>
            <p:cNvPr id="18" name="Text 16"/>
            <p:cNvSpPr/>
            <p:nvPr/>
          </p:nvSpPr>
          <p:spPr>
            <a:xfrm>
              <a:off x="536448" y="3840480"/>
              <a:ext cx="3486912" cy="365760"/>
            </a:xfrm>
            <a:prstGeom prst="rect">
              <a:avLst/>
            </a:prstGeom>
            <a:noFill/>
            <a:ln/>
          </p:spPr>
          <p:txBody>
            <a:bodyPr wrap="square" lIns="0" tIns="0" rIns="0" bIns="0" rtlCol="0" anchor="ctr"/>
            <a:lstStyle/>
            <a:p>
              <a:pPr algn="ctr" defTabSz="1219170"/>
              <a:r>
                <a:rPr lang="en-US" sz="1267" dirty="0">
                  <a:solidFill>
                    <a:srgbClr val="F87171"/>
                  </a:solidFill>
                </a:rPr>
                <a:t>If fails → REJECTED</a:t>
              </a:r>
              <a:endParaRPr lang="en-US" sz="1267" dirty="0">
                <a:solidFill>
                  <a:prstClr val="black"/>
                </a:solidFill>
              </a:endParaRPr>
            </a:p>
          </p:txBody>
        </p:sp>
        <p:sp>
          <p:nvSpPr>
            <p:cNvPr id="19" name="Shape 17"/>
            <p:cNvSpPr/>
            <p:nvPr/>
          </p:nvSpPr>
          <p:spPr>
            <a:xfrm>
              <a:off x="4145280" y="3718560"/>
              <a:ext cx="207264" cy="0"/>
            </a:xfrm>
            <a:prstGeom prst="line">
              <a:avLst/>
            </a:prstGeom>
            <a:noFill/>
            <a:ln w="22860">
              <a:solidFill>
                <a:srgbClr val="3B82F6"/>
              </a:solidFill>
              <a:prstDash val="solid"/>
              <a:tailEnd type="arrow"/>
            </a:ln>
          </p:spPr>
        </p:sp>
        <p:sp>
          <p:nvSpPr>
            <p:cNvPr id="20" name="Shape 18"/>
            <p:cNvSpPr/>
            <p:nvPr/>
          </p:nvSpPr>
          <p:spPr>
            <a:xfrm>
              <a:off x="4352544" y="1755648"/>
              <a:ext cx="3755136" cy="3925824"/>
            </a:xfrm>
            <a:prstGeom prst="rect">
              <a:avLst/>
            </a:prstGeom>
            <a:solidFill>
              <a:srgbClr val="0D1528"/>
            </a:solidFill>
            <a:ln w="12700">
              <a:solidFill>
                <a:schemeClr val="accent1"/>
              </a:solidFill>
              <a:prstDash val="solid"/>
            </a:ln>
            <a:effectLst>
              <a:outerShdw blurRad="101600" dist="25400" dir="8100000" algn="bl" rotWithShape="0">
                <a:srgbClr val="000000">
                  <a:alpha val="30000"/>
                </a:srgbClr>
              </a:outerShdw>
            </a:effectLst>
          </p:spPr>
          <p:txBody>
            <a:bodyPr/>
            <a:lstStyle/>
            <a:p>
              <a:pPr defTabSz="1219170"/>
              <a:endParaRPr lang="en-US" sz="2400" dirty="0">
                <a:solidFill>
                  <a:prstClr val="black"/>
                </a:solidFill>
              </a:endParaRPr>
            </a:p>
          </p:txBody>
        </p:sp>
        <p:sp>
          <p:nvSpPr>
            <p:cNvPr id="21" name="Shape 19"/>
            <p:cNvSpPr/>
            <p:nvPr/>
          </p:nvSpPr>
          <p:spPr>
            <a:xfrm>
              <a:off x="4352544" y="1767840"/>
              <a:ext cx="3755136" cy="73152"/>
            </a:xfrm>
            <a:prstGeom prst="rect">
              <a:avLst/>
            </a:prstGeom>
            <a:solidFill>
              <a:srgbClr val="FBBF24"/>
            </a:solidFill>
            <a:ln w="12700">
              <a:solidFill>
                <a:srgbClr val="FBBF24"/>
              </a:solidFill>
              <a:prstDash val="solid"/>
            </a:ln>
          </p:spPr>
        </p:sp>
        <p:sp>
          <p:nvSpPr>
            <p:cNvPr id="22" name="Shape 20"/>
            <p:cNvSpPr/>
            <p:nvPr/>
          </p:nvSpPr>
          <p:spPr>
            <a:xfrm>
              <a:off x="4352544" y="1767840"/>
              <a:ext cx="3755136" cy="73152"/>
            </a:xfrm>
            <a:prstGeom prst="rect">
              <a:avLst/>
            </a:prstGeom>
            <a:solidFill>
              <a:schemeClr val="accent1"/>
            </a:solidFill>
            <a:ln>
              <a:solidFill>
                <a:schemeClr val="accent1"/>
              </a:solidFill>
            </a:ln>
          </p:spPr>
          <p:style>
            <a:lnRef idx="2">
              <a:schemeClr val="accent1"/>
            </a:lnRef>
            <a:fillRef idx="1">
              <a:schemeClr val="lt1"/>
            </a:fillRef>
            <a:effectRef idx="0">
              <a:schemeClr val="accent1"/>
            </a:effectRef>
            <a:fontRef idx="minor">
              <a:schemeClr val="dk1"/>
            </a:fontRef>
          </p:style>
          <p:txBody>
            <a:bodyPr/>
            <a:lstStyle/>
            <a:p>
              <a:pPr defTabSz="1219170"/>
              <a:endParaRPr lang="en-US" sz="2400">
                <a:solidFill>
                  <a:prstClr val="black"/>
                </a:solidFill>
              </a:endParaRPr>
            </a:p>
          </p:txBody>
        </p:sp>
        <p:sp>
          <p:nvSpPr>
            <p:cNvPr id="23" name="Text 21"/>
            <p:cNvSpPr/>
            <p:nvPr/>
          </p:nvSpPr>
          <p:spPr>
            <a:xfrm>
              <a:off x="4535424" y="1889760"/>
              <a:ext cx="731520" cy="609600"/>
            </a:xfrm>
            <a:prstGeom prst="rect">
              <a:avLst/>
            </a:prstGeom>
            <a:noFill/>
            <a:ln>
              <a:solidFill>
                <a:schemeClr val="accent1"/>
              </a:solidFill>
            </a:ln>
          </p:spPr>
          <p:txBody>
            <a:bodyPr wrap="square" lIns="0" tIns="0" rIns="0" bIns="0" rtlCol="0" anchor="ctr"/>
            <a:lstStyle/>
            <a:p>
              <a:pPr defTabSz="1219170"/>
              <a:r>
                <a:rPr lang="en-US" sz="2933" b="1" dirty="0">
                  <a:solidFill>
                    <a:srgbClr val="4472C4"/>
                  </a:solidFill>
                  <a:ea typeface="Arial Black" pitchFamily="34" charset="-122"/>
                  <a:cs typeface="Arial Black" pitchFamily="34" charset="-120"/>
                </a:rPr>
                <a:t>02</a:t>
              </a:r>
              <a:endParaRPr lang="en-US" sz="2933" dirty="0">
                <a:solidFill>
                  <a:srgbClr val="4472C4"/>
                </a:solidFill>
              </a:endParaRPr>
            </a:p>
          </p:txBody>
        </p:sp>
        <p:sp>
          <p:nvSpPr>
            <p:cNvPr id="24" name="Text 22"/>
            <p:cNvSpPr/>
            <p:nvPr/>
          </p:nvSpPr>
          <p:spPr>
            <a:xfrm>
              <a:off x="4352544" y="1926336"/>
              <a:ext cx="3755136" cy="670560"/>
            </a:xfrm>
            <a:prstGeom prst="rect">
              <a:avLst/>
            </a:prstGeom>
            <a:noFill/>
            <a:ln/>
          </p:spPr>
          <p:txBody>
            <a:bodyPr wrap="square" lIns="0" tIns="0" rIns="0" bIns="0" rtlCol="0" anchor="ctr"/>
            <a:lstStyle/>
            <a:p>
              <a:pPr algn="ctr" defTabSz="1219170"/>
              <a:endParaRPr lang="en-US" sz="3200" dirty="0">
                <a:solidFill>
                  <a:prstClr val="black"/>
                </a:solidFill>
              </a:endParaRPr>
            </a:p>
          </p:txBody>
        </p:sp>
        <p:sp>
          <p:nvSpPr>
            <p:cNvPr id="25" name="Text 23"/>
            <p:cNvSpPr/>
            <p:nvPr/>
          </p:nvSpPr>
          <p:spPr>
            <a:xfrm>
              <a:off x="4498848" y="2682240"/>
              <a:ext cx="3486912" cy="438912"/>
            </a:xfrm>
            <a:prstGeom prst="rect">
              <a:avLst/>
            </a:prstGeom>
            <a:noFill/>
            <a:ln/>
          </p:spPr>
          <p:txBody>
            <a:bodyPr wrap="square" lIns="0" tIns="0" rIns="0" bIns="0" rtlCol="0" anchor="ctr"/>
            <a:lstStyle/>
            <a:p>
              <a:pPr algn="ctr" defTabSz="1219170"/>
              <a:r>
                <a:rPr lang="en-US" sz="1733" b="1" dirty="0">
                  <a:solidFill>
                    <a:srgbClr val="4472C4"/>
                  </a:solidFill>
                </a:rPr>
                <a:t>Brightness Check</a:t>
              </a:r>
              <a:endParaRPr lang="en-US" sz="1733" dirty="0">
                <a:solidFill>
                  <a:srgbClr val="4472C4"/>
                </a:solidFill>
              </a:endParaRPr>
            </a:p>
          </p:txBody>
        </p:sp>
        <p:sp>
          <p:nvSpPr>
            <p:cNvPr id="26" name="Shape 24"/>
            <p:cNvSpPr/>
            <p:nvPr/>
          </p:nvSpPr>
          <p:spPr>
            <a:xfrm>
              <a:off x="5084064" y="3194304"/>
              <a:ext cx="2316480" cy="30480"/>
            </a:xfrm>
            <a:prstGeom prst="rect">
              <a:avLst/>
            </a:prstGeom>
            <a:solidFill>
              <a:srgbClr val="475569"/>
            </a:solidFill>
            <a:ln w="12700">
              <a:solidFill>
                <a:srgbClr val="475569"/>
              </a:solidFill>
              <a:prstDash val="solid"/>
            </a:ln>
          </p:spPr>
        </p:sp>
        <p:sp>
          <p:nvSpPr>
            <p:cNvPr id="27" name="Text 25"/>
            <p:cNvSpPr/>
            <p:nvPr/>
          </p:nvSpPr>
          <p:spPr>
            <a:xfrm>
              <a:off x="4498848" y="3291840"/>
              <a:ext cx="3486912" cy="426720"/>
            </a:xfrm>
            <a:prstGeom prst="rect">
              <a:avLst/>
            </a:prstGeom>
            <a:noFill/>
            <a:ln/>
          </p:spPr>
          <p:txBody>
            <a:bodyPr wrap="square" lIns="0" tIns="0" rIns="0" bIns="0" rtlCol="0" anchor="ctr"/>
            <a:lstStyle/>
            <a:p>
              <a:pPr algn="ctr" defTabSz="1219170"/>
              <a:r>
                <a:rPr lang="en-US" sz="1200" i="1" dirty="0">
                  <a:solidFill>
                    <a:srgbClr val="94A3B8"/>
                  </a:solidFill>
                </a:rPr>
                <a:t>HSV Analysis (OpenCV)</a:t>
              </a:r>
              <a:endParaRPr lang="en-US" sz="1200" dirty="0">
                <a:solidFill>
                  <a:prstClr val="black"/>
                </a:solidFill>
              </a:endParaRPr>
            </a:p>
          </p:txBody>
        </p:sp>
        <p:sp>
          <p:nvSpPr>
            <p:cNvPr id="28" name="Text 26"/>
            <p:cNvSpPr/>
            <p:nvPr/>
          </p:nvSpPr>
          <p:spPr>
            <a:xfrm>
              <a:off x="4498848" y="3840480"/>
              <a:ext cx="3486912" cy="365760"/>
            </a:xfrm>
            <a:prstGeom prst="rect">
              <a:avLst/>
            </a:prstGeom>
            <a:noFill/>
            <a:ln/>
          </p:spPr>
          <p:txBody>
            <a:bodyPr wrap="square" lIns="0" tIns="0" rIns="0" bIns="0" rtlCol="0" anchor="ctr"/>
            <a:lstStyle/>
            <a:p>
              <a:pPr algn="ctr" defTabSz="1219170"/>
              <a:r>
                <a:rPr lang="en-US" sz="1267" dirty="0">
                  <a:solidFill>
                    <a:srgbClr val="F87171"/>
                  </a:solidFill>
                </a:rPr>
                <a:t>If fails → REJECTED</a:t>
              </a:r>
              <a:endParaRPr lang="en-US" sz="1267" dirty="0">
                <a:solidFill>
                  <a:prstClr val="black"/>
                </a:solidFill>
              </a:endParaRPr>
            </a:p>
          </p:txBody>
        </p:sp>
        <p:sp>
          <p:nvSpPr>
            <p:cNvPr id="29" name="Shape 27"/>
            <p:cNvSpPr/>
            <p:nvPr/>
          </p:nvSpPr>
          <p:spPr>
            <a:xfrm>
              <a:off x="8107680" y="3718560"/>
              <a:ext cx="207264" cy="0"/>
            </a:xfrm>
            <a:prstGeom prst="line">
              <a:avLst/>
            </a:prstGeom>
            <a:noFill/>
            <a:ln w="22860">
              <a:solidFill>
                <a:srgbClr val="FBBF24"/>
              </a:solidFill>
              <a:prstDash val="solid"/>
              <a:tailEnd type="arrow"/>
            </a:ln>
          </p:spPr>
        </p:sp>
        <p:sp>
          <p:nvSpPr>
            <p:cNvPr id="30" name="Shape 28"/>
            <p:cNvSpPr/>
            <p:nvPr/>
          </p:nvSpPr>
          <p:spPr>
            <a:xfrm>
              <a:off x="8314944" y="1767840"/>
              <a:ext cx="3755136" cy="3925824"/>
            </a:xfrm>
            <a:prstGeom prst="rect">
              <a:avLst/>
            </a:prstGeom>
            <a:solidFill>
              <a:srgbClr val="0D1528"/>
            </a:solidFill>
            <a:ln w="12700">
              <a:solidFill>
                <a:schemeClr val="accent1"/>
              </a:solidFill>
              <a:prstDash val="solid"/>
            </a:ln>
            <a:effectLst>
              <a:outerShdw blurRad="101600" dist="25400" dir="8100000" algn="bl" rotWithShape="0">
                <a:srgbClr val="000000">
                  <a:alpha val="30000"/>
                </a:srgbClr>
              </a:outerShdw>
            </a:effectLst>
          </p:spPr>
        </p:sp>
        <p:sp>
          <p:nvSpPr>
            <p:cNvPr id="31" name="Shape 29"/>
            <p:cNvSpPr/>
            <p:nvPr/>
          </p:nvSpPr>
          <p:spPr>
            <a:xfrm>
              <a:off x="8314944" y="1767840"/>
              <a:ext cx="3755136" cy="73152"/>
            </a:xfrm>
            <a:prstGeom prst="rect">
              <a:avLst/>
            </a:prstGeom>
            <a:solidFill>
              <a:srgbClr val="A78BFA"/>
            </a:solidFill>
            <a:ln w="12700">
              <a:solidFill>
                <a:srgbClr val="A78BFA"/>
              </a:solidFill>
              <a:prstDash val="solid"/>
            </a:ln>
          </p:spPr>
        </p:sp>
        <p:sp>
          <p:nvSpPr>
            <p:cNvPr id="32" name="Shape 30"/>
            <p:cNvSpPr/>
            <p:nvPr/>
          </p:nvSpPr>
          <p:spPr>
            <a:xfrm>
              <a:off x="8314944" y="1767840"/>
              <a:ext cx="3755136" cy="73152"/>
            </a:xfrm>
            <a:prstGeom prst="rect">
              <a:avLst/>
            </a:prstGeom>
            <a:solidFill>
              <a:schemeClr val="accent1"/>
            </a:solidFill>
            <a:ln w="12700">
              <a:solidFill>
                <a:srgbClr val="A78BFA"/>
              </a:solidFill>
              <a:prstDash val="solid"/>
            </a:ln>
          </p:spPr>
        </p:sp>
        <p:sp>
          <p:nvSpPr>
            <p:cNvPr id="33" name="Text 31"/>
            <p:cNvSpPr/>
            <p:nvPr/>
          </p:nvSpPr>
          <p:spPr>
            <a:xfrm>
              <a:off x="8497824" y="1889760"/>
              <a:ext cx="731520" cy="609600"/>
            </a:xfrm>
            <a:prstGeom prst="rect">
              <a:avLst/>
            </a:prstGeom>
            <a:noFill/>
            <a:ln/>
          </p:spPr>
          <p:txBody>
            <a:bodyPr wrap="square" lIns="0" tIns="0" rIns="0" bIns="0" rtlCol="0" anchor="ctr"/>
            <a:lstStyle/>
            <a:p>
              <a:pPr defTabSz="1219170"/>
              <a:r>
                <a:rPr lang="en-US" sz="2933" b="1" dirty="0">
                  <a:solidFill>
                    <a:srgbClr val="4472C4"/>
                  </a:solidFill>
                  <a:ea typeface="Arial Black" pitchFamily="34" charset="-122"/>
                  <a:cs typeface="Arial Black" pitchFamily="34" charset="-120"/>
                </a:rPr>
                <a:t>03</a:t>
              </a:r>
              <a:endParaRPr lang="en-US" sz="2933" dirty="0">
                <a:solidFill>
                  <a:srgbClr val="4472C4"/>
                </a:solidFill>
              </a:endParaRPr>
            </a:p>
          </p:txBody>
        </p:sp>
        <p:sp>
          <p:nvSpPr>
            <p:cNvPr id="34" name="Text 32"/>
            <p:cNvSpPr/>
            <p:nvPr/>
          </p:nvSpPr>
          <p:spPr>
            <a:xfrm>
              <a:off x="8314944" y="1926336"/>
              <a:ext cx="3755136" cy="670560"/>
            </a:xfrm>
            <a:prstGeom prst="rect">
              <a:avLst/>
            </a:prstGeom>
            <a:noFill/>
            <a:ln/>
          </p:spPr>
          <p:txBody>
            <a:bodyPr wrap="square" lIns="0" tIns="0" rIns="0" bIns="0" rtlCol="0" anchor="ctr"/>
            <a:lstStyle/>
            <a:p>
              <a:pPr algn="ctr" defTabSz="1219170"/>
              <a:endParaRPr lang="en-US" sz="3200" dirty="0">
                <a:solidFill>
                  <a:prstClr val="black"/>
                </a:solidFill>
                <a:latin typeface="Calibri" panose="020F0502020204030204"/>
              </a:endParaRPr>
            </a:p>
          </p:txBody>
        </p:sp>
        <p:sp>
          <p:nvSpPr>
            <p:cNvPr id="35" name="Text 33"/>
            <p:cNvSpPr/>
            <p:nvPr/>
          </p:nvSpPr>
          <p:spPr>
            <a:xfrm>
              <a:off x="8461248" y="2682240"/>
              <a:ext cx="3486912" cy="438912"/>
            </a:xfrm>
            <a:prstGeom prst="rect">
              <a:avLst/>
            </a:prstGeom>
            <a:noFill/>
            <a:ln/>
          </p:spPr>
          <p:txBody>
            <a:bodyPr wrap="square" lIns="0" tIns="0" rIns="0" bIns="0" rtlCol="0" anchor="ctr"/>
            <a:lstStyle/>
            <a:p>
              <a:pPr algn="ctr" defTabSz="1219170"/>
              <a:r>
                <a:rPr lang="en-US" sz="1733" b="1" dirty="0">
                  <a:solidFill>
                    <a:srgbClr val="4472C4"/>
                  </a:solidFill>
                  <a:latin typeface="Calibri" panose="020F0502020204030204"/>
                </a:rPr>
                <a:t>Content Relevance</a:t>
              </a:r>
              <a:endParaRPr lang="en-US" sz="1733" dirty="0">
                <a:solidFill>
                  <a:srgbClr val="4472C4"/>
                </a:solidFill>
                <a:latin typeface="Calibri" panose="020F0502020204030204"/>
              </a:endParaRPr>
            </a:p>
          </p:txBody>
        </p:sp>
        <p:sp>
          <p:nvSpPr>
            <p:cNvPr id="36" name="Shape 34"/>
            <p:cNvSpPr/>
            <p:nvPr/>
          </p:nvSpPr>
          <p:spPr>
            <a:xfrm>
              <a:off x="9046464" y="3194304"/>
              <a:ext cx="2316480" cy="30480"/>
            </a:xfrm>
            <a:prstGeom prst="rect">
              <a:avLst/>
            </a:prstGeom>
            <a:solidFill>
              <a:srgbClr val="475569"/>
            </a:solidFill>
            <a:ln w="12700">
              <a:solidFill>
                <a:srgbClr val="475569"/>
              </a:solidFill>
              <a:prstDash val="solid"/>
            </a:ln>
          </p:spPr>
        </p:sp>
        <p:sp>
          <p:nvSpPr>
            <p:cNvPr id="37" name="Text 35"/>
            <p:cNvSpPr/>
            <p:nvPr/>
          </p:nvSpPr>
          <p:spPr>
            <a:xfrm>
              <a:off x="8461248" y="3291840"/>
              <a:ext cx="3486912" cy="426720"/>
            </a:xfrm>
            <a:prstGeom prst="rect">
              <a:avLst/>
            </a:prstGeom>
            <a:noFill/>
            <a:ln/>
          </p:spPr>
          <p:txBody>
            <a:bodyPr wrap="square" lIns="0" tIns="0" rIns="0" bIns="0" rtlCol="0" anchor="ctr"/>
            <a:lstStyle/>
            <a:p>
              <a:pPr algn="ctr" defTabSz="1219170"/>
              <a:r>
                <a:rPr lang="en-US" sz="1200" i="1" dirty="0">
                  <a:solidFill>
                    <a:srgbClr val="94A3B8"/>
                  </a:solidFill>
                  <a:latin typeface="Calibri" panose="020F0502020204030204"/>
                </a:rPr>
                <a:t>CLIP Model (OpenAI)</a:t>
              </a:r>
              <a:endParaRPr lang="en-US" sz="1200" dirty="0">
                <a:solidFill>
                  <a:prstClr val="black"/>
                </a:solidFill>
                <a:latin typeface="Calibri" panose="020F0502020204030204"/>
              </a:endParaRPr>
            </a:p>
          </p:txBody>
        </p:sp>
        <p:sp>
          <p:nvSpPr>
            <p:cNvPr id="38" name="Text 36"/>
            <p:cNvSpPr/>
            <p:nvPr/>
          </p:nvSpPr>
          <p:spPr>
            <a:xfrm>
              <a:off x="8461248" y="3840480"/>
              <a:ext cx="3486912" cy="365760"/>
            </a:xfrm>
            <a:prstGeom prst="rect">
              <a:avLst/>
            </a:prstGeom>
            <a:noFill/>
            <a:ln/>
          </p:spPr>
          <p:txBody>
            <a:bodyPr wrap="square" lIns="0" tIns="0" rIns="0" bIns="0" rtlCol="0" anchor="ctr"/>
            <a:lstStyle/>
            <a:p>
              <a:pPr algn="ctr" defTabSz="1219170"/>
              <a:r>
                <a:rPr lang="en-US" sz="1267" dirty="0">
                  <a:solidFill>
                    <a:srgbClr val="F87171"/>
                  </a:solidFill>
                  <a:latin typeface="Calibri" panose="020F0502020204030204"/>
                </a:rPr>
                <a:t>If fails → REJECTED</a:t>
              </a:r>
              <a:endParaRPr lang="en-US" sz="1267" dirty="0">
                <a:solidFill>
                  <a:prstClr val="black"/>
                </a:solidFill>
                <a:latin typeface="Calibri" panose="020F0502020204030204"/>
              </a:endParaRPr>
            </a:p>
          </p:txBody>
        </p:sp>
        <p:sp>
          <p:nvSpPr>
            <p:cNvPr id="39" name="Shape 37"/>
            <p:cNvSpPr/>
            <p:nvPr/>
          </p:nvSpPr>
          <p:spPr>
            <a:xfrm>
              <a:off x="390144" y="5791200"/>
              <a:ext cx="5242560" cy="633984"/>
            </a:xfrm>
            <a:prstGeom prst="rect">
              <a:avLst/>
            </a:prstGeom>
            <a:solidFill>
              <a:srgbClr val="001500"/>
            </a:solidFill>
            <a:ln w="12700">
              <a:solidFill>
                <a:srgbClr val="4ADE80"/>
              </a:solidFill>
              <a:prstDash val="solid"/>
            </a:ln>
          </p:spPr>
        </p:sp>
        <p:sp>
          <p:nvSpPr>
            <p:cNvPr id="40" name="Text 38"/>
            <p:cNvSpPr/>
            <p:nvPr/>
          </p:nvSpPr>
          <p:spPr>
            <a:xfrm>
              <a:off x="390144" y="5791200"/>
              <a:ext cx="5242560" cy="633984"/>
            </a:xfrm>
            <a:prstGeom prst="rect">
              <a:avLst/>
            </a:prstGeom>
            <a:noFill/>
            <a:ln/>
          </p:spPr>
          <p:txBody>
            <a:bodyPr wrap="square" lIns="0" tIns="0" rIns="0" bIns="0" rtlCol="0" anchor="ctr"/>
            <a:lstStyle/>
            <a:p>
              <a:pPr algn="ctr" defTabSz="1219170"/>
              <a:r>
                <a:rPr lang="en-US" sz="1600" b="1" dirty="0">
                  <a:solidFill>
                    <a:srgbClr val="4ADE80"/>
                  </a:solidFill>
                </a:rPr>
                <a:t>  VALID → Upload Cloudinary CDN</a:t>
              </a:r>
              <a:endParaRPr lang="en-US" sz="1600" dirty="0">
                <a:solidFill>
                  <a:prstClr val="black"/>
                </a:solidFill>
              </a:endParaRPr>
            </a:p>
          </p:txBody>
        </p:sp>
        <p:sp>
          <p:nvSpPr>
            <p:cNvPr id="41" name="Shape 39"/>
            <p:cNvSpPr/>
            <p:nvPr/>
          </p:nvSpPr>
          <p:spPr>
            <a:xfrm>
              <a:off x="6559296" y="5791200"/>
              <a:ext cx="5242560" cy="633984"/>
            </a:xfrm>
            <a:prstGeom prst="rect">
              <a:avLst/>
            </a:prstGeom>
            <a:solidFill>
              <a:srgbClr val="150000"/>
            </a:solidFill>
            <a:ln w="12700">
              <a:solidFill>
                <a:srgbClr val="F87171"/>
              </a:solidFill>
              <a:prstDash val="solid"/>
            </a:ln>
          </p:spPr>
        </p:sp>
        <p:sp>
          <p:nvSpPr>
            <p:cNvPr id="42" name="Text 40"/>
            <p:cNvSpPr/>
            <p:nvPr/>
          </p:nvSpPr>
          <p:spPr>
            <a:xfrm>
              <a:off x="6559296" y="5791200"/>
              <a:ext cx="5242560" cy="633984"/>
            </a:xfrm>
            <a:prstGeom prst="rect">
              <a:avLst/>
            </a:prstGeom>
            <a:noFill/>
            <a:ln/>
          </p:spPr>
          <p:txBody>
            <a:bodyPr wrap="square" lIns="0" tIns="0" rIns="0" bIns="0" rtlCol="0" anchor="ctr"/>
            <a:lstStyle/>
            <a:p>
              <a:pPr algn="ctr" defTabSz="1219170"/>
              <a:r>
                <a:rPr lang="en-US" sz="1600" b="1" dirty="0">
                  <a:solidFill>
                    <a:srgbClr val="F87171"/>
                  </a:solidFill>
                </a:rPr>
                <a:t>  INVALID → Rejected + User notified</a:t>
              </a:r>
              <a:endParaRPr lang="en-US" sz="1600" dirty="0">
                <a:solidFill>
                  <a:prstClr val="black"/>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91A"/>
        </a:solidFill>
        <a:effectLst/>
      </p:bgPr>
    </p:bg>
    <p:spTree>
      <p:nvGrpSpPr>
        <p:cNvPr id="1" name="">
          <a:extLst>
            <a:ext uri="{FF2B5EF4-FFF2-40B4-BE49-F238E27FC236}">
              <a16:creationId xmlns:a16="http://schemas.microsoft.com/office/drawing/2014/main" id="{99A02C73-2D2F-5D29-E1BE-4A2F16A010A8}"/>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5DA7EF3C-6C83-4DC4-2D46-5E83A75BA376}"/>
              </a:ext>
            </a:extLst>
          </p:cNvPr>
          <p:cNvSpPr/>
          <p:nvPr/>
        </p:nvSpPr>
        <p:spPr>
          <a:xfrm>
            <a:off x="0" y="6809232"/>
            <a:ext cx="12192000" cy="48768"/>
          </a:xfrm>
          <a:prstGeom prst="rect">
            <a:avLst/>
          </a:prstGeom>
          <a:solidFill>
            <a:srgbClr val="0D1528"/>
          </a:solidFill>
          <a:ln w="12700">
            <a:solidFill>
              <a:srgbClr val="0D1528"/>
            </a:solidFill>
            <a:prstDash val="solid"/>
          </a:ln>
        </p:spPr>
      </p:sp>
      <p:sp>
        <p:nvSpPr>
          <p:cNvPr id="5" name="Text 3">
            <a:extLst>
              <a:ext uri="{FF2B5EF4-FFF2-40B4-BE49-F238E27FC236}">
                <a16:creationId xmlns:a16="http://schemas.microsoft.com/office/drawing/2014/main" id="{0DBBE70C-A827-EBB0-02BF-B8A66595CC76}"/>
              </a:ext>
            </a:extLst>
          </p:cNvPr>
          <p:cNvSpPr/>
          <p:nvPr/>
        </p:nvSpPr>
        <p:spPr>
          <a:xfrm>
            <a:off x="487680" y="365760"/>
            <a:ext cx="11216640" cy="670560"/>
          </a:xfrm>
          <a:prstGeom prst="rect">
            <a:avLst/>
          </a:prstGeom>
          <a:noFill/>
          <a:ln/>
        </p:spPr>
        <p:txBody>
          <a:bodyPr wrap="square" lIns="0" tIns="0" rIns="0" bIns="0" rtlCol="0" anchor="ctr"/>
          <a:lstStyle/>
          <a:p>
            <a:pPr defTabSz="1219170"/>
            <a:endParaRPr lang="en-US" sz="3200" dirty="0">
              <a:solidFill>
                <a:schemeClr val="accent5"/>
              </a:solidFill>
            </a:endParaRPr>
          </a:p>
        </p:txBody>
      </p:sp>
      <p:sp>
        <p:nvSpPr>
          <p:cNvPr id="8" name="Text 6">
            <a:extLst>
              <a:ext uri="{FF2B5EF4-FFF2-40B4-BE49-F238E27FC236}">
                <a16:creationId xmlns:a16="http://schemas.microsoft.com/office/drawing/2014/main" id="{3DF34BDD-62EF-D4D0-4503-978A0FCFBB47}"/>
              </a:ext>
            </a:extLst>
          </p:cNvPr>
          <p:cNvSpPr/>
          <p:nvPr/>
        </p:nvSpPr>
        <p:spPr>
          <a:xfrm>
            <a:off x="938136" y="141732"/>
            <a:ext cx="2682240" cy="316992"/>
          </a:xfrm>
          <a:prstGeom prst="rect">
            <a:avLst/>
          </a:prstGeom>
          <a:noFill/>
          <a:ln/>
        </p:spPr>
        <p:txBody>
          <a:bodyPr wrap="square" lIns="0" tIns="0" rIns="0" bIns="0" rtlCol="0" anchor="ctr"/>
          <a:lstStyle/>
          <a:p>
            <a:pPr algn="ctr" defTabSz="1219170"/>
            <a:endParaRPr lang="en-US" sz="1000" dirty="0">
              <a:solidFill>
                <a:prstClr val="black"/>
              </a:solidFill>
              <a:latin typeface="Calibri" panose="020F0502020204030204"/>
            </a:endParaRPr>
          </a:p>
        </p:txBody>
      </p:sp>
      <p:sp>
        <p:nvSpPr>
          <p:cNvPr id="4" name="Text 3">
            <a:extLst>
              <a:ext uri="{FF2B5EF4-FFF2-40B4-BE49-F238E27FC236}">
                <a16:creationId xmlns:a16="http://schemas.microsoft.com/office/drawing/2014/main" id="{B0CD84B2-2936-E31D-17BD-EF5803907CB2}"/>
              </a:ext>
            </a:extLst>
          </p:cNvPr>
          <p:cNvSpPr/>
          <p:nvPr/>
        </p:nvSpPr>
        <p:spPr>
          <a:xfrm>
            <a:off x="224000" y="311658"/>
            <a:ext cx="11143983" cy="63115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200" b="1" dirty="0">
                <a:solidFill>
                  <a:schemeClr val="accent5"/>
                </a:solidFill>
                <a:ea typeface="Arial Black" pitchFamily="34" charset="-122"/>
                <a:cs typeface="Arial Black" pitchFamily="34" charset="-120"/>
              </a:rPr>
              <a:t>Real-Time GPS Tracking — End-to-End Flow</a:t>
            </a:r>
            <a:endParaRPr lang="en-US" sz="3200" dirty="0">
              <a:solidFill>
                <a:schemeClr val="accent5"/>
              </a:solidFill>
            </a:endParaRPr>
          </a:p>
        </p:txBody>
      </p:sp>
      <p:sp>
        <p:nvSpPr>
          <p:cNvPr id="7" name="Shape 4">
            <a:extLst>
              <a:ext uri="{FF2B5EF4-FFF2-40B4-BE49-F238E27FC236}">
                <a16:creationId xmlns:a16="http://schemas.microsoft.com/office/drawing/2014/main" id="{4F22028A-096C-E3F5-3544-091E36E857AE}"/>
              </a:ext>
            </a:extLst>
          </p:cNvPr>
          <p:cNvSpPr/>
          <p:nvPr/>
        </p:nvSpPr>
        <p:spPr>
          <a:xfrm>
            <a:off x="224000" y="982260"/>
            <a:ext cx="666217" cy="52596"/>
          </a:xfrm>
          <a:prstGeom prst="rect">
            <a:avLst/>
          </a:prstGeom>
          <a:solidFill>
            <a:srgbClr val="2DD4BF"/>
          </a:solidFill>
          <a:ln w="12700">
            <a:solidFill>
              <a:srgbClr val="2DD4BF"/>
            </a:solidFill>
            <a:prstDash val="solid"/>
          </a:ln>
        </p:spPr>
        <p:txBody>
          <a:bodyPr/>
          <a:lstStyle/>
          <a:p>
            <a:endParaRPr lang="en-US" sz="1500">
              <a:solidFill>
                <a:schemeClr val="accent5"/>
              </a:solidFill>
            </a:endParaRPr>
          </a:p>
        </p:txBody>
      </p:sp>
      <p:sp>
        <p:nvSpPr>
          <p:cNvPr id="43" name="Shape 5">
            <a:extLst>
              <a:ext uri="{FF2B5EF4-FFF2-40B4-BE49-F238E27FC236}">
                <a16:creationId xmlns:a16="http://schemas.microsoft.com/office/drawing/2014/main" id="{936AA323-A6E8-04E6-5CE5-5613E1AF0602}"/>
              </a:ext>
            </a:extLst>
          </p:cNvPr>
          <p:cNvSpPr/>
          <p:nvPr/>
        </p:nvSpPr>
        <p:spPr>
          <a:xfrm>
            <a:off x="102870" y="1324134"/>
            <a:ext cx="2059214" cy="2564064"/>
          </a:xfrm>
          <a:prstGeom prst="rect">
            <a:avLst/>
          </a:prstGeom>
          <a:solidFill>
            <a:srgbClr val="0D1528"/>
          </a:solidFill>
          <a:ln w="12700">
            <a:solidFill>
              <a:schemeClr val="accent5"/>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44" name="Shape 6">
            <a:extLst>
              <a:ext uri="{FF2B5EF4-FFF2-40B4-BE49-F238E27FC236}">
                <a16:creationId xmlns:a16="http://schemas.microsoft.com/office/drawing/2014/main" id="{DA34F50B-ADE4-1E7F-18CD-AE88D8F81E1F}"/>
              </a:ext>
            </a:extLst>
          </p:cNvPr>
          <p:cNvSpPr/>
          <p:nvPr/>
        </p:nvSpPr>
        <p:spPr>
          <a:xfrm>
            <a:off x="102870" y="1324134"/>
            <a:ext cx="2059214" cy="78894"/>
          </a:xfrm>
          <a:prstGeom prst="rect">
            <a:avLst/>
          </a:prstGeom>
          <a:solidFill>
            <a:schemeClr val="accent1"/>
          </a:solidFill>
          <a:ln w="12700">
            <a:solidFill>
              <a:schemeClr val="accent5"/>
            </a:solidFill>
            <a:prstDash val="solid"/>
          </a:ln>
        </p:spPr>
        <p:txBody>
          <a:bodyPr/>
          <a:lstStyle/>
          <a:p>
            <a:endParaRPr lang="en-US" sz="1500">
              <a:solidFill>
                <a:schemeClr val="accent5"/>
              </a:solidFill>
            </a:endParaRPr>
          </a:p>
        </p:txBody>
      </p:sp>
      <p:sp>
        <p:nvSpPr>
          <p:cNvPr id="45" name="Text 7">
            <a:extLst>
              <a:ext uri="{FF2B5EF4-FFF2-40B4-BE49-F238E27FC236}">
                <a16:creationId xmlns:a16="http://schemas.microsoft.com/office/drawing/2014/main" id="{E270C864-1F2B-6622-63A6-CACD9A5F1C7F}"/>
              </a:ext>
            </a:extLst>
          </p:cNvPr>
          <p:cNvSpPr/>
          <p:nvPr/>
        </p:nvSpPr>
        <p:spPr>
          <a:xfrm>
            <a:off x="102870" y="1455625"/>
            <a:ext cx="2059214" cy="68375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500" dirty="0">
              <a:solidFill>
                <a:schemeClr val="accent5"/>
              </a:solidFill>
            </a:endParaRPr>
          </a:p>
        </p:txBody>
      </p:sp>
      <p:sp>
        <p:nvSpPr>
          <p:cNvPr id="46" name="Text 8">
            <a:extLst>
              <a:ext uri="{FF2B5EF4-FFF2-40B4-BE49-F238E27FC236}">
                <a16:creationId xmlns:a16="http://schemas.microsoft.com/office/drawing/2014/main" id="{A57BE90C-811E-4C21-D9BD-BE0BAFCA8424}"/>
              </a:ext>
            </a:extLst>
          </p:cNvPr>
          <p:cNvSpPr/>
          <p:nvPr/>
        </p:nvSpPr>
        <p:spPr>
          <a:xfrm>
            <a:off x="102870" y="2178823"/>
            <a:ext cx="2059214" cy="36817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chemeClr val="accent5"/>
                </a:solidFill>
              </a:rPr>
              <a:t>ESP32</a:t>
            </a:r>
            <a:endParaRPr lang="en-US" sz="1500" dirty="0">
              <a:solidFill>
                <a:schemeClr val="accent5"/>
              </a:solidFill>
            </a:endParaRPr>
          </a:p>
        </p:txBody>
      </p:sp>
      <p:sp>
        <p:nvSpPr>
          <p:cNvPr id="47" name="Text 9">
            <a:extLst>
              <a:ext uri="{FF2B5EF4-FFF2-40B4-BE49-F238E27FC236}">
                <a16:creationId xmlns:a16="http://schemas.microsoft.com/office/drawing/2014/main" id="{A77F6247-965B-F1AA-8B2D-286CD7DCE0BA}"/>
              </a:ext>
            </a:extLst>
          </p:cNvPr>
          <p:cNvSpPr/>
          <p:nvPr/>
        </p:nvSpPr>
        <p:spPr>
          <a:xfrm>
            <a:off x="102870" y="2533847"/>
            <a:ext cx="2059214" cy="31557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dirty="0">
                <a:solidFill>
                  <a:schemeClr val="accent5"/>
                </a:solidFill>
              </a:rPr>
              <a:t>NEO-6M GPS</a:t>
            </a:r>
          </a:p>
        </p:txBody>
      </p:sp>
      <p:sp>
        <p:nvSpPr>
          <p:cNvPr id="48" name="Shape 10">
            <a:extLst>
              <a:ext uri="{FF2B5EF4-FFF2-40B4-BE49-F238E27FC236}">
                <a16:creationId xmlns:a16="http://schemas.microsoft.com/office/drawing/2014/main" id="{30F3DA3A-C1C9-E7CE-B3A1-2AA2F51ED4CF}"/>
              </a:ext>
            </a:extLst>
          </p:cNvPr>
          <p:cNvSpPr/>
          <p:nvPr/>
        </p:nvSpPr>
        <p:spPr>
          <a:xfrm>
            <a:off x="345131" y="2928318"/>
            <a:ext cx="1574693" cy="26298"/>
          </a:xfrm>
          <a:prstGeom prst="rect">
            <a:avLst/>
          </a:prstGeom>
          <a:solidFill>
            <a:srgbClr val="475569"/>
          </a:solidFill>
          <a:ln w="12700">
            <a:solidFill>
              <a:srgbClr val="475569"/>
            </a:solidFill>
            <a:prstDash val="solid"/>
          </a:ln>
        </p:spPr>
        <p:txBody>
          <a:bodyPr/>
          <a:lstStyle/>
          <a:p>
            <a:endParaRPr lang="en-US" sz="1500">
              <a:solidFill>
                <a:schemeClr val="accent5"/>
              </a:solidFill>
            </a:endParaRPr>
          </a:p>
        </p:txBody>
      </p:sp>
      <p:sp>
        <p:nvSpPr>
          <p:cNvPr id="49" name="Text 11">
            <a:extLst>
              <a:ext uri="{FF2B5EF4-FFF2-40B4-BE49-F238E27FC236}">
                <a16:creationId xmlns:a16="http://schemas.microsoft.com/office/drawing/2014/main" id="{0FDD6A7F-B58E-D4CA-46C6-AA0C3F0F633E}"/>
              </a:ext>
            </a:extLst>
          </p:cNvPr>
          <p:cNvSpPr/>
          <p:nvPr/>
        </p:nvSpPr>
        <p:spPr>
          <a:xfrm>
            <a:off x="102870" y="3033510"/>
            <a:ext cx="2059214" cy="6574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40000"/>
              </a:lnSpc>
              <a:buNone/>
            </a:pPr>
            <a:r>
              <a:rPr lang="en-US" sz="1500" dirty="0">
                <a:solidFill>
                  <a:schemeClr val="accent5"/>
                </a:solidFill>
              </a:rPr>
              <a:t>Reads lat/lng</a:t>
            </a:r>
          </a:p>
        </p:txBody>
      </p:sp>
      <p:sp>
        <p:nvSpPr>
          <p:cNvPr id="50" name="Shape 12">
            <a:extLst>
              <a:ext uri="{FF2B5EF4-FFF2-40B4-BE49-F238E27FC236}">
                <a16:creationId xmlns:a16="http://schemas.microsoft.com/office/drawing/2014/main" id="{A2106BAE-EBBB-0057-8681-F3E043517971}"/>
              </a:ext>
            </a:extLst>
          </p:cNvPr>
          <p:cNvSpPr/>
          <p:nvPr/>
        </p:nvSpPr>
        <p:spPr>
          <a:xfrm>
            <a:off x="2162084" y="2507675"/>
            <a:ext cx="339165" cy="0"/>
          </a:xfrm>
          <a:prstGeom prst="line">
            <a:avLst/>
          </a:prstGeom>
          <a:noFill/>
          <a:ln w="25400">
            <a:solidFill>
              <a:srgbClr val="FBBF24"/>
            </a:solidFill>
            <a:prstDash val="solid"/>
            <a:tailEnd type="arrow"/>
          </a:ln>
        </p:spPr>
        <p:txBody>
          <a:bodyPr/>
          <a:lstStyle/>
          <a:p>
            <a:endParaRPr lang="en-US" sz="1500">
              <a:solidFill>
                <a:schemeClr val="accent5"/>
              </a:solidFill>
            </a:endParaRPr>
          </a:p>
        </p:txBody>
      </p:sp>
      <p:sp>
        <p:nvSpPr>
          <p:cNvPr id="51" name="Shape 13">
            <a:extLst>
              <a:ext uri="{FF2B5EF4-FFF2-40B4-BE49-F238E27FC236}">
                <a16:creationId xmlns:a16="http://schemas.microsoft.com/office/drawing/2014/main" id="{F61FD689-CC86-6035-BAB6-08A05A2706A2}"/>
              </a:ext>
            </a:extLst>
          </p:cNvPr>
          <p:cNvSpPr/>
          <p:nvPr/>
        </p:nvSpPr>
        <p:spPr>
          <a:xfrm>
            <a:off x="2501249" y="1324134"/>
            <a:ext cx="2059214" cy="2564064"/>
          </a:xfrm>
          <a:prstGeom prst="rect">
            <a:avLst/>
          </a:prstGeom>
          <a:solidFill>
            <a:srgbClr val="0D1528"/>
          </a:solidFill>
          <a:ln w="12700">
            <a:solidFill>
              <a:schemeClr val="accent5"/>
            </a:solidFill>
            <a:prstDash val="solid"/>
          </a:ln>
          <a:effectLst>
            <a:outerShdw blurRad="127000" dist="38100" dir="8100000" algn="bl" rotWithShape="0">
              <a:srgbClr val="000000">
                <a:alpha val="35000"/>
              </a:srgbClr>
            </a:outerShdw>
          </a:effectLst>
        </p:spPr>
        <p:txBody>
          <a:bodyPr/>
          <a:lstStyle/>
          <a:p>
            <a:endParaRPr lang="en-US" sz="1500" dirty="0">
              <a:solidFill>
                <a:schemeClr val="accent5"/>
              </a:solidFill>
            </a:endParaRPr>
          </a:p>
        </p:txBody>
      </p:sp>
      <p:sp>
        <p:nvSpPr>
          <p:cNvPr id="52" name="Shape 14">
            <a:extLst>
              <a:ext uri="{FF2B5EF4-FFF2-40B4-BE49-F238E27FC236}">
                <a16:creationId xmlns:a16="http://schemas.microsoft.com/office/drawing/2014/main" id="{15F1C1BC-2EE8-2745-58D1-18007DDADE7F}"/>
              </a:ext>
            </a:extLst>
          </p:cNvPr>
          <p:cNvSpPr/>
          <p:nvPr/>
        </p:nvSpPr>
        <p:spPr>
          <a:xfrm>
            <a:off x="2501249" y="1324134"/>
            <a:ext cx="2059214" cy="78894"/>
          </a:xfrm>
          <a:prstGeom prst="rect">
            <a:avLst/>
          </a:prstGeom>
          <a:solidFill>
            <a:schemeClr val="accent1"/>
          </a:solidFill>
          <a:ln w="12700">
            <a:solidFill>
              <a:schemeClr val="accent5"/>
            </a:solidFill>
            <a:prstDash val="solid"/>
          </a:ln>
        </p:spPr>
        <p:txBody>
          <a:bodyPr/>
          <a:lstStyle/>
          <a:p>
            <a:endParaRPr lang="en-US" sz="1500">
              <a:solidFill>
                <a:schemeClr val="accent5"/>
              </a:solidFill>
            </a:endParaRPr>
          </a:p>
        </p:txBody>
      </p:sp>
      <p:sp>
        <p:nvSpPr>
          <p:cNvPr id="53" name="Text 15">
            <a:extLst>
              <a:ext uri="{FF2B5EF4-FFF2-40B4-BE49-F238E27FC236}">
                <a16:creationId xmlns:a16="http://schemas.microsoft.com/office/drawing/2014/main" id="{C0AA5798-CAE3-5BC2-72AC-CF5BDB82761D}"/>
              </a:ext>
            </a:extLst>
          </p:cNvPr>
          <p:cNvSpPr/>
          <p:nvPr/>
        </p:nvSpPr>
        <p:spPr>
          <a:xfrm>
            <a:off x="2501249" y="1455625"/>
            <a:ext cx="2059214" cy="68375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500" dirty="0">
              <a:solidFill>
                <a:schemeClr val="accent5"/>
              </a:solidFill>
            </a:endParaRPr>
          </a:p>
        </p:txBody>
      </p:sp>
      <p:sp>
        <p:nvSpPr>
          <p:cNvPr id="54" name="Text 16">
            <a:extLst>
              <a:ext uri="{FF2B5EF4-FFF2-40B4-BE49-F238E27FC236}">
                <a16:creationId xmlns:a16="http://schemas.microsoft.com/office/drawing/2014/main" id="{1FA07028-14BC-5479-2A54-B14FF445BE43}"/>
              </a:ext>
            </a:extLst>
          </p:cNvPr>
          <p:cNvSpPr/>
          <p:nvPr/>
        </p:nvSpPr>
        <p:spPr>
          <a:xfrm>
            <a:off x="2501249" y="2178823"/>
            <a:ext cx="2059214" cy="36817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chemeClr val="accent5"/>
                </a:solidFill>
              </a:rPr>
              <a:t>HiveMQ</a:t>
            </a:r>
            <a:endParaRPr lang="en-US" sz="1500" dirty="0">
              <a:solidFill>
                <a:schemeClr val="accent5"/>
              </a:solidFill>
            </a:endParaRPr>
          </a:p>
        </p:txBody>
      </p:sp>
      <p:sp>
        <p:nvSpPr>
          <p:cNvPr id="55" name="Text 17">
            <a:extLst>
              <a:ext uri="{FF2B5EF4-FFF2-40B4-BE49-F238E27FC236}">
                <a16:creationId xmlns:a16="http://schemas.microsoft.com/office/drawing/2014/main" id="{C16E9498-65C9-7F0B-C8FE-CCBE13462ADB}"/>
              </a:ext>
            </a:extLst>
          </p:cNvPr>
          <p:cNvSpPr/>
          <p:nvPr/>
        </p:nvSpPr>
        <p:spPr>
          <a:xfrm>
            <a:off x="2501249" y="2533847"/>
            <a:ext cx="2059214" cy="31557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dirty="0">
                <a:solidFill>
                  <a:schemeClr val="accent5"/>
                </a:solidFill>
              </a:rPr>
              <a:t>Cloud Broker</a:t>
            </a:r>
          </a:p>
        </p:txBody>
      </p:sp>
      <p:sp>
        <p:nvSpPr>
          <p:cNvPr id="56" name="Shape 18">
            <a:extLst>
              <a:ext uri="{FF2B5EF4-FFF2-40B4-BE49-F238E27FC236}">
                <a16:creationId xmlns:a16="http://schemas.microsoft.com/office/drawing/2014/main" id="{45A6FBBB-41BC-B48B-75B0-D9EDADB3B719}"/>
              </a:ext>
            </a:extLst>
          </p:cNvPr>
          <p:cNvSpPr/>
          <p:nvPr/>
        </p:nvSpPr>
        <p:spPr>
          <a:xfrm>
            <a:off x="2743510" y="2928318"/>
            <a:ext cx="1574693" cy="26298"/>
          </a:xfrm>
          <a:prstGeom prst="rect">
            <a:avLst/>
          </a:prstGeom>
          <a:solidFill>
            <a:srgbClr val="475569"/>
          </a:solidFill>
          <a:ln w="12700">
            <a:solidFill>
              <a:srgbClr val="475569"/>
            </a:solidFill>
            <a:prstDash val="solid"/>
          </a:ln>
        </p:spPr>
        <p:txBody>
          <a:bodyPr/>
          <a:lstStyle/>
          <a:p>
            <a:endParaRPr lang="en-US" sz="1500">
              <a:solidFill>
                <a:schemeClr val="accent5"/>
              </a:solidFill>
            </a:endParaRPr>
          </a:p>
        </p:txBody>
      </p:sp>
      <p:sp>
        <p:nvSpPr>
          <p:cNvPr id="57" name="Text 19">
            <a:extLst>
              <a:ext uri="{FF2B5EF4-FFF2-40B4-BE49-F238E27FC236}">
                <a16:creationId xmlns:a16="http://schemas.microsoft.com/office/drawing/2014/main" id="{F57170E8-BD5B-1DA2-9BC0-26A36EC39A0B}"/>
              </a:ext>
            </a:extLst>
          </p:cNvPr>
          <p:cNvSpPr/>
          <p:nvPr/>
        </p:nvSpPr>
        <p:spPr>
          <a:xfrm>
            <a:off x="2501249" y="3033510"/>
            <a:ext cx="2059214" cy="6574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40000"/>
              </a:lnSpc>
              <a:buNone/>
            </a:pPr>
            <a:r>
              <a:rPr lang="en-US" sz="1500" dirty="0">
                <a:solidFill>
                  <a:schemeClr val="accent5"/>
                </a:solidFill>
              </a:rPr>
              <a:t>MQTT relay</a:t>
            </a:r>
          </a:p>
        </p:txBody>
      </p:sp>
      <p:sp>
        <p:nvSpPr>
          <p:cNvPr id="58" name="Shape 20">
            <a:extLst>
              <a:ext uri="{FF2B5EF4-FFF2-40B4-BE49-F238E27FC236}">
                <a16:creationId xmlns:a16="http://schemas.microsoft.com/office/drawing/2014/main" id="{F37F316E-761D-4C42-4587-51C874700F28}"/>
              </a:ext>
            </a:extLst>
          </p:cNvPr>
          <p:cNvSpPr/>
          <p:nvPr/>
        </p:nvSpPr>
        <p:spPr>
          <a:xfrm>
            <a:off x="4560463" y="2579868"/>
            <a:ext cx="339165" cy="0"/>
          </a:xfrm>
          <a:prstGeom prst="line">
            <a:avLst/>
          </a:prstGeom>
          <a:noFill/>
          <a:ln w="25400">
            <a:solidFill>
              <a:srgbClr val="FB923C"/>
            </a:solidFill>
            <a:prstDash val="solid"/>
            <a:tailEnd type="arrow"/>
          </a:ln>
        </p:spPr>
        <p:txBody>
          <a:bodyPr/>
          <a:lstStyle/>
          <a:p>
            <a:endParaRPr lang="en-US" sz="1500">
              <a:solidFill>
                <a:schemeClr val="accent5"/>
              </a:solidFill>
            </a:endParaRPr>
          </a:p>
        </p:txBody>
      </p:sp>
      <p:sp>
        <p:nvSpPr>
          <p:cNvPr id="59" name="Shape 21">
            <a:extLst>
              <a:ext uri="{FF2B5EF4-FFF2-40B4-BE49-F238E27FC236}">
                <a16:creationId xmlns:a16="http://schemas.microsoft.com/office/drawing/2014/main" id="{645B4EF3-FE80-DEDD-7AAF-43FAA789ED4E}"/>
              </a:ext>
            </a:extLst>
          </p:cNvPr>
          <p:cNvSpPr/>
          <p:nvPr/>
        </p:nvSpPr>
        <p:spPr>
          <a:xfrm>
            <a:off x="4899628" y="1324134"/>
            <a:ext cx="2059214" cy="2564064"/>
          </a:xfrm>
          <a:prstGeom prst="rect">
            <a:avLst/>
          </a:prstGeom>
          <a:solidFill>
            <a:srgbClr val="0D1528"/>
          </a:solidFill>
          <a:ln w="12700">
            <a:solidFill>
              <a:schemeClr val="accent5"/>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60" name="Shape 22">
            <a:extLst>
              <a:ext uri="{FF2B5EF4-FFF2-40B4-BE49-F238E27FC236}">
                <a16:creationId xmlns:a16="http://schemas.microsoft.com/office/drawing/2014/main" id="{2F114D6E-6813-CE37-7D10-7A59F6B1096B}"/>
              </a:ext>
            </a:extLst>
          </p:cNvPr>
          <p:cNvSpPr/>
          <p:nvPr/>
        </p:nvSpPr>
        <p:spPr>
          <a:xfrm>
            <a:off x="4899628" y="1324134"/>
            <a:ext cx="2059214" cy="78894"/>
          </a:xfrm>
          <a:prstGeom prst="rect">
            <a:avLst/>
          </a:prstGeom>
          <a:solidFill>
            <a:schemeClr val="accent1"/>
          </a:solidFill>
          <a:ln w="12700">
            <a:solidFill>
              <a:schemeClr val="accent5"/>
            </a:solidFill>
            <a:prstDash val="solid"/>
          </a:ln>
        </p:spPr>
        <p:txBody>
          <a:bodyPr/>
          <a:lstStyle/>
          <a:p>
            <a:endParaRPr lang="en-US" sz="1500">
              <a:solidFill>
                <a:schemeClr val="accent5"/>
              </a:solidFill>
            </a:endParaRPr>
          </a:p>
        </p:txBody>
      </p:sp>
      <p:sp>
        <p:nvSpPr>
          <p:cNvPr id="61" name="Text 23">
            <a:extLst>
              <a:ext uri="{FF2B5EF4-FFF2-40B4-BE49-F238E27FC236}">
                <a16:creationId xmlns:a16="http://schemas.microsoft.com/office/drawing/2014/main" id="{DFC35C46-34C6-5823-8368-AC37F6369F4F}"/>
              </a:ext>
            </a:extLst>
          </p:cNvPr>
          <p:cNvSpPr/>
          <p:nvPr/>
        </p:nvSpPr>
        <p:spPr>
          <a:xfrm>
            <a:off x="4899628" y="1455625"/>
            <a:ext cx="2059214" cy="68375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500" dirty="0">
              <a:solidFill>
                <a:schemeClr val="accent5"/>
              </a:solidFill>
            </a:endParaRPr>
          </a:p>
        </p:txBody>
      </p:sp>
      <p:sp>
        <p:nvSpPr>
          <p:cNvPr id="62" name="Text 24">
            <a:extLst>
              <a:ext uri="{FF2B5EF4-FFF2-40B4-BE49-F238E27FC236}">
                <a16:creationId xmlns:a16="http://schemas.microsoft.com/office/drawing/2014/main" id="{EB79E0F1-950A-F0C4-9D4A-3078409DF824}"/>
              </a:ext>
            </a:extLst>
          </p:cNvPr>
          <p:cNvSpPr/>
          <p:nvPr/>
        </p:nvSpPr>
        <p:spPr>
          <a:xfrm>
            <a:off x="4899628" y="2178823"/>
            <a:ext cx="2059214" cy="36817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chemeClr val="accent5"/>
                </a:solidFill>
              </a:rPr>
              <a:t>Backend</a:t>
            </a:r>
            <a:endParaRPr lang="en-US" sz="1500" dirty="0">
              <a:solidFill>
                <a:schemeClr val="accent5"/>
              </a:solidFill>
            </a:endParaRPr>
          </a:p>
        </p:txBody>
      </p:sp>
      <p:sp>
        <p:nvSpPr>
          <p:cNvPr id="63" name="Text 25">
            <a:extLst>
              <a:ext uri="{FF2B5EF4-FFF2-40B4-BE49-F238E27FC236}">
                <a16:creationId xmlns:a16="http://schemas.microsoft.com/office/drawing/2014/main" id="{A82079A1-D5A6-438F-59F0-075DD2E0A695}"/>
              </a:ext>
            </a:extLst>
          </p:cNvPr>
          <p:cNvSpPr/>
          <p:nvPr/>
        </p:nvSpPr>
        <p:spPr>
          <a:xfrm>
            <a:off x="4899628" y="2533847"/>
            <a:ext cx="2059214" cy="31557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dirty="0">
                <a:solidFill>
                  <a:schemeClr val="accent5"/>
                </a:solidFill>
              </a:rPr>
              <a:t>Node.js</a:t>
            </a:r>
          </a:p>
        </p:txBody>
      </p:sp>
      <p:sp>
        <p:nvSpPr>
          <p:cNvPr id="64" name="Shape 26">
            <a:extLst>
              <a:ext uri="{FF2B5EF4-FFF2-40B4-BE49-F238E27FC236}">
                <a16:creationId xmlns:a16="http://schemas.microsoft.com/office/drawing/2014/main" id="{52275582-8D38-EEB5-9DC3-F9620FEC80FB}"/>
              </a:ext>
            </a:extLst>
          </p:cNvPr>
          <p:cNvSpPr/>
          <p:nvPr/>
        </p:nvSpPr>
        <p:spPr>
          <a:xfrm>
            <a:off x="5141888" y="2928318"/>
            <a:ext cx="1574693" cy="26298"/>
          </a:xfrm>
          <a:prstGeom prst="rect">
            <a:avLst/>
          </a:prstGeom>
          <a:solidFill>
            <a:srgbClr val="475569"/>
          </a:solidFill>
          <a:ln w="12700">
            <a:solidFill>
              <a:srgbClr val="475569"/>
            </a:solidFill>
            <a:prstDash val="solid"/>
          </a:ln>
        </p:spPr>
        <p:txBody>
          <a:bodyPr/>
          <a:lstStyle/>
          <a:p>
            <a:endParaRPr lang="en-US" sz="1500">
              <a:solidFill>
                <a:schemeClr val="accent5"/>
              </a:solidFill>
            </a:endParaRPr>
          </a:p>
        </p:txBody>
      </p:sp>
      <p:sp>
        <p:nvSpPr>
          <p:cNvPr id="65" name="Text 27">
            <a:extLst>
              <a:ext uri="{FF2B5EF4-FFF2-40B4-BE49-F238E27FC236}">
                <a16:creationId xmlns:a16="http://schemas.microsoft.com/office/drawing/2014/main" id="{FBF92F65-1DD7-1A88-1074-7968B46EBC60}"/>
              </a:ext>
            </a:extLst>
          </p:cNvPr>
          <p:cNvSpPr/>
          <p:nvPr/>
        </p:nvSpPr>
        <p:spPr>
          <a:xfrm>
            <a:off x="4899628" y="3033510"/>
            <a:ext cx="2059214" cy="6574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40000"/>
              </a:lnSpc>
              <a:buNone/>
            </a:pPr>
            <a:r>
              <a:rPr lang="en-US" sz="1500" dirty="0">
                <a:solidFill>
                  <a:schemeClr val="accent5"/>
                </a:solidFill>
              </a:rPr>
              <a:t>Processes data</a:t>
            </a:r>
          </a:p>
        </p:txBody>
      </p:sp>
      <p:sp>
        <p:nvSpPr>
          <p:cNvPr id="66" name="Shape 28">
            <a:extLst>
              <a:ext uri="{FF2B5EF4-FFF2-40B4-BE49-F238E27FC236}">
                <a16:creationId xmlns:a16="http://schemas.microsoft.com/office/drawing/2014/main" id="{249A17C3-CA69-DD4F-4E75-E94F38A8940E}"/>
              </a:ext>
            </a:extLst>
          </p:cNvPr>
          <p:cNvSpPr/>
          <p:nvPr/>
        </p:nvSpPr>
        <p:spPr>
          <a:xfrm>
            <a:off x="6958842" y="2579868"/>
            <a:ext cx="339165" cy="0"/>
          </a:xfrm>
          <a:prstGeom prst="line">
            <a:avLst/>
          </a:prstGeom>
          <a:noFill/>
          <a:ln w="25400">
            <a:solidFill>
              <a:srgbClr val="3B82F6"/>
            </a:solidFill>
            <a:prstDash val="solid"/>
            <a:tailEnd type="arrow"/>
          </a:ln>
        </p:spPr>
        <p:txBody>
          <a:bodyPr/>
          <a:lstStyle/>
          <a:p>
            <a:endParaRPr lang="en-US" sz="1500">
              <a:solidFill>
                <a:schemeClr val="accent5"/>
              </a:solidFill>
            </a:endParaRPr>
          </a:p>
        </p:txBody>
      </p:sp>
      <p:sp>
        <p:nvSpPr>
          <p:cNvPr id="67" name="Shape 29">
            <a:extLst>
              <a:ext uri="{FF2B5EF4-FFF2-40B4-BE49-F238E27FC236}">
                <a16:creationId xmlns:a16="http://schemas.microsoft.com/office/drawing/2014/main" id="{81AC41E1-AD82-AE13-C709-2CD9E435CB16}"/>
              </a:ext>
            </a:extLst>
          </p:cNvPr>
          <p:cNvSpPr/>
          <p:nvPr/>
        </p:nvSpPr>
        <p:spPr>
          <a:xfrm>
            <a:off x="7298007" y="1324134"/>
            <a:ext cx="2059214" cy="2564064"/>
          </a:xfrm>
          <a:prstGeom prst="rect">
            <a:avLst/>
          </a:prstGeom>
          <a:solidFill>
            <a:srgbClr val="0D1528"/>
          </a:solidFill>
          <a:ln w="12700">
            <a:solidFill>
              <a:schemeClr val="accent5"/>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68" name="Shape 30">
            <a:extLst>
              <a:ext uri="{FF2B5EF4-FFF2-40B4-BE49-F238E27FC236}">
                <a16:creationId xmlns:a16="http://schemas.microsoft.com/office/drawing/2014/main" id="{970E36E5-4494-752B-DCDA-C562CD6E59BC}"/>
              </a:ext>
            </a:extLst>
          </p:cNvPr>
          <p:cNvSpPr/>
          <p:nvPr/>
        </p:nvSpPr>
        <p:spPr>
          <a:xfrm>
            <a:off x="7298007" y="1324134"/>
            <a:ext cx="2059214" cy="78894"/>
          </a:xfrm>
          <a:prstGeom prst="rect">
            <a:avLst/>
          </a:prstGeom>
          <a:solidFill>
            <a:schemeClr val="accent1"/>
          </a:solidFill>
          <a:ln w="12700">
            <a:solidFill>
              <a:schemeClr val="accent5"/>
            </a:solidFill>
            <a:prstDash val="solid"/>
          </a:ln>
        </p:spPr>
        <p:txBody>
          <a:bodyPr/>
          <a:lstStyle/>
          <a:p>
            <a:endParaRPr lang="en-US" sz="1500">
              <a:solidFill>
                <a:schemeClr val="accent5"/>
              </a:solidFill>
            </a:endParaRPr>
          </a:p>
        </p:txBody>
      </p:sp>
      <p:sp>
        <p:nvSpPr>
          <p:cNvPr id="69" name="Text 31">
            <a:extLst>
              <a:ext uri="{FF2B5EF4-FFF2-40B4-BE49-F238E27FC236}">
                <a16:creationId xmlns:a16="http://schemas.microsoft.com/office/drawing/2014/main" id="{60D33AEF-A549-9F87-64C9-3F392493508F}"/>
              </a:ext>
            </a:extLst>
          </p:cNvPr>
          <p:cNvSpPr/>
          <p:nvPr/>
        </p:nvSpPr>
        <p:spPr>
          <a:xfrm>
            <a:off x="7298007" y="1455625"/>
            <a:ext cx="2059214" cy="68375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500" dirty="0">
              <a:solidFill>
                <a:schemeClr val="accent5"/>
              </a:solidFill>
            </a:endParaRPr>
          </a:p>
        </p:txBody>
      </p:sp>
      <p:sp>
        <p:nvSpPr>
          <p:cNvPr id="70" name="Text 32">
            <a:extLst>
              <a:ext uri="{FF2B5EF4-FFF2-40B4-BE49-F238E27FC236}">
                <a16:creationId xmlns:a16="http://schemas.microsoft.com/office/drawing/2014/main" id="{29D07672-FC9E-CB97-23FB-BC5B786312BC}"/>
              </a:ext>
            </a:extLst>
          </p:cNvPr>
          <p:cNvSpPr/>
          <p:nvPr/>
        </p:nvSpPr>
        <p:spPr>
          <a:xfrm>
            <a:off x="7298007" y="2178823"/>
            <a:ext cx="2059214" cy="36817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chemeClr val="accent5"/>
                </a:solidFill>
              </a:rPr>
              <a:t>Socket.IO</a:t>
            </a:r>
            <a:endParaRPr lang="en-US" sz="1500" dirty="0">
              <a:solidFill>
                <a:schemeClr val="accent5"/>
              </a:solidFill>
            </a:endParaRPr>
          </a:p>
        </p:txBody>
      </p:sp>
      <p:sp>
        <p:nvSpPr>
          <p:cNvPr id="71" name="Text 33">
            <a:extLst>
              <a:ext uri="{FF2B5EF4-FFF2-40B4-BE49-F238E27FC236}">
                <a16:creationId xmlns:a16="http://schemas.microsoft.com/office/drawing/2014/main" id="{86D3D518-1FBC-C4A4-4187-AF15CB50CA9B}"/>
              </a:ext>
            </a:extLst>
          </p:cNvPr>
          <p:cNvSpPr/>
          <p:nvPr/>
        </p:nvSpPr>
        <p:spPr>
          <a:xfrm>
            <a:off x="7298007" y="2533847"/>
            <a:ext cx="2059214" cy="31557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dirty="0">
                <a:solidFill>
                  <a:schemeClr val="accent5"/>
                </a:solidFill>
              </a:rPr>
              <a:t>WebSocket</a:t>
            </a:r>
          </a:p>
        </p:txBody>
      </p:sp>
      <p:sp>
        <p:nvSpPr>
          <p:cNvPr id="72" name="Shape 34">
            <a:extLst>
              <a:ext uri="{FF2B5EF4-FFF2-40B4-BE49-F238E27FC236}">
                <a16:creationId xmlns:a16="http://schemas.microsoft.com/office/drawing/2014/main" id="{6EDDB601-3245-421C-C8CC-A79325AFA5E7}"/>
              </a:ext>
            </a:extLst>
          </p:cNvPr>
          <p:cNvSpPr/>
          <p:nvPr/>
        </p:nvSpPr>
        <p:spPr>
          <a:xfrm>
            <a:off x="7540267" y="2928318"/>
            <a:ext cx="1574693" cy="26298"/>
          </a:xfrm>
          <a:prstGeom prst="rect">
            <a:avLst/>
          </a:prstGeom>
          <a:solidFill>
            <a:srgbClr val="475569"/>
          </a:solidFill>
          <a:ln w="12700">
            <a:solidFill>
              <a:srgbClr val="475569"/>
            </a:solidFill>
            <a:prstDash val="solid"/>
          </a:ln>
        </p:spPr>
        <p:txBody>
          <a:bodyPr/>
          <a:lstStyle/>
          <a:p>
            <a:endParaRPr lang="en-US" sz="1500">
              <a:solidFill>
                <a:schemeClr val="accent5"/>
              </a:solidFill>
            </a:endParaRPr>
          </a:p>
        </p:txBody>
      </p:sp>
      <p:sp>
        <p:nvSpPr>
          <p:cNvPr id="73" name="Text 35">
            <a:extLst>
              <a:ext uri="{FF2B5EF4-FFF2-40B4-BE49-F238E27FC236}">
                <a16:creationId xmlns:a16="http://schemas.microsoft.com/office/drawing/2014/main" id="{7C9D6387-421E-1840-450A-922EC456B41A}"/>
              </a:ext>
            </a:extLst>
          </p:cNvPr>
          <p:cNvSpPr/>
          <p:nvPr/>
        </p:nvSpPr>
        <p:spPr>
          <a:xfrm>
            <a:off x="7298007" y="3033510"/>
            <a:ext cx="2059214" cy="6574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40000"/>
              </a:lnSpc>
              <a:buNone/>
            </a:pPr>
            <a:r>
              <a:rPr lang="en-US" sz="1500" dirty="0">
                <a:solidFill>
                  <a:schemeClr val="accent5"/>
                </a:solidFill>
              </a:rPr>
              <a:t>Broadcasts live</a:t>
            </a:r>
          </a:p>
        </p:txBody>
      </p:sp>
      <p:sp>
        <p:nvSpPr>
          <p:cNvPr id="74" name="Shape 36">
            <a:extLst>
              <a:ext uri="{FF2B5EF4-FFF2-40B4-BE49-F238E27FC236}">
                <a16:creationId xmlns:a16="http://schemas.microsoft.com/office/drawing/2014/main" id="{B74B2B7D-0644-6959-3A6C-F14DF9B9FA73}"/>
              </a:ext>
            </a:extLst>
          </p:cNvPr>
          <p:cNvSpPr/>
          <p:nvPr/>
        </p:nvSpPr>
        <p:spPr>
          <a:xfrm>
            <a:off x="9357221" y="2579868"/>
            <a:ext cx="339165" cy="0"/>
          </a:xfrm>
          <a:prstGeom prst="line">
            <a:avLst/>
          </a:prstGeom>
          <a:noFill/>
          <a:ln w="25400">
            <a:solidFill>
              <a:srgbClr val="A78BFA"/>
            </a:solidFill>
            <a:prstDash val="solid"/>
            <a:tailEnd type="arrow"/>
          </a:ln>
        </p:spPr>
        <p:txBody>
          <a:bodyPr/>
          <a:lstStyle/>
          <a:p>
            <a:endParaRPr lang="en-US" sz="1500">
              <a:solidFill>
                <a:schemeClr val="accent5"/>
              </a:solidFill>
            </a:endParaRPr>
          </a:p>
        </p:txBody>
      </p:sp>
      <p:sp>
        <p:nvSpPr>
          <p:cNvPr id="75" name="Shape 37">
            <a:extLst>
              <a:ext uri="{FF2B5EF4-FFF2-40B4-BE49-F238E27FC236}">
                <a16:creationId xmlns:a16="http://schemas.microsoft.com/office/drawing/2014/main" id="{3280BCB7-C3FE-7EC9-F6EF-B9BF80E0C136}"/>
              </a:ext>
            </a:extLst>
          </p:cNvPr>
          <p:cNvSpPr/>
          <p:nvPr/>
        </p:nvSpPr>
        <p:spPr>
          <a:xfrm>
            <a:off x="9696386" y="1324134"/>
            <a:ext cx="2059214" cy="2564064"/>
          </a:xfrm>
          <a:prstGeom prst="rect">
            <a:avLst/>
          </a:prstGeom>
          <a:solidFill>
            <a:srgbClr val="0D1528"/>
          </a:solidFill>
          <a:ln w="12700">
            <a:solidFill>
              <a:schemeClr val="accent5"/>
            </a:solidFill>
            <a:prstDash val="solid"/>
          </a:ln>
          <a:effectLst>
            <a:outerShdw blurRad="127000" dist="38100" dir="8100000" algn="bl" rotWithShape="0">
              <a:srgbClr val="000000">
                <a:alpha val="35000"/>
              </a:srgbClr>
            </a:outerShdw>
          </a:effectLst>
        </p:spPr>
        <p:txBody>
          <a:bodyPr/>
          <a:lstStyle/>
          <a:p>
            <a:endParaRPr lang="en-US" sz="1500"/>
          </a:p>
        </p:txBody>
      </p:sp>
      <p:sp>
        <p:nvSpPr>
          <p:cNvPr id="76" name="Shape 38">
            <a:extLst>
              <a:ext uri="{FF2B5EF4-FFF2-40B4-BE49-F238E27FC236}">
                <a16:creationId xmlns:a16="http://schemas.microsoft.com/office/drawing/2014/main" id="{AB080AFB-3994-8271-8F90-2EF9BB47EAA3}"/>
              </a:ext>
            </a:extLst>
          </p:cNvPr>
          <p:cNvSpPr/>
          <p:nvPr/>
        </p:nvSpPr>
        <p:spPr>
          <a:xfrm>
            <a:off x="9696386" y="1324134"/>
            <a:ext cx="2059214" cy="78894"/>
          </a:xfrm>
          <a:prstGeom prst="rect">
            <a:avLst/>
          </a:prstGeom>
          <a:solidFill>
            <a:schemeClr val="accent1"/>
          </a:solidFill>
          <a:ln w="12700">
            <a:solidFill>
              <a:schemeClr val="accent5"/>
            </a:solidFill>
            <a:prstDash val="solid"/>
          </a:ln>
        </p:spPr>
        <p:txBody>
          <a:bodyPr/>
          <a:lstStyle/>
          <a:p>
            <a:endParaRPr lang="en-US" sz="1500"/>
          </a:p>
        </p:txBody>
      </p:sp>
      <p:sp>
        <p:nvSpPr>
          <p:cNvPr id="77" name="Text 39">
            <a:extLst>
              <a:ext uri="{FF2B5EF4-FFF2-40B4-BE49-F238E27FC236}">
                <a16:creationId xmlns:a16="http://schemas.microsoft.com/office/drawing/2014/main" id="{2F118702-3A2E-7888-3411-C85C2BFA0E14}"/>
              </a:ext>
            </a:extLst>
          </p:cNvPr>
          <p:cNvSpPr/>
          <p:nvPr/>
        </p:nvSpPr>
        <p:spPr>
          <a:xfrm>
            <a:off x="9696386" y="1455625"/>
            <a:ext cx="2059214" cy="68375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500" dirty="0"/>
          </a:p>
        </p:txBody>
      </p:sp>
      <p:sp>
        <p:nvSpPr>
          <p:cNvPr id="78" name="Text 40">
            <a:extLst>
              <a:ext uri="{FF2B5EF4-FFF2-40B4-BE49-F238E27FC236}">
                <a16:creationId xmlns:a16="http://schemas.microsoft.com/office/drawing/2014/main" id="{0E777ABE-898C-5542-D8A8-6E07CBD56F5A}"/>
              </a:ext>
            </a:extLst>
          </p:cNvPr>
          <p:cNvSpPr/>
          <p:nvPr/>
        </p:nvSpPr>
        <p:spPr>
          <a:xfrm>
            <a:off x="9696386" y="2178823"/>
            <a:ext cx="2059214" cy="36817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chemeClr val="accent5"/>
                </a:solidFill>
              </a:rPr>
              <a:t>Leaflet Map</a:t>
            </a:r>
            <a:endParaRPr lang="en-US" sz="1500" dirty="0">
              <a:solidFill>
                <a:schemeClr val="accent5"/>
              </a:solidFill>
            </a:endParaRPr>
          </a:p>
        </p:txBody>
      </p:sp>
      <p:sp>
        <p:nvSpPr>
          <p:cNvPr id="79" name="Text 41">
            <a:extLst>
              <a:ext uri="{FF2B5EF4-FFF2-40B4-BE49-F238E27FC236}">
                <a16:creationId xmlns:a16="http://schemas.microsoft.com/office/drawing/2014/main" id="{40A3DA05-E35F-F4B3-C255-A5AA5DD00F13}"/>
              </a:ext>
            </a:extLst>
          </p:cNvPr>
          <p:cNvSpPr/>
          <p:nvPr/>
        </p:nvSpPr>
        <p:spPr>
          <a:xfrm>
            <a:off x="9696386" y="2533847"/>
            <a:ext cx="2059214" cy="31557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dirty="0">
                <a:solidFill>
                  <a:srgbClr val="94A3B8"/>
                </a:solidFill>
              </a:rPr>
              <a:t>Web Admin</a:t>
            </a:r>
            <a:endParaRPr lang="en-US" sz="1500" dirty="0"/>
          </a:p>
        </p:txBody>
      </p:sp>
      <p:sp>
        <p:nvSpPr>
          <p:cNvPr id="80" name="Shape 42">
            <a:extLst>
              <a:ext uri="{FF2B5EF4-FFF2-40B4-BE49-F238E27FC236}">
                <a16:creationId xmlns:a16="http://schemas.microsoft.com/office/drawing/2014/main" id="{4A7481F3-E974-26CB-C608-DF3739387D22}"/>
              </a:ext>
            </a:extLst>
          </p:cNvPr>
          <p:cNvSpPr/>
          <p:nvPr/>
        </p:nvSpPr>
        <p:spPr>
          <a:xfrm>
            <a:off x="9938646" y="2928318"/>
            <a:ext cx="1574693" cy="26298"/>
          </a:xfrm>
          <a:prstGeom prst="rect">
            <a:avLst/>
          </a:prstGeom>
          <a:solidFill>
            <a:srgbClr val="475569"/>
          </a:solidFill>
          <a:ln w="12700">
            <a:solidFill>
              <a:srgbClr val="475569"/>
            </a:solidFill>
            <a:prstDash val="solid"/>
          </a:ln>
        </p:spPr>
        <p:txBody>
          <a:bodyPr/>
          <a:lstStyle/>
          <a:p>
            <a:endParaRPr lang="en-US" sz="1500">
              <a:solidFill>
                <a:schemeClr val="accent5"/>
              </a:solidFill>
            </a:endParaRPr>
          </a:p>
        </p:txBody>
      </p:sp>
      <p:sp>
        <p:nvSpPr>
          <p:cNvPr id="81" name="Text 43">
            <a:extLst>
              <a:ext uri="{FF2B5EF4-FFF2-40B4-BE49-F238E27FC236}">
                <a16:creationId xmlns:a16="http://schemas.microsoft.com/office/drawing/2014/main" id="{754AD229-3832-3446-F6BE-78E2F9750284}"/>
              </a:ext>
            </a:extLst>
          </p:cNvPr>
          <p:cNvSpPr/>
          <p:nvPr/>
        </p:nvSpPr>
        <p:spPr>
          <a:xfrm>
            <a:off x="9696386" y="3033510"/>
            <a:ext cx="2059214" cy="6574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40000"/>
              </a:lnSpc>
              <a:buNone/>
            </a:pPr>
            <a:r>
              <a:rPr lang="en-US" sz="1500" dirty="0">
                <a:solidFill>
                  <a:srgbClr val="94A3B8"/>
                </a:solidFill>
              </a:rPr>
              <a:t>Updates marker</a:t>
            </a:r>
            <a:endParaRPr lang="en-US" sz="1500" dirty="0"/>
          </a:p>
        </p:txBody>
      </p:sp>
      <p:sp>
        <p:nvSpPr>
          <p:cNvPr id="83" name="Text 45">
            <a:extLst>
              <a:ext uri="{FF2B5EF4-FFF2-40B4-BE49-F238E27FC236}">
                <a16:creationId xmlns:a16="http://schemas.microsoft.com/office/drawing/2014/main" id="{177863EB-46AB-2212-C724-964ADF519663}"/>
              </a:ext>
            </a:extLst>
          </p:cNvPr>
          <p:cNvSpPr/>
          <p:nvPr/>
        </p:nvSpPr>
        <p:spPr>
          <a:xfrm>
            <a:off x="4608915" y="2316888"/>
            <a:ext cx="266486" cy="23668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500" dirty="0">
              <a:solidFill>
                <a:schemeClr val="accent5"/>
              </a:solidFill>
            </a:endParaRPr>
          </a:p>
        </p:txBody>
      </p:sp>
      <p:sp>
        <p:nvSpPr>
          <p:cNvPr id="84" name="Text 46">
            <a:extLst>
              <a:ext uri="{FF2B5EF4-FFF2-40B4-BE49-F238E27FC236}">
                <a16:creationId xmlns:a16="http://schemas.microsoft.com/office/drawing/2014/main" id="{664A83E4-7162-0485-D09F-A88AFD628657}"/>
              </a:ext>
            </a:extLst>
          </p:cNvPr>
          <p:cNvSpPr/>
          <p:nvPr/>
        </p:nvSpPr>
        <p:spPr>
          <a:xfrm>
            <a:off x="1757041" y="3676352"/>
            <a:ext cx="1044430" cy="96134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dirty="0">
                <a:solidFill>
                  <a:schemeClr val="accent5"/>
                </a:solidFill>
              </a:rPr>
              <a:t>MQTT</a:t>
            </a:r>
          </a:p>
        </p:txBody>
      </p:sp>
      <p:sp>
        <p:nvSpPr>
          <p:cNvPr id="85" name="Text 47">
            <a:extLst>
              <a:ext uri="{FF2B5EF4-FFF2-40B4-BE49-F238E27FC236}">
                <a16:creationId xmlns:a16="http://schemas.microsoft.com/office/drawing/2014/main" id="{8B28D5B0-425F-7CB6-6A7F-258AA2888931}"/>
              </a:ext>
            </a:extLst>
          </p:cNvPr>
          <p:cNvSpPr/>
          <p:nvPr/>
        </p:nvSpPr>
        <p:spPr>
          <a:xfrm>
            <a:off x="9405673" y="2316888"/>
            <a:ext cx="266486" cy="23668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500" dirty="0">
              <a:solidFill>
                <a:schemeClr val="accent5"/>
              </a:solidFill>
            </a:endParaRPr>
          </a:p>
        </p:txBody>
      </p:sp>
      <p:sp>
        <p:nvSpPr>
          <p:cNvPr id="87" name="Text 49">
            <a:extLst>
              <a:ext uri="{FF2B5EF4-FFF2-40B4-BE49-F238E27FC236}">
                <a16:creationId xmlns:a16="http://schemas.microsoft.com/office/drawing/2014/main" id="{4DA83017-44F6-50B2-FE09-D944E0CF5938}"/>
              </a:ext>
            </a:extLst>
          </p:cNvPr>
          <p:cNvSpPr/>
          <p:nvPr/>
        </p:nvSpPr>
        <p:spPr>
          <a:xfrm>
            <a:off x="3979038" y="4085434"/>
            <a:ext cx="3633907" cy="5522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500" dirty="0">
              <a:solidFill>
                <a:schemeClr val="accent5"/>
              </a:solidFill>
            </a:endParaRPr>
          </a:p>
        </p:txBody>
      </p:sp>
      <p:sp>
        <p:nvSpPr>
          <p:cNvPr id="88" name="Text 50">
            <a:extLst>
              <a:ext uri="{FF2B5EF4-FFF2-40B4-BE49-F238E27FC236}">
                <a16:creationId xmlns:a16="http://schemas.microsoft.com/office/drawing/2014/main" id="{4401E7BB-FB3D-38E2-7991-671E558023BE}"/>
              </a:ext>
            </a:extLst>
          </p:cNvPr>
          <p:cNvSpPr/>
          <p:nvPr/>
        </p:nvSpPr>
        <p:spPr>
          <a:xfrm>
            <a:off x="139209" y="4821780"/>
            <a:ext cx="11143983" cy="34187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kern="0" spc="200" dirty="0">
                <a:solidFill>
                  <a:schemeClr val="accent5"/>
                </a:solidFill>
              </a:rPr>
              <a:t>TRIPLE RELIABILITY STRATEGY</a:t>
            </a:r>
            <a:endParaRPr lang="en-US" sz="1500" dirty="0">
              <a:solidFill>
                <a:schemeClr val="accent5"/>
              </a:solidFill>
            </a:endParaRPr>
          </a:p>
        </p:txBody>
      </p:sp>
      <p:sp>
        <p:nvSpPr>
          <p:cNvPr id="89" name="Shape 51">
            <a:extLst>
              <a:ext uri="{FF2B5EF4-FFF2-40B4-BE49-F238E27FC236}">
                <a16:creationId xmlns:a16="http://schemas.microsoft.com/office/drawing/2014/main" id="{7ED74D39-6F6A-C6B7-1FC5-9E2E72EC10A1}"/>
              </a:ext>
            </a:extLst>
          </p:cNvPr>
          <p:cNvSpPr/>
          <p:nvPr/>
        </p:nvSpPr>
        <p:spPr>
          <a:xfrm>
            <a:off x="224000" y="5216252"/>
            <a:ext cx="3694472" cy="1157116"/>
          </a:xfrm>
          <a:prstGeom prst="rect">
            <a:avLst/>
          </a:prstGeom>
          <a:solidFill>
            <a:srgbClr val="0D1528"/>
          </a:solidFill>
          <a:ln w="7620">
            <a:solidFill>
              <a:schemeClr val="accent5"/>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90" name="Shape 52">
            <a:extLst>
              <a:ext uri="{FF2B5EF4-FFF2-40B4-BE49-F238E27FC236}">
                <a16:creationId xmlns:a16="http://schemas.microsoft.com/office/drawing/2014/main" id="{48F47F97-B097-3D5E-BB19-322F89B60CE7}"/>
              </a:ext>
            </a:extLst>
          </p:cNvPr>
          <p:cNvSpPr/>
          <p:nvPr/>
        </p:nvSpPr>
        <p:spPr>
          <a:xfrm>
            <a:off x="224000" y="5216252"/>
            <a:ext cx="84791" cy="1157116"/>
          </a:xfrm>
          <a:prstGeom prst="rect">
            <a:avLst/>
          </a:prstGeom>
          <a:solidFill>
            <a:schemeClr val="accent1"/>
          </a:solidFill>
          <a:ln w="12700">
            <a:solidFill>
              <a:srgbClr val="4ADE80"/>
            </a:solidFill>
            <a:prstDash val="solid"/>
          </a:ln>
        </p:spPr>
        <p:txBody>
          <a:bodyPr/>
          <a:lstStyle/>
          <a:p>
            <a:endParaRPr lang="en-US" sz="1500">
              <a:solidFill>
                <a:schemeClr val="accent5"/>
              </a:solidFill>
            </a:endParaRPr>
          </a:p>
        </p:txBody>
      </p:sp>
      <p:sp>
        <p:nvSpPr>
          <p:cNvPr id="91" name="Text 53">
            <a:extLst>
              <a:ext uri="{FF2B5EF4-FFF2-40B4-BE49-F238E27FC236}">
                <a16:creationId xmlns:a16="http://schemas.microsoft.com/office/drawing/2014/main" id="{464C70BE-B5CB-FE78-47C8-3379177058EA}"/>
              </a:ext>
            </a:extLst>
          </p:cNvPr>
          <p:cNvSpPr/>
          <p:nvPr/>
        </p:nvSpPr>
        <p:spPr>
          <a:xfrm>
            <a:off x="442035" y="5295146"/>
            <a:ext cx="3331082" cy="36817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accent5"/>
                </a:solidFill>
              </a:rPr>
              <a:t>Strategy 1 — Primary</a:t>
            </a:r>
            <a:endParaRPr lang="en-US" sz="1500" dirty="0">
              <a:solidFill>
                <a:schemeClr val="accent5"/>
              </a:solidFill>
            </a:endParaRPr>
          </a:p>
        </p:txBody>
      </p:sp>
      <p:sp>
        <p:nvSpPr>
          <p:cNvPr id="92" name="Text 54">
            <a:extLst>
              <a:ext uri="{FF2B5EF4-FFF2-40B4-BE49-F238E27FC236}">
                <a16:creationId xmlns:a16="http://schemas.microsoft.com/office/drawing/2014/main" id="{D3521DF2-F628-D045-A049-A524B5D82DD9}"/>
              </a:ext>
            </a:extLst>
          </p:cNvPr>
          <p:cNvSpPr/>
          <p:nvPr/>
        </p:nvSpPr>
        <p:spPr>
          <a:xfrm>
            <a:off x="442035" y="5689617"/>
            <a:ext cx="3331082" cy="525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dirty="0">
                <a:solidFill>
                  <a:schemeClr val="accent5"/>
                </a:solidFill>
              </a:rPr>
              <a:t>Socket.IO WebSocket (instant, real-time)</a:t>
            </a:r>
          </a:p>
        </p:txBody>
      </p:sp>
      <p:sp>
        <p:nvSpPr>
          <p:cNvPr id="93" name="Shape 55">
            <a:extLst>
              <a:ext uri="{FF2B5EF4-FFF2-40B4-BE49-F238E27FC236}">
                <a16:creationId xmlns:a16="http://schemas.microsoft.com/office/drawing/2014/main" id="{BF4CE48C-1D15-F13C-8696-F71BBC5D5E22}"/>
              </a:ext>
            </a:extLst>
          </p:cNvPr>
          <p:cNvSpPr/>
          <p:nvPr/>
        </p:nvSpPr>
        <p:spPr>
          <a:xfrm>
            <a:off x="4100169" y="5216252"/>
            <a:ext cx="3694472" cy="1157116"/>
          </a:xfrm>
          <a:prstGeom prst="rect">
            <a:avLst/>
          </a:prstGeom>
          <a:solidFill>
            <a:srgbClr val="0D1528"/>
          </a:solidFill>
          <a:ln w="7620">
            <a:solidFill>
              <a:schemeClr val="accent5"/>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94" name="Shape 56">
            <a:extLst>
              <a:ext uri="{FF2B5EF4-FFF2-40B4-BE49-F238E27FC236}">
                <a16:creationId xmlns:a16="http://schemas.microsoft.com/office/drawing/2014/main" id="{7B3E400E-ECF0-C867-A5C2-E0994C852AAC}"/>
              </a:ext>
            </a:extLst>
          </p:cNvPr>
          <p:cNvSpPr/>
          <p:nvPr/>
        </p:nvSpPr>
        <p:spPr>
          <a:xfrm>
            <a:off x="4100169" y="5216252"/>
            <a:ext cx="84791" cy="1157116"/>
          </a:xfrm>
          <a:prstGeom prst="rect">
            <a:avLst/>
          </a:prstGeom>
          <a:solidFill>
            <a:schemeClr val="accent1"/>
          </a:solidFill>
          <a:ln w="12700">
            <a:solidFill>
              <a:schemeClr val="accent5"/>
            </a:solidFill>
            <a:prstDash val="solid"/>
          </a:ln>
        </p:spPr>
        <p:txBody>
          <a:bodyPr/>
          <a:lstStyle/>
          <a:p>
            <a:endParaRPr lang="en-US" sz="1500">
              <a:solidFill>
                <a:schemeClr val="accent5"/>
              </a:solidFill>
            </a:endParaRPr>
          </a:p>
        </p:txBody>
      </p:sp>
      <p:sp>
        <p:nvSpPr>
          <p:cNvPr id="95" name="Text 57">
            <a:extLst>
              <a:ext uri="{FF2B5EF4-FFF2-40B4-BE49-F238E27FC236}">
                <a16:creationId xmlns:a16="http://schemas.microsoft.com/office/drawing/2014/main" id="{EC222DFE-A0BB-F7AD-E7B6-EDBF3623E9BA}"/>
              </a:ext>
            </a:extLst>
          </p:cNvPr>
          <p:cNvSpPr/>
          <p:nvPr/>
        </p:nvSpPr>
        <p:spPr>
          <a:xfrm>
            <a:off x="4318203" y="5295146"/>
            <a:ext cx="3331082" cy="36817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accent5"/>
                </a:solidFill>
              </a:rPr>
              <a:t>Strategy 2 — Backup</a:t>
            </a:r>
            <a:endParaRPr lang="en-US" sz="1500" dirty="0">
              <a:solidFill>
                <a:schemeClr val="accent5"/>
              </a:solidFill>
            </a:endParaRPr>
          </a:p>
        </p:txBody>
      </p:sp>
      <p:sp>
        <p:nvSpPr>
          <p:cNvPr id="96" name="Text 58">
            <a:extLst>
              <a:ext uri="{FF2B5EF4-FFF2-40B4-BE49-F238E27FC236}">
                <a16:creationId xmlns:a16="http://schemas.microsoft.com/office/drawing/2014/main" id="{D8454406-0C0E-E298-A6D9-19976E934C6D}"/>
              </a:ext>
            </a:extLst>
          </p:cNvPr>
          <p:cNvSpPr/>
          <p:nvPr/>
        </p:nvSpPr>
        <p:spPr>
          <a:xfrm>
            <a:off x="4318203" y="5689617"/>
            <a:ext cx="3331082" cy="525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dirty="0">
                <a:solidFill>
                  <a:schemeClr val="accent5"/>
                </a:solidFill>
              </a:rPr>
              <a:t>GPS polling via REST API every 5 seconds</a:t>
            </a:r>
          </a:p>
        </p:txBody>
      </p:sp>
      <p:sp>
        <p:nvSpPr>
          <p:cNvPr id="97" name="Shape 59">
            <a:extLst>
              <a:ext uri="{FF2B5EF4-FFF2-40B4-BE49-F238E27FC236}">
                <a16:creationId xmlns:a16="http://schemas.microsoft.com/office/drawing/2014/main" id="{88D73D05-7117-54D1-F2F6-AEB1DAF6CABE}"/>
              </a:ext>
            </a:extLst>
          </p:cNvPr>
          <p:cNvSpPr/>
          <p:nvPr/>
        </p:nvSpPr>
        <p:spPr>
          <a:xfrm>
            <a:off x="7955296" y="5216252"/>
            <a:ext cx="3694472" cy="1157116"/>
          </a:xfrm>
          <a:prstGeom prst="rect">
            <a:avLst/>
          </a:prstGeom>
          <a:solidFill>
            <a:srgbClr val="0D1528"/>
          </a:solidFill>
          <a:ln w="7620">
            <a:solidFill>
              <a:schemeClr val="accent5"/>
            </a:solidFill>
            <a:prstDash val="solid"/>
          </a:ln>
          <a:effectLst>
            <a:outerShdw blurRad="127000" dist="38100" dir="8100000" algn="bl" rotWithShape="0">
              <a:srgbClr val="000000">
                <a:alpha val="35000"/>
              </a:srgbClr>
            </a:outerShdw>
          </a:effectLst>
        </p:spPr>
        <p:txBody>
          <a:bodyPr/>
          <a:lstStyle/>
          <a:p>
            <a:endParaRPr lang="en-US" sz="1500">
              <a:solidFill>
                <a:schemeClr val="accent5"/>
              </a:solidFill>
            </a:endParaRPr>
          </a:p>
        </p:txBody>
      </p:sp>
      <p:sp>
        <p:nvSpPr>
          <p:cNvPr id="98" name="Shape 60">
            <a:extLst>
              <a:ext uri="{FF2B5EF4-FFF2-40B4-BE49-F238E27FC236}">
                <a16:creationId xmlns:a16="http://schemas.microsoft.com/office/drawing/2014/main" id="{646EBF64-F025-A6DC-5671-69E78E81B665}"/>
              </a:ext>
            </a:extLst>
          </p:cNvPr>
          <p:cNvSpPr/>
          <p:nvPr/>
        </p:nvSpPr>
        <p:spPr>
          <a:xfrm>
            <a:off x="7976336" y="5216252"/>
            <a:ext cx="84791" cy="1157116"/>
          </a:xfrm>
          <a:prstGeom prst="rect">
            <a:avLst/>
          </a:prstGeom>
          <a:solidFill>
            <a:schemeClr val="accent1"/>
          </a:solidFill>
          <a:ln w="12700">
            <a:solidFill>
              <a:schemeClr val="accent5"/>
            </a:solidFill>
            <a:prstDash val="solid"/>
          </a:ln>
        </p:spPr>
        <p:txBody>
          <a:bodyPr/>
          <a:lstStyle/>
          <a:p>
            <a:endParaRPr lang="en-US" sz="1500">
              <a:solidFill>
                <a:schemeClr val="accent5"/>
              </a:solidFill>
            </a:endParaRPr>
          </a:p>
        </p:txBody>
      </p:sp>
      <p:sp>
        <p:nvSpPr>
          <p:cNvPr id="99" name="Text 61">
            <a:extLst>
              <a:ext uri="{FF2B5EF4-FFF2-40B4-BE49-F238E27FC236}">
                <a16:creationId xmlns:a16="http://schemas.microsoft.com/office/drawing/2014/main" id="{D085AFB9-7730-2ECD-C51B-E08E78D861BA}"/>
              </a:ext>
            </a:extLst>
          </p:cNvPr>
          <p:cNvSpPr/>
          <p:nvPr/>
        </p:nvSpPr>
        <p:spPr>
          <a:xfrm>
            <a:off x="8194370" y="5295146"/>
            <a:ext cx="3331082" cy="36817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chemeClr val="accent5"/>
                </a:solidFill>
              </a:rPr>
              <a:t>Strategy 3 — Fallback</a:t>
            </a:r>
            <a:endParaRPr lang="en-US" sz="1500" dirty="0">
              <a:solidFill>
                <a:schemeClr val="accent5"/>
              </a:solidFill>
            </a:endParaRPr>
          </a:p>
        </p:txBody>
      </p:sp>
      <p:sp>
        <p:nvSpPr>
          <p:cNvPr id="100" name="Text 62">
            <a:extLst>
              <a:ext uri="{FF2B5EF4-FFF2-40B4-BE49-F238E27FC236}">
                <a16:creationId xmlns:a16="http://schemas.microsoft.com/office/drawing/2014/main" id="{5A0A0DC6-A5E1-D465-0C4B-AFE477F97274}"/>
              </a:ext>
            </a:extLst>
          </p:cNvPr>
          <p:cNvSpPr/>
          <p:nvPr/>
        </p:nvSpPr>
        <p:spPr>
          <a:xfrm>
            <a:off x="8194370" y="5689617"/>
            <a:ext cx="3331082" cy="52596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dirty="0">
                <a:solidFill>
                  <a:schemeClr val="accent5"/>
                </a:solidFill>
              </a:rPr>
              <a:t>Mission status polling every 5 seconds</a:t>
            </a:r>
          </a:p>
        </p:txBody>
      </p:sp>
      <p:sp>
        <p:nvSpPr>
          <p:cNvPr id="164" name="TextBox 163">
            <a:extLst>
              <a:ext uri="{FF2B5EF4-FFF2-40B4-BE49-F238E27FC236}">
                <a16:creationId xmlns:a16="http://schemas.microsoft.com/office/drawing/2014/main" id="{EAECF580-ABAD-406D-4E5D-AC53ABE5154A}"/>
              </a:ext>
            </a:extLst>
          </p:cNvPr>
          <p:cNvSpPr txBox="1"/>
          <p:nvPr/>
        </p:nvSpPr>
        <p:spPr>
          <a:xfrm>
            <a:off x="4231910" y="4000165"/>
            <a:ext cx="6132194" cy="369332"/>
          </a:xfrm>
          <a:prstGeom prst="rect">
            <a:avLst/>
          </a:prstGeom>
          <a:noFill/>
        </p:spPr>
        <p:txBody>
          <a:bodyPr wrap="square">
            <a:spAutoFit/>
          </a:bodyPr>
          <a:lstStyle/>
          <a:p>
            <a:r>
              <a:rPr lang="en-US" sz="1800" dirty="0">
                <a:solidFill>
                  <a:schemeClr val="accent5"/>
                </a:solidFill>
              </a:rPr>
              <a:t>Subscribe</a:t>
            </a:r>
            <a:endParaRPr lang="en-US" dirty="0"/>
          </a:p>
        </p:txBody>
      </p:sp>
      <p:sp>
        <p:nvSpPr>
          <p:cNvPr id="167" name="TextBox 166">
            <a:extLst>
              <a:ext uri="{FF2B5EF4-FFF2-40B4-BE49-F238E27FC236}">
                <a16:creationId xmlns:a16="http://schemas.microsoft.com/office/drawing/2014/main" id="{2315786C-5930-9565-40FD-AD477C62374B}"/>
              </a:ext>
            </a:extLst>
          </p:cNvPr>
          <p:cNvSpPr txBox="1"/>
          <p:nvPr/>
        </p:nvSpPr>
        <p:spPr>
          <a:xfrm>
            <a:off x="6606062" y="3992812"/>
            <a:ext cx="6132194" cy="369332"/>
          </a:xfrm>
          <a:prstGeom prst="rect">
            <a:avLst/>
          </a:prstGeom>
          <a:noFill/>
        </p:spPr>
        <p:txBody>
          <a:bodyPr wrap="square">
            <a:spAutoFit/>
          </a:bodyPr>
          <a:lstStyle/>
          <a:p>
            <a:r>
              <a:rPr lang="en-US" sz="1800" dirty="0">
                <a:solidFill>
                  <a:schemeClr val="accent5"/>
                </a:solidFill>
              </a:rPr>
              <a:t>Emit</a:t>
            </a:r>
            <a:endParaRPr lang="en-US" dirty="0"/>
          </a:p>
        </p:txBody>
      </p:sp>
      <p:sp>
        <p:nvSpPr>
          <p:cNvPr id="169" name="TextBox 168">
            <a:extLst>
              <a:ext uri="{FF2B5EF4-FFF2-40B4-BE49-F238E27FC236}">
                <a16:creationId xmlns:a16="http://schemas.microsoft.com/office/drawing/2014/main" id="{4455D211-DD22-91EC-C86E-76E96DA3F9DE}"/>
              </a:ext>
            </a:extLst>
          </p:cNvPr>
          <p:cNvSpPr txBox="1"/>
          <p:nvPr/>
        </p:nvSpPr>
        <p:spPr>
          <a:xfrm>
            <a:off x="6329261" y="3934219"/>
            <a:ext cx="6395084" cy="369332"/>
          </a:xfrm>
          <a:prstGeom prst="rect">
            <a:avLst/>
          </a:prstGeom>
          <a:noFill/>
        </p:spPr>
        <p:txBody>
          <a:bodyPr wrap="square">
            <a:spAutoFit/>
          </a:bodyPr>
          <a:lstStyle/>
          <a:p>
            <a:pPr marL="0" indent="0" algn="ctr">
              <a:buNone/>
            </a:pPr>
            <a:r>
              <a:rPr lang="en-US" sz="1800" dirty="0">
                <a:solidFill>
                  <a:schemeClr val="accent5"/>
                </a:solidFill>
              </a:rPr>
              <a:t>WS Event</a:t>
            </a:r>
          </a:p>
        </p:txBody>
      </p:sp>
    </p:spTree>
    <p:extLst>
      <p:ext uri="{BB962C8B-B14F-4D97-AF65-F5344CB8AC3E}">
        <p14:creationId xmlns:p14="http://schemas.microsoft.com/office/powerpoint/2010/main" val="2645557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429714" y="253994"/>
            <a:ext cx="507987" cy="507987"/>
          </a:xfrm>
          <a:prstGeom prst="rect">
            <a:avLst/>
          </a:prstGeom>
        </p:spPr>
      </p:pic>
      <p:sp>
        <p:nvSpPr>
          <p:cNvPr id="3" name="Text 0"/>
          <p:cNvSpPr/>
          <p:nvPr/>
        </p:nvSpPr>
        <p:spPr>
          <a:xfrm>
            <a:off x="761981" y="888978"/>
            <a:ext cx="10667733" cy="660383"/>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ErcTrack Application Workflow
</a:t>
            </a:r>
            <a:endParaRPr lang="en-US" sz="2900" dirty="0"/>
          </a:p>
        </p:txBody>
      </p:sp>
      <p:pic>
        <p:nvPicPr>
          <p:cNvPr id="10" name="Picture 9">
            <a:extLst>
              <a:ext uri="{FF2B5EF4-FFF2-40B4-BE49-F238E27FC236}">
                <a16:creationId xmlns:a16="http://schemas.microsoft.com/office/drawing/2014/main" id="{D022589F-59F8-096A-8705-5A91F35C51D3}"/>
              </a:ext>
            </a:extLst>
          </p:cNvPr>
          <p:cNvPicPr>
            <a:picLocks noChangeAspect="1"/>
          </p:cNvPicPr>
          <p:nvPr/>
        </p:nvPicPr>
        <p:blipFill>
          <a:blip r:embed="rId4"/>
          <a:srcRect t="16954" r="729" b="16719"/>
          <a:stretch>
            <a:fillRect/>
          </a:stretch>
        </p:blipFill>
        <p:spPr>
          <a:xfrm>
            <a:off x="0" y="2235200"/>
            <a:ext cx="12157094" cy="34188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5" name="Image 3" descr="preencoded.png"/>
          <p:cNvPicPr>
            <a:picLocks noChangeAspect="1"/>
          </p:cNvPicPr>
          <p:nvPr/>
        </p:nvPicPr>
        <p:blipFill>
          <a:blip r:embed="rId4"/>
          <a:stretch>
            <a:fillRect/>
          </a:stretch>
        </p:blipFill>
        <p:spPr>
          <a:xfrm>
            <a:off x="444489" y="1581746"/>
            <a:ext cx="380990" cy="380990"/>
          </a:xfrm>
          <a:prstGeom prst="rect">
            <a:avLst/>
          </a:prstGeom>
        </p:spPr>
      </p:pic>
      <p:pic>
        <p:nvPicPr>
          <p:cNvPr id="6" name="Image 4" descr="preencoded.png"/>
          <p:cNvPicPr>
            <a:picLocks noChangeAspect="1"/>
          </p:cNvPicPr>
          <p:nvPr/>
        </p:nvPicPr>
        <p:blipFill>
          <a:blip r:embed="rId5"/>
          <a:stretch>
            <a:fillRect/>
          </a:stretch>
        </p:blipFill>
        <p:spPr>
          <a:xfrm>
            <a:off x="253994" y="242564"/>
            <a:ext cx="507987" cy="507987"/>
          </a:xfrm>
          <a:prstGeom prst="rect">
            <a:avLst/>
          </a:prstGeom>
        </p:spPr>
      </p:pic>
      <p:sp>
        <p:nvSpPr>
          <p:cNvPr id="7" name="Text 0"/>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Conclusion
</a:t>
            </a:r>
            <a:endParaRPr lang="en-US" sz="2900" dirty="0"/>
          </a:p>
        </p:txBody>
      </p:sp>
      <p:pic>
        <p:nvPicPr>
          <p:cNvPr id="8" name="Image 5" descr="preencoded.png"/>
          <p:cNvPicPr>
            <a:picLocks noChangeAspect="1"/>
          </p:cNvPicPr>
          <p:nvPr/>
        </p:nvPicPr>
        <p:blipFill>
          <a:blip r:embed="rId6"/>
          <a:srcRect/>
          <a:stretch/>
        </p:blipFill>
        <p:spPr>
          <a:xfrm>
            <a:off x="8775481" y="0"/>
            <a:ext cx="3370495" cy="6812280"/>
          </a:xfrm>
          <a:prstGeom prst="rect">
            <a:avLst/>
          </a:prstGeom>
        </p:spPr>
      </p:pic>
      <p:sp>
        <p:nvSpPr>
          <p:cNvPr id="10" name="Text 2"/>
          <p:cNvSpPr/>
          <p:nvPr/>
        </p:nvSpPr>
        <p:spPr>
          <a:xfrm>
            <a:off x="634984" y="1752556"/>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ErcTrack's Impact
</a:t>
            </a:r>
            <a:endParaRPr lang="en-US" sz="1300" dirty="0"/>
          </a:p>
        </p:txBody>
      </p:sp>
      <p:sp>
        <p:nvSpPr>
          <p:cNvPr id="11" name="Text 3"/>
          <p:cNvSpPr/>
          <p:nvPr/>
        </p:nvSpPr>
        <p:spPr>
          <a:xfrm>
            <a:off x="634984" y="2158946"/>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ErcTrack effectively addresses critical package tracking challenges, enhancing visibility and accountability in logistics, which is vital for modern supply chain management.
</a:t>
            </a:r>
            <a:endParaRPr lang="en-US" sz="1300" dirty="0"/>
          </a:p>
        </p:txBody>
      </p:sp>
      <p:sp>
        <p:nvSpPr>
          <p:cNvPr id="12" name="Shape 4"/>
          <p:cNvSpPr/>
          <p:nvPr/>
        </p:nvSpPr>
        <p:spPr>
          <a:xfrm>
            <a:off x="4546486" y="1523962"/>
            <a:ext cx="3962301" cy="2438339"/>
          </a:xfrm>
          <a:prstGeom prst="rect">
            <a:avLst/>
          </a:prstGeom>
          <a:noFill/>
          <a:ln/>
        </p:spPr>
      </p:sp>
      <p:sp>
        <p:nvSpPr>
          <p:cNvPr id="13" name="Text 5"/>
          <p:cNvSpPr/>
          <p:nvPr/>
        </p:nvSpPr>
        <p:spPr>
          <a:xfrm>
            <a:off x="4800480" y="1752556"/>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IoT Advantages
</a:t>
            </a:r>
            <a:endParaRPr lang="en-US" sz="1300" dirty="0"/>
          </a:p>
        </p:txBody>
      </p:sp>
      <p:sp>
        <p:nvSpPr>
          <p:cNvPr id="14" name="Text 6"/>
          <p:cNvSpPr/>
          <p:nvPr/>
        </p:nvSpPr>
        <p:spPr>
          <a:xfrm>
            <a:off x="4800480" y="2158946"/>
            <a:ext cx="2916695" cy="92453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The IoT solution provides significant reliability and efficiency, reducing tracking errors and improving delivery times , leading to better resource management.
</a:t>
            </a:r>
            <a:endParaRPr lang="en-US" sz="1300" dirty="0"/>
          </a:p>
        </p:txBody>
      </p:sp>
      <p:sp>
        <p:nvSpPr>
          <p:cNvPr id="15" name="Shape 7"/>
          <p:cNvSpPr/>
          <p:nvPr/>
        </p:nvSpPr>
        <p:spPr>
          <a:xfrm>
            <a:off x="380990" y="4470288"/>
            <a:ext cx="8140496" cy="673212"/>
          </a:xfrm>
          <a:prstGeom prst="rect">
            <a:avLst/>
          </a:prstGeom>
          <a:noFill/>
          <a:ln/>
        </p:spPr>
      </p:sp>
      <p:sp>
        <p:nvSpPr>
          <p:cNvPr id="16" name="Text 8"/>
          <p:cNvSpPr/>
          <p:nvPr/>
        </p:nvSpPr>
        <p:spPr>
          <a:xfrm>
            <a:off x="634984" y="4698883"/>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B8C5D6"/>
                </a:solidFill>
                <a:latin typeface="Calibri" pitchFamily="34" charset="0"/>
                <a:ea typeface="Calibri" pitchFamily="34" charset="-122"/>
                <a:cs typeface="Calibri" pitchFamily="34" charset="-120"/>
              </a:rPr>
              <a:t>Comprehensive System
</a:t>
            </a:r>
            <a:endParaRPr lang="en-US" sz="1300" dirty="0"/>
          </a:p>
        </p:txBody>
      </p:sp>
      <p:sp>
        <p:nvSpPr>
          <p:cNvPr id="17" name="Text 9"/>
          <p:cNvSpPr/>
          <p:nvPr/>
        </p:nvSpPr>
        <p:spPr>
          <a:xfrm>
            <a:off x="634984" y="5105272"/>
            <a:ext cx="7022926" cy="924537"/>
          </a:xfrm>
          <a:prstGeom prst="rect">
            <a:avLst/>
          </a:prstGeom>
          <a:noFill/>
          <a:ln/>
        </p:spPr>
        <p:txBody>
          <a:bodyPr wrap="square" lIns="0" tIns="0" rIns="0" bIns="0" rtlCol="0" anchor="t"/>
          <a:lstStyle/>
          <a:p>
            <a:pPr marL="0" indent="0" algn="l">
              <a:lnSpc>
                <a:spcPct val="130000"/>
              </a:lnSpc>
              <a:buNone/>
            </a:pPr>
            <a:r>
              <a:rPr lang="en-US" sz="1300" dirty="0">
                <a:solidFill>
                  <a:srgbClr val="B8C5D6"/>
                </a:solidFill>
                <a:latin typeface="Calibri" pitchFamily="34" charset="0"/>
                <a:ea typeface="Calibri" pitchFamily="34" charset="-122"/>
                <a:cs typeface="Calibri" pitchFamily="34" charset="-120"/>
              </a:rPr>
              <a:t>Our system integrates a mobile app, web dashboard, iot  AI services , ensuring seamless user experience and real-time data access for improved decision-making.
</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190895" y="2285943"/>
            <a:ext cx="3809905" cy="3809905"/>
          </a:xfrm>
          <a:prstGeom prst="rect">
            <a:avLst/>
          </a:prstGeom>
        </p:spPr>
      </p:pic>
      <p:pic>
        <p:nvPicPr>
          <p:cNvPr id="3" name="Image 1" descr="preencoded.png"/>
          <p:cNvPicPr>
            <a:picLocks noChangeAspect="1"/>
          </p:cNvPicPr>
          <p:nvPr/>
        </p:nvPicPr>
        <p:blipFill>
          <a:blip r:embed="rId3"/>
          <a:stretch>
            <a:fillRect/>
          </a:stretch>
        </p:blipFill>
        <p:spPr>
          <a:xfrm>
            <a:off x="4190895" y="2285943"/>
            <a:ext cx="3809905" cy="3809905"/>
          </a:xfrm>
          <a:prstGeom prst="rect">
            <a:avLst/>
          </a:prstGeom>
        </p:spPr>
      </p:pic>
      <p:pic>
        <p:nvPicPr>
          <p:cNvPr id="4" name="Image 2" descr="preencoded.png"/>
          <p:cNvPicPr>
            <a:picLocks noChangeAspect="1"/>
          </p:cNvPicPr>
          <p:nvPr/>
        </p:nvPicPr>
        <p:blipFill>
          <a:blip r:embed="rId4"/>
          <a:stretch>
            <a:fillRect/>
          </a:stretch>
        </p:blipFill>
        <p:spPr>
          <a:xfrm>
            <a:off x="11175721" y="5841854"/>
            <a:ext cx="634984" cy="634984"/>
          </a:xfrm>
          <a:prstGeom prst="rect">
            <a:avLst/>
          </a:prstGeom>
        </p:spPr>
      </p:pic>
      <p:pic>
        <p:nvPicPr>
          <p:cNvPr id="5" name="Image 3" descr="preencoded.png"/>
          <p:cNvPicPr>
            <a:picLocks noChangeAspect="1"/>
          </p:cNvPicPr>
          <p:nvPr/>
        </p:nvPicPr>
        <p:blipFill>
          <a:blip r:embed="rId5"/>
          <a:stretch>
            <a:fillRect/>
          </a:stretch>
        </p:blipFill>
        <p:spPr>
          <a:xfrm>
            <a:off x="380990" y="5841854"/>
            <a:ext cx="634984" cy="634984"/>
          </a:xfrm>
          <a:prstGeom prst="rect">
            <a:avLst/>
          </a:prstGeom>
        </p:spPr>
      </p:pic>
      <p:pic>
        <p:nvPicPr>
          <p:cNvPr id="6" name="Image 4" descr="preencoded.png"/>
          <p:cNvPicPr>
            <a:picLocks noChangeAspect="1"/>
          </p:cNvPicPr>
          <p:nvPr/>
        </p:nvPicPr>
        <p:blipFill>
          <a:blip r:embed="rId6"/>
          <a:stretch>
            <a:fillRect/>
          </a:stretch>
        </p:blipFill>
        <p:spPr>
          <a:xfrm>
            <a:off x="11175721" y="380990"/>
            <a:ext cx="634984" cy="634984"/>
          </a:xfrm>
          <a:prstGeom prst="rect">
            <a:avLst/>
          </a:prstGeom>
        </p:spPr>
      </p:pic>
      <p:pic>
        <p:nvPicPr>
          <p:cNvPr id="7" name="Image 5" descr="preencoded.png"/>
          <p:cNvPicPr>
            <a:picLocks noChangeAspect="1"/>
          </p:cNvPicPr>
          <p:nvPr/>
        </p:nvPicPr>
        <p:blipFill>
          <a:blip r:embed="rId7"/>
          <a:stretch>
            <a:fillRect/>
          </a:stretch>
        </p:blipFill>
        <p:spPr>
          <a:xfrm>
            <a:off x="380990" y="380990"/>
            <a:ext cx="634984" cy="634984"/>
          </a:xfrm>
          <a:prstGeom prst="rect">
            <a:avLst/>
          </a:prstGeom>
        </p:spPr>
      </p:pic>
      <p:pic>
        <p:nvPicPr>
          <p:cNvPr id="8" name="Image 6" descr="preencoded.png"/>
          <p:cNvPicPr>
            <a:picLocks noChangeAspect="1"/>
          </p:cNvPicPr>
          <p:nvPr/>
        </p:nvPicPr>
        <p:blipFill>
          <a:blip r:embed="rId4"/>
          <a:stretch>
            <a:fillRect/>
          </a:stretch>
        </p:blipFill>
        <p:spPr>
          <a:xfrm>
            <a:off x="11175721" y="5841854"/>
            <a:ext cx="634984" cy="634984"/>
          </a:xfrm>
          <a:prstGeom prst="rect">
            <a:avLst/>
          </a:prstGeom>
        </p:spPr>
      </p:pic>
      <p:pic>
        <p:nvPicPr>
          <p:cNvPr id="9" name="Image 7" descr="preencoded.png"/>
          <p:cNvPicPr>
            <a:picLocks noChangeAspect="1"/>
          </p:cNvPicPr>
          <p:nvPr/>
        </p:nvPicPr>
        <p:blipFill>
          <a:blip r:embed="rId5"/>
          <a:stretch>
            <a:fillRect/>
          </a:stretch>
        </p:blipFill>
        <p:spPr>
          <a:xfrm>
            <a:off x="380990" y="5841854"/>
            <a:ext cx="634984" cy="634984"/>
          </a:xfrm>
          <a:prstGeom prst="rect">
            <a:avLst/>
          </a:prstGeom>
        </p:spPr>
      </p:pic>
      <p:pic>
        <p:nvPicPr>
          <p:cNvPr id="10" name="Image 8" descr="preencoded.png"/>
          <p:cNvPicPr>
            <a:picLocks noChangeAspect="1"/>
          </p:cNvPicPr>
          <p:nvPr/>
        </p:nvPicPr>
        <p:blipFill>
          <a:blip r:embed="rId6"/>
          <a:stretch>
            <a:fillRect/>
          </a:stretch>
        </p:blipFill>
        <p:spPr>
          <a:xfrm>
            <a:off x="11175721" y="380990"/>
            <a:ext cx="634984" cy="634984"/>
          </a:xfrm>
          <a:prstGeom prst="rect">
            <a:avLst/>
          </a:prstGeom>
        </p:spPr>
      </p:pic>
      <p:pic>
        <p:nvPicPr>
          <p:cNvPr id="11" name="Image 9" descr="preencoded.png"/>
          <p:cNvPicPr>
            <a:picLocks noChangeAspect="1"/>
          </p:cNvPicPr>
          <p:nvPr/>
        </p:nvPicPr>
        <p:blipFill>
          <a:blip r:embed="rId7"/>
          <a:stretch>
            <a:fillRect/>
          </a:stretch>
        </p:blipFill>
        <p:spPr>
          <a:xfrm>
            <a:off x="380990" y="380990"/>
            <a:ext cx="634984" cy="634984"/>
          </a:xfrm>
          <a:prstGeom prst="rect">
            <a:avLst/>
          </a:prstGeom>
        </p:spPr>
      </p:pic>
      <p:pic>
        <p:nvPicPr>
          <p:cNvPr id="12" name="Image 10" descr="preencoded.png"/>
          <p:cNvPicPr>
            <a:picLocks noChangeAspect="1"/>
          </p:cNvPicPr>
          <p:nvPr/>
        </p:nvPicPr>
        <p:blipFill>
          <a:blip r:embed="rId8"/>
          <a:stretch>
            <a:fillRect/>
          </a:stretch>
        </p:blipFill>
        <p:spPr>
          <a:xfrm>
            <a:off x="0" y="6819730"/>
            <a:ext cx="12145975" cy="914400"/>
          </a:xfrm>
          <a:prstGeom prst="rect">
            <a:avLst/>
          </a:prstGeom>
        </p:spPr>
      </p:pic>
      <p:pic>
        <p:nvPicPr>
          <p:cNvPr id="13" name="Image 11" descr="preencoded.png"/>
          <p:cNvPicPr>
            <a:picLocks noChangeAspect="1"/>
          </p:cNvPicPr>
          <p:nvPr/>
        </p:nvPicPr>
        <p:blipFill>
          <a:blip r:embed="rId9"/>
          <a:stretch>
            <a:fillRect/>
          </a:stretch>
        </p:blipFill>
        <p:spPr>
          <a:xfrm>
            <a:off x="0" y="0"/>
            <a:ext cx="12145975" cy="38099"/>
          </a:xfrm>
          <a:prstGeom prst="rect">
            <a:avLst/>
          </a:prstGeom>
        </p:spPr>
      </p:pic>
      <p:pic>
        <p:nvPicPr>
          <p:cNvPr id="14" name="Image 12" descr="preencoded.png"/>
          <p:cNvPicPr>
            <a:picLocks noChangeAspect="1"/>
          </p:cNvPicPr>
          <p:nvPr/>
        </p:nvPicPr>
        <p:blipFill>
          <a:blip r:embed="rId8"/>
          <a:stretch>
            <a:fillRect/>
          </a:stretch>
        </p:blipFill>
        <p:spPr>
          <a:xfrm>
            <a:off x="0" y="6819730"/>
            <a:ext cx="12145975" cy="914400"/>
          </a:xfrm>
          <a:prstGeom prst="rect">
            <a:avLst/>
          </a:prstGeom>
        </p:spPr>
      </p:pic>
      <p:pic>
        <p:nvPicPr>
          <p:cNvPr id="15" name="Image 13" descr="preencoded.png"/>
          <p:cNvPicPr>
            <a:picLocks noChangeAspect="1"/>
          </p:cNvPicPr>
          <p:nvPr/>
        </p:nvPicPr>
        <p:blipFill>
          <a:blip r:embed="rId9"/>
          <a:stretch>
            <a:fillRect/>
          </a:stretch>
        </p:blipFill>
        <p:spPr>
          <a:xfrm>
            <a:off x="0" y="0"/>
            <a:ext cx="12145975" cy="38099"/>
          </a:xfrm>
          <a:prstGeom prst="rect">
            <a:avLst/>
          </a:prstGeom>
        </p:spPr>
      </p:pic>
      <p:pic>
        <p:nvPicPr>
          <p:cNvPr id="16" name="Image 14" descr="preencoded.png"/>
          <p:cNvPicPr>
            <a:picLocks noChangeAspect="1"/>
          </p:cNvPicPr>
          <p:nvPr/>
        </p:nvPicPr>
        <p:blipFill>
          <a:blip r:embed="rId10"/>
          <a:stretch>
            <a:fillRect/>
          </a:stretch>
        </p:blipFill>
        <p:spPr>
          <a:xfrm>
            <a:off x="11242749" y="444488"/>
            <a:ext cx="507987" cy="507987"/>
          </a:xfrm>
          <a:prstGeom prst="rect">
            <a:avLst/>
          </a:prstGeom>
        </p:spPr>
      </p:pic>
      <p:sp>
        <p:nvSpPr>
          <p:cNvPr id="17" name="Text 0"/>
          <p:cNvSpPr/>
          <p:nvPr/>
        </p:nvSpPr>
        <p:spPr>
          <a:xfrm>
            <a:off x="2285943" y="2285943"/>
            <a:ext cx="7619810" cy="1269968"/>
          </a:xfrm>
          <a:prstGeom prst="rect">
            <a:avLst/>
          </a:prstGeom>
          <a:noFill/>
          <a:ln/>
        </p:spPr>
        <p:txBody>
          <a:bodyPr wrap="square" lIns="1016" tIns="1016" rIns="1016" bIns="1016"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Key Takeaways
</a:t>
            </a:r>
            <a:endParaRPr lang="en-US" sz="2900" dirty="0"/>
          </a:p>
        </p:txBody>
      </p:sp>
      <p:sp>
        <p:nvSpPr>
          <p:cNvPr id="18" name="Text 1"/>
          <p:cNvSpPr/>
          <p:nvPr/>
        </p:nvSpPr>
        <p:spPr>
          <a:xfrm>
            <a:off x="2285943" y="3936902"/>
            <a:ext cx="7619810" cy="2666933"/>
          </a:xfrm>
          <a:prstGeom prst="rect">
            <a:avLst/>
          </a:prstGeom>
          <a:noFill/>
          <a:ln/>
        </p:spPr>
        <p:txBody>
          <a:bodyPr wrap="square" lIns="1016" tIns="1016" rIns="1016" bIns="1016" rtlCol="0" anchor="t"/>
          <a:lstStyle/>
          <a:p>
            <a:pPr marL="0" indent="0" algn="ctr">
              <a:lnSpc>
                <a:spcPct val="150000"/>
              </a:lnSpc>
              <a:buNone/>
            </a:pPr>
            <a:r>
              <a:rPr lang="en-US" sz="1300" dirty="0">
                <a:solidFill>
                  <a:srgbClr val="B8C5D6"/>
                </a:solidFill>
                <a:latin typeface="Calibri" pitchFamily="34" charset="0"/>
                <a:ea typeface="Calibri" pitchFamily="34" charset="-122"/>
                <a:cs typeface="Calibri" pitchFamily="34" charset="-120"/>
              </a:rPr>
              <a:t>In conclusion, ErcTrack offers a robust solution to package tracking challenges through IoT technology, enhancing reliability and efficiency. Key features include real-time tracking, user-friendly mobile and web applications, and AI integration. Moving forward, we recommend further testing and user feedback to refine the system, ensuring it meets evolving needs. Together, we can revolutionize package tracking and improve logistics operations significantly.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830</Words>
  <Application>Microsoft Office PowerPoint</Application>
  <PresentationFormat>Widescreen</PresentationFormat>
  <Paragraphs>136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Souheil Guellil</cp:lastModifiedBy>
  <cp:revision>4</cp:revision>
  <dcterms:created xsi:type="dcterms:W3CDTF">2026-05-22T19:44:19Z</dcterms:created>
  <dcterms:modified xsi:type="dcterms:W3CDTF">2026-05-22T23:29:47Z</dcterms:modified>
</cp:coreProperties>
</file>