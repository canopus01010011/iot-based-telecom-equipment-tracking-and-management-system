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image" Target="../media/image-6-2.jpg"/><Relationship Id="rId3" Type="http://schemas.openxmlformats.org/officeDocument/2006/relationships/image" Target="../media/image-6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09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5029200" cy="5029200"/>
          </a:xfrm>
          <a:prstGeom prst="ellipse">
            <a:avLst/>
          </a:prstGeom>
          <a:solidFill>
            <a:srgbClr val="1D4ED8">
              <a:alpha val="12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2926080"/>
            <a:ext cx="4114800" cy="4114800"/>
          </a:xfrm>
          <a:prstGeom prst="ellipse">
            <a:avLst/>
          </a:prstGeom>
          <a:solidFill>
            <a:srgbClr val="3B82F6">
              <a:alpha val="9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804672"/>
            <a:ext cx="2926080" cy="329184"/>
          </a:xfrm>
          <a:prstGeom prst="rect">
            <a:avLst/>
          </a:prstGeom>
          <a:solidFill>
            <a:srgbClr val="0D1528"/>
          </a:solidFill>
          <a:ln w="10160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804672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3B82F6"/>
                </a:solidFill>
              </a:rPr>
              <a:t>PFE  ·  USTHB  ·  2025-2026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640080" y="1188720"/>
            <a:ext cx="7772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E2E8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Erc</a:t>
            </a:r>
            <a:pPr indent="0" marL="0">
              <a:buNone/>
            </a:pPr>
            <a:r>
              <a:rPr lang="en-US" sz="6400" b="1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Track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640080" y="2450592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IoT-Based Telecom Equipment Tracking &amp; Management System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2944368"/>
            <a:ext cx="3657600" cy="228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301752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Supervisors:  Dr. F.Z. Bellala   ·   Dr. M. Bouchair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3273552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Jury:  Dr. F.Z. Bellala   ·   Mr. I. Khennak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0080" y="370332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300" kern="0" dirty="0">
                <a:solidFill>
                  <a:srgbClr val="3B82F6"/>
                </a:solidFill>
              </a:rPr>
              <a:t>TEAM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640080" y="3913632"/>
            <a:ext cx="1627632" cy="502920"/>
          </a:xfrm>
          <a:prstGeom prst="rect">
            <a:avLst/>
          </a:prstGeom>
          <a:solidFill>
            <a:srgbClr val="0D1528"/>
          </a:solidFill>
          <a:ln w="7620">
            <a:solidFill>
              <a:srgbClr val="FB923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3913632"/>
            <a:ext cx="54864" cy="502920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9808" y="3941064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2E8F0"/>
                </a:solidFill>
              </a:rPr>
              <a:t>Reghiwi Abderrahim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749808" y="4133088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B923C"/>
                </a:solidFill>
              </a:rPr>
              <a:t>AI + Chef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2359152" y="3913632"/>
            <a:ext cx="1627632" cy="502920"/>
          </a:xfrm>
          <a:prstGeom prst="rect">
            <a:avLst/>
          </a:prstGeom>
          <a:solidFill>
            <a:srgbClr val="0D1528"/>
          </a:solidFill>
          <a:ln w="7620">
            <a:solidFill>
              <a:srgbClr val="3B82F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359152" y="3913632"/>
            <a:ext cx="54864" cy="5029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468880" y="3941064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2E8F0"/>
                </a:solidFill>
              </a:rPr>
              <a:t>Zadi Abderrouf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2468880" y="4133088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B82F6"/>
                </a:solidFill>
              </a:rPr>
              <a:t>Web Admin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4078224" y="3913632"/>
            <a:ext cx="1627632" cy="502920"/>
          </a:xfrm>
          <a:prstGeom prst="rect">
            <a:avLst/>
          </a:prstGeom>
          <a:solidFill>
            <a:srgbClr val="0D1528"/>
          </a:solidFill>
          <a:ln w="7620">
            <a:solidFill>
              <a:srgbClr val="4ADE8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078224" y="3913632"/>
            <a:ext cx="54864" cy="502920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87952" y="3941064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2E8F0"/>
                </a:solidFill>
              </a:rPr>
              <a:t>Guellil Souheil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187952" y="4133088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ADE80"/>
                </a:solidFill>
              </a:rPr>
              <a:t>Mobile App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5797296" y="3913632"/>
            <a:ext cx="1627632" cy="502920"/>
          </a:xfrm>
          <a:prstGeom prst="rect">
            <a:avLst/>
          </a:prstGeom>
          <a:solidFill>
            <a:srgbClr val="0D1528"/>
          </a:solidFill>
          <a:ln w="7620">
            <a:solidFill>
              <a:srgbClr val="A78BF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797296" y="3913632"/>
            <a:ext cx="54864" cy="50292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07024" y="3941064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2E8F0"/>
                </a:solidFill>
              </a:rPr>
              <a:t>Dellal Younes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5907024" y="4133088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78BFA"/>
                </a:solidFill>
              </a:rPr>
              <a:t>Backend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7516368" y="3913632"/>
            <a:ext cx="1627632" cy="502920"/>
          </a:xfrm>
          <a:prstGeom prst="rect">
            <a:avLst/>
          </a:prstGeom>
          <a:solidFill>
            <a:srgbClr val="0D1528"/>
          </a:solidFill>
          <a:ln w="7620">
            <a:solidFill>
              <a:srgbClr val="FBBF2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516368" y="3913632"/>
            <a:ext cx="54864" cy="50292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626096" y="3941064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2E8F0"/>
                </a:solidFill>
              </a:rPr>
              <a:t>Guerguadj M. Nazim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7626096" y="4133088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BBF24"/>
                </a:solidFill>
              </a:rPr>
              <a:t>IoT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09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0D1528"/>
          </a:solidFill>
          <a:ln w="12700">
            <a:solidFill>
              <a:srgbClr val="0D152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spc="300" kern="0" dirty="0">
                <a:solidFill>
                  <a:srgbClr val="3B82F6"/>
                </a:solidFill>
              </a:rPr>
              <a:t>CONTEXT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Problem Statement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65760" y="804672"/>
            <a:ext cx="548640" cy="3657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91440"/>
            <a:ext cx="2011680" cy="237744"/>
          </a:xfrm>
          <a:prstGeom prst="rect">
            <a:avLst/>
          </a:prstGeom>
          <a:solidFill>
            <a:srgbClr val="0D1528"/>
          </a:solidFill>
          <a:ln w="6350">
            <a:solidFill>
              <a:srgbClr val="FB92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91440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B923C"/>
                </a:solidFill>
              </a:rPr>
              <a:t>Reghiwi Abderrahim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347472" y="960120"/>
            <a:ext cx="4251960" cy="1783080"/>
          </a:xfrm>
          <a:prstGeom prst="rect">
            <a:avLst/>
          </a:prstGeom>
          <a:solidFill>
            <a:srgbClr val="0D1528"/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47472" y="960120"/>
            <a:ext cx="4251960" cy="548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7472" y="1097280"/>
            <a:ext cx="4251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📍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484632" y="1618488"/>
            <a:ext cx="40050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B82F6"/>
                </a:solidFill>
              </a:rPr>
              <a:t>No Real-Time Tracking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4632" y="1947672"/>
            <a:ext cx="40050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Equipment disappears after warehouse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809744" y="960120"/>
            <a:ext cx="4251960" cy="1783080"/>
          </a:xfrm>
          <a:prstGeom prst="rect">
            <a:avLst/>
          </a:prstGeom>
          <a:solidFill>
            <a:srgbClr val="0D1528"/>
          </a:solidFill>
          <a:ln w="12700">
            <a:solidFill>
              <a:srgbClr val="FBBF2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809744" y="960120"/>
            <a:ext cx="4251960" cy="54864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09744" y="1097280"/>
            <a:ext cx="4251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📋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4946904" y="1618488"/>
            <a:ext cx="40050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BBF24"/>
                </a:solidFill>
              </a:rPr>
              <a:t>Manual Handover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946904" y="1947672"/>
            <a:ext cx="40050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No digital delivery confirmation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47472" y="2971800"/>
            <a:ext cx="4251960" cy="1783080"/>
          </a:xfrm>
          <a:prstGeom prst="rect">
            <a:avLst/>
          </a:prstGeom>
          <a:solidFill>
            <a:srgbClr val="0D1528"/>
          </a:solidFill>
          <a:ln w="12700">
            <a:solidFill>
              <a:srgbClr val="4ADE8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47472" y="2971800"/>
            <a:ext cx="4251960" cy="54864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7472" y="3108960"/>
            <a:ext cx="4251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📄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484632" y="3630168"/>
            <a:ext cx="40050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DE80"/>
                </a:solidFill>
              </a:rPr>
              <a:t>Inconsistent Reports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84632" y="3959352"/>
            <a:ext cx="40050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No standard format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809744" y="2971800"/>
            <a:ext cx="4251960" cy="1783080"/>
          </a:xfrm>
          <a:prstGeom prst="rect">
            <a:avLst/>
          </a:prstGeom>
          <a:solidFill>
            <a:srgbClr val="0D1528"/>
          </a:solidFill>
          <a:ln w="12700">
            <a:solidFill>
              <a:srgbClr val="F8717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09744" y="2971800"/>
            <a:ext cx="4251960" cy="54864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09744" y="3108960"/>
            <a:ext cx="4251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📷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4946904" y="3630168"/>
            <a:ext cx="40050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7171"/>
                </a:solidFill>
              </a:rPr>
              <a:t>No Image Validation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946904" y="3959352"/>
            <a:ext cx="40050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Bad photos accepted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09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0D1528"/>
          </a:solidFill>
          <a:ln w="12700">
            <a:solidFill>
              <a:srgbClr val="0D152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spc="300" kern="0" dirty="0">
                <a:solidFill>
                  <a:srgbClr val="2DD4BF"/>
                </a:solidFill>
              </a:rPr>
              <a:t>SOLUTION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D4B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ErcTrack — 4 Pillars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65760" y="804672"/>
            <a:ext cx="548640" cy="36576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91440"/>
            <a:ext cx="2011680" cy="237744"/>
          </a:xfrm>
          <a:prstGeom prst="rect">
            <a:avLst/>
          </a:prstGeom>
          <a:solidFill>
            <a:srgbClr val="0D1528"/>
          </a:solidFill>
          <a:ln w="6350">
            <a:solidFill>
              <a:srgbClr val="FB92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91440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B923C"/>
                </a:solidFill>
              </a:rPr>
              <a:t>Reghiwi Abderrahim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347472" y="960120"/>
            <a:ext cx="2029968" cy="3730752"/>
          </a:xfrm>
          <a:prstGeom prst="rect">
            <a:avLst/>
          </a:prstGeom>
          <a:solidFill>
            <a:srgbClr val="0D1528"/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47472" y="960120"/>
            <a:ext cx="2029968" cy="548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7472" y="960120"/>
            <a:ext cx="2029968" cy="548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7472" y="1097280"/>
            <a:ext cx="20299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438912" y="1828800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2E8F0"/>
                </a:solidFill>
              </a:rPr>
              <a:t>Live Tracking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50392" y="2267712"/>
            <a:ext cx="1051560" cy="22860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8912" y="2340864"/>
            <a:ext cx="1874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94A3B8"/>
                </a:solidFill>
              </a:rPr>
              <a:t>GPS from warehouse to site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523744" y="960120"/>
            <a:ext cx="2029968" cy="3730752"/>
          </a:xfrm>
          <a:prstGeom prst="rect">
            <a:avLst/>
          </a:prstGeom>
          <a:solidFill>
            <a:srgbClr val="0D1528"/>
          </a:solidFill>
          <a:ln w="12700">
            <a:solidFill>
              <a:srgbClr val="4ADE8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523744" y="960120"/>
            <a:ext cx="2029968" cy="54864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523744" y="960120"/>
            <a:ext cx="2029968" cy="54864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23744" y="1097280"/>
            <a:ext cx="20299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4ADE8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4000" dirty="0"/>
          </a:p>
        </p:txBody>
      </p:sp>
      <p:sp>
        <p:nvSpPr>
          <p:cNvPr id="20" name="Text 18"/>
          <p:cNvSpPr/>
          <p:nvPr/>
        </p:nvSpPr>
        <p:spPr>
          <a:xfrm>
            <a:off x="2615184" y="1828800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2E8F0"/>
                </a:solidFill>
              </a:rPr>
              <a:t>Accountability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026664" y="2267712"/>
            <a:ext cx="1051560" cy="22860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15184" y="2340864"/>
            <a:ext cx="1874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94A3B8"/>
                </a:solidFill>
              </a:rPr>
              <a:t>Dual QR scan per delivery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700016" y="960120"/>
            <a:ext cx="2029968" cy="3730752"/>
          </a:xfrm>
          <a:prstGeom prst="rect">
            <a:avLst/>
          </a:prstGeom>
          <a:solidFill>
            <a:srgbClr val="0D1528"/>
          </a:solidFill>
          <a:ln w="12700">
            <a:solidFill>
              <a:srgbClr val="FBBF2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00016" y="960120"/>
            <a:ext cx="2029968" cy="54864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00016" y="960120"/>
            <a:ext cx="2029968" cy="54864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00016" y="1097280"/>
            <a:ext cx="20299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BBF2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4000" dirty="0"/>
          </a:p>
        </p:txBody>
      </p:sp>
      <p:sp>
        <p:nvSpPr>
          <p:cNvPr id="27" name="Text 25"/>
          <p:cNvSpPr/>
          <p:nvPr/>
        </p:nvSpPr>
        <p:spPr>
          <a:xfrm>
            <a:off x="4791456" y="1828800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2E8F0"/>
                </a:solidFill>
              </a:rPr>
              <a:t>Smart Reports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202936" y="2267712"/>
            <a:ext cx="1051560" cy="22860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91456" y="2340864"/>
            <a:ext cx="1874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94A3B8"/>
                </a:solidFill>
              </a:rPr>
              <a:t>AI-validated field photos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876288" y="960120"/>
            <a:ext cx="2029968" cy="3730752"/>
          </a:xfrm>
          <a:prstGeom prst="rect">
            <a:avLst/>
          </a:prstGeom>
          <a:solidFill>
            <a:srgbClr val="0D1528"/>
          </a:solidFill>
          <a:ln w="1270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876288" y="960120"/>
            <a:ext cx="2029968" cy="54864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876288" y="960120"/>
            <a:ext cx="2029968" cy="54864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876288" y="1097280"/>
            <a:ext cx="20299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A78BF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4000" dirty="0"/>
          </a:p>
        </p:txBody>
      </p:sp>
      <p:sp>
        <p:nvSpPr>
          <p:cNvPr id="34" name="Text 32"/>
          <p:cNvSpPr/>
          <p:nvPr/>
        </p:nvSpPr>
        <p:spPr>
          <a:xfrm>
            <a:off x="6967728" y="1828800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2E8F0"/>
                </a:solidFill>
              </a:rPr>
              <a:t>Central Control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7379208" y="2267712"/>
            <a:ext cx="1051560" cy="22860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967728" y="2340864"/>
            <a:ext cx="1874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94A3B8"/>
                </a:solidFill>
              </a:rPr>
              <a:t>One dashboard for all ops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09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0D1528"/>
          </a:solidFill>
          <a:ln w="12700">
            <a:solidFill>
              <a:srgbClr val="0D152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spc="300" kern="0" dirty="0">
                <a:solidFill>
                  <a:srgbClr val="3B82F6"/>
                </a:solidFill>
              </a:rPr>
              <a:t>ARCHITECTURE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System Architecture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65760" y="804672"/>
            <a:ext cx="548640" cy="3657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91440"/>
            <a:ext cx="2011680" cy="237744"/>
          </a:xfrm>
          <a:prstGeom prst="rect">
            <a:avLst/>
          </a:prstGeom>
          <a:solidFill>
            <a:srgbClr val="0D1528"/>
          </a:solidFill>
          <a:ln w="6350">
            <a:solidFill>
              <a:srgbClr val="FB92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91440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B923C"/>
                </a:solidFill>
              </a:rPr>
              <a:t>Reghiwi Abderrahim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3429000" y="1371600"/>
            <a:ext cx="2286000" cy="2194560"/>
          </a:xfrm>
          <a:prstGeom prst="rect">
            <a:avLst/>
          </a:prstGeom>
          <a:solidFill>
            <a:srgbClr val="0D1528"/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429000" y="1371600"/>
            <a:ext cx="2286000" cy="548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29000" y="1371600"/>
            <a:ext cx="2286000" cy="548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29000" y="148132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3B82F6"/>
                </a:solidFill>
              </a:rPr>
              <a:t>BACKEND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520440" y="1792224"/>
            <a:ext cx="21031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70000"/>
              </a:lnSpc>
              <a:buNone/>
            </a:pPr>
            <a:r>
              <a:rPr lang="en-US" sz="1000" dirty="0">
                <a:solidFill>
                  <a:srgbClr val="94A3B8"/>
                </a:solidFill>
              </a:rPr>
              <a:t>Node.js · Express</a:t>
            </a:r>
            <a:endParaRPr lang="en-US" sz="1000" dirty="0"/>
          </a:p>
          <a:p>
            <a:pPr algn="ctr" indent="0" marL="0">
              <a:lnSpc>
                <a:spcPct val="170000"/>
              </a:lnSpc>
              <a:buNone/>
            </a:pPr>
            <a:r>
              <a:rPr lang="en-US" sz="1000" dirty="0">
                <a:solidFill>
                  <a:srgbClr val="94A3B8"/>
                </a:solidFill>
              </a:rPr>
              <a:t>PostgreSQL · Socket.IO</a:t>
            </a:r>
            <a:endParaRPr lang="en-US" sz="1000" dirty="0"/>
          </a:p>
          <a:p>
            <a:pPr algn="ctr" indent="0" marL="0">
              <a:lnSpc>
                <a:spcPct val="170000"/>
              </a:lnSpc>
              <a:buNone/>
            </a:pPr>
            <a:r>
              <a:rPr lang="en-US" sz="1000" dirty="0">
                <a:solidFill>
                  <a:srgbClr val="94A3B8"/>
                </a:solidFill>
              </a:rPr>
              <a:t>JWT · TypeScript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1691640"/>
            <a:ext cx="2103120" cy="1508760"/>
          </a:xfrm>
          <a:prstGeom prst="rect">
            <a:avLst/>
          </a:prstGeom>
          <a:solidFill>
            <a:srgbClr val="0D1528"/>
          </a:solidFill>
          <a:ln w="12700">
            <a:solidFill>
              <a:srgbClr val="FBBF2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1691640"/>
            <a:ext cx="2103120" cy="54864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" y="1691640"/>
            <a:ext cx="2103120" cy="54864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179222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BBF24"/>
                </a:solidFill>
              </a:rPr>
              <a:t>⚡  IoT Module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74320" y="2121408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94A3B8"/>
                </a:solidFill>
              </a:rPr>
              <a:t>ESP32 + NEO-6M</a:t>
            </a:r>
            <a:endParaRPr lang="en-US" sz="950" dirty="0"/>
          </a:p>
          <a:p>
            <a:pPr algn="ctr"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94A3B8"/>
                </a:solidFill>
              </a:rPr>
              <a:t>HiveMQ MQTT</a:t>
            </a:r>
            <a:endParaRPr lang="en-US" sz="950" dirty="0"/>
          </a:p>
          <a:p>
            <a:pPr algn="ctr"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94A3B8"/>
                </a:solidFill>
              </a:rPr>
              <a:t>~1.4s latency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395728" y="2450592"/>
            <a:ext cx="1014984" cy="0"/>
          </a:xfrm>
          <a:prstGeom prst="line">
            <a:avLst/>
          </a:prstGeom>
          <a:noFill/>
          <a:ln w="22860">
            <a:solidFill>
              <a:srgbClr val="FBBF24"/>
            </a:solidFill>
            <a:prstDash val="solid"/>
            <a:tailEnd type="arrow"/>
          </a:ln>
        </p:spPr>
      </p:sp>
      <p:sp>
        <p:nvSpPr>
          <p:cNvPr id="20" name="Text 18"/>
          <p:cNvSpPr/>
          <p:nvPr/>
        </p:nvSpPr>
        <p:spPr>
          <a:xfrm>
            <a:off x="2670048" y="2249424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BBF24"/>
                </a:solidFill>
              </a:rPr>
              <a:t>MQTT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6766560" y="1097280"/>
            <a:ext cx="2103120" cy="1417320"/>
          </a:xfrm>
          <a:prstGeom prst="rect">
            <a:avLst/>
          </a:prstGeom>
          <a:solidFill>
            <a:srgbClr val="0D1528"/>
          </a:solidFill>
          <a:ln w="12700">
            <a:solidFill>
              <a:srgbClr val="4ADE8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766560" y="1097280"/>
            <a:ext cx="2103120" cy="54864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766560" y="1097280"/>
            <a:ext cx="2103120" cy="54864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766560" y="11887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DE80"/>
                </a:solidFill>
              </a:rPr>
              <a:t>📱  Mobile App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766560" y="1517904"/>
            <a:ext cx="2103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94A3B8"/>
                </a:solidFill>
              </a:rPr>
              <a:t>React Native</a:t>
            </a:r>
            <a:endParaRPr lang="en-US" sz="950" dirty="0"/>
          </a:p>
          <a:p>
            <a:pPr algn="ctr"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94A3B8"/>
                </a:solidFill>
              </a:rPr>
              <a:t>Driver + Tech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733288" y="1810512"/>
            <a:ext cx="1014984" cy="0"/>
          </a:xfrm>
          <a:prstGeom prst="line">
            <a:avLst/>
          </a:prstGeom>
          <a:noFill/>
          <a:ln w="22860">
            <a:solidFill>
              <a:srgbClr val="4ADE80"/>
            </a:solidFill>
            <a:prstDash val="solid"/>
            <a:tailEnd type="arrow"/>
          </a:ln>
        </p:spPr>
      </p:sp>
      <p:sp>
        <p:nvSpPr>
          <p:cNvPr id="27" name="Text 25"/>
          <p:cNvSpPr/>
          <p:nvPr/>
        </p:nvSpPr>
        <p:spPr>
          <a:xfrm>
            <a:off x="5760720" y="1609344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4ADE80"/>
                </a:solidFill>
              </a:rPr>
              <a:t>REST + WS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6766560" y="2788920"/>
            <a:ext cx="2103120" cy="1417320"/>
          </a:xfrm>
          <a:prstGeom prst="rect">
            <a:avLst/>
          </a:prstGeom>
          <a:solidFill>
            <a:srgbClr val="0D1528"/>
          </a:solidFill>
          <a:ln w="1270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766560" y="2788920"/>
            <a:ext cx="2103120" cy="54864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766560" y="2788920"/>
            <a:ext cx="2103120" cy="54864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766560" y="28803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78BFA"/>
                </a:solidFill>
              </a:rPr>
              <a:t>🌐  Web Admin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766560" y="3209544"/>
            <a:ext cx="2103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94A3B8"/>
                </a:solidFill>
              </a:rPr>
              <a:t>React 19 + Vite</a:t>
            </a:r>
            <a:endParaRPr lang="en-US" sz="950" dirty="0"/>
          </a:p>
          <a:p>
            <a:pPr algn="ctr"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94A3B8"/>
                </a:solidFill>
              </a:rPr>
              <a:t>Leaflet · Socket.IO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5733288" y="3502152"/>
            <a:ext cx="1014984" cy="0"/>
          </a:xfrm>
          <a:prstGeom prst="line">
            <a:avLst/>
          </a:prstGeom>
          <a:noFill/>
          <a:ln w="22860">
            <a:solidFill>
              <a:srgbClr val="A78BFA"/>
            </a:solidFill>
            <a:prstDash val="solid"/>
            <a:tailEnd type="arrow"/>
          </a:ln>
        </p:spPr>
      </p:sp>
      <p:sp>
        <p:nvSpPr>
          <p:cNvPr id="34" name="Text 32"/>
          <p:cNvSpPr/>
          <p:nvPr/>
        </p:nvSpPr>
        <p:spPr>
          <a:xfrm>
            <a:off x="5760720" y="3300984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A78BFA"/>
                </a:solidFill>
              </a:rPr>
              <a:t>REST + WS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274320" y="3429000"/>
            <a:ext cx="2103120" cy="1005840"/>
          </a:xfrm>
          <a:prstGeom prst="rect">
            <a:avLst/>
          </a:prstGeom>
          <a:solidFill>
            <a:srgbClr val="0D1528"/>
          </a:solidFill>
          <a:ln w="12700">
            <a:solidFill>
              <a:srgbClr val="FB923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274320" y="3429000"/>
            <a:ext cx="2103120" cy="54864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74320" y="3429000"/>
            <a:ext cx="2103120" cy="54864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74320" y="3529584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B923C"/>
                </a:solidFill>
              </a:rPr>
              <a:t>🤖  AI Service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274320" y="3822192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Python · CLIP · OpenCV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 flipV="1">
            <a:off x="2395728" y="3931920"/>
            <a:ext cx="1014984" cy="320040"/>
          </a:xfrm>
          <a:prstGeom prst="line">
            <a:avLst/>
          </a:prstGeom>
          <a:noFill/>
          <a:ln w="22860">
            <a:solidFill>
              <a:srgbClr val="FB923C"/>
            </a:solidFill>
            <a:prstDash val="solid"/>
            <a:tailEnd type="arrow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09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0D1528"/>
          </a:solidFill>
          <a:ln w="12700">
            <a:solidFill>
              <a:srgbClr val="0D152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spc="300" kern="0" dirty="0">
                <a:solidFill>
                  <a:srgbClr val="FBBF24"/>
                </a:solidFill>
              </a:rPr>
              <a:t>IOT LAYER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BBF2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IoT Module — ESP32 + NEO-6M GPS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65760" y="804672"/>
            <a:ext cx="548640" cy="36576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91440"/>
            <a:ext cx="2011680" cy="237744"/>
          </a:xfrm>
          <a:prstGeom prst="rect">
            <a:avLst/>
          </a:prstGeom>
          <a:solidFill>
            <a:srgbClr val="0D1528"/>
          </a:solidFill>
          <a:ln w="6350">
            <a:solidFill>
              <a:srgbClr val="FBBF2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91440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BBF24"/>
                </a:solidFill>
              </a:rPr>
              <a:t>Guerguadj Mohamed Nazim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347472" y="960120"/>
            <a:ext cx="3840480" cy="3657600"/>
          </a:xfrm>
          <a:prstGeom prst="rect">
            <a:avLst/>
          </a:prstGeom>
          <a:solidFill>
            <a:srgbClr val="0D1528"/>
          </a:solidFill>
          <a:ln w="12700">
            <a:solidFill>
              <a:srgbClr val="FBBF2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47472" y="960120"/>
            <a:ext cx="3840480" cy="54864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7472" y="960120"/>
            <a:ext cx="3840480" cy="54864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" y="1060704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BBF24"/>
                </a:solidFill>
              </a:rPr>
              <a:t>Hardware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75488" y="1426464"/>
            <a:ext cx="3584448" cy="429768"/>
          </a:xfrm>
          <a:prstGeom prst="rect">
            <a:avLst/>
          </a:prstGeom>
          <a:solidFill>
            <a:srgbClr val="0B1222"/>
          </a:solidFill>
          <a:ln w="3810">
            <a:solidFill>
              <a:srgbClr val="47556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1481328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Microcontroller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148840" y="148132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BBF24"/>
                </a:solidFill>
              </a:rPr>
              <a:t>ESP32 (Wi-Fi + Bluetooth)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75488" y="1929384"/>
            <a:ext cx="3584448" cy="429768"/>
          </a:xfrm>
          <a:prstGeom prst="rect">
            <a:avLst/>
          </a:prstGeom>
          <a:solidFill>
            <a:srgbClr val="0B1222"/>
          </a:solidFill>
          <a:ln w="3810">
            <a:solidFill>
              <a:srgbClr val="47556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1984248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GPS Module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148840" y="198424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B923C"/>
                </a:solidFill>
              </a:rPr>
              <a:t>NEO-6M via UART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75488" y="2432304"/>
            <a:ext cx="3584448" cy="429768"/>
          </a:xfrm>
          <a:prstGeom prst="rect">
            <a:avLst/>
          </a:prstGeom>
          <a:solidFill>
            <a:srgbClr val="0B1222"/>
          </a:solidFill>
          <a:ln w="3810">
            <a:solidFill>
              <a:srgbClr val="47556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2487168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MQTT Broker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148840" y="248716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D4BF"/>
                </a:solidFill>
              </a:rPr>
              <a:t>HiveMQ Cloud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75488" y="2935224"/>
            <a:ext cx="3584448" cy="429768"/>
          </a:xfrm>
          <a:prstGeom prst="rect">
            <a:avLst/>
          </a:prstGeom>
          <a:solidFill>
            <a:srgbClr val="0B1222"/>
          </a:solidFill>
          <a:ln w="3810">
            <a:solidFill>
              <a:srgbClr val="47556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360" y="2990088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Publish Rate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2148840" y="299008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ADE80"/>
                </a:solidFill>
              </a:rPr>
              <a:t>Every 10 seconds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75488" y="3438144"/>
            <a:ext cx="3584448" cy="429768"/>
          </a:xfrm>
          <a:prstGeom prst="rect">
            <a:avLst/>
          </a:prstGeom>
          <a:solidFill>
            <a:srgbClr val="0B1222"/>
          </a:solidFill>
          <a:ln w="3810">
            <a:solidFill>
              <a:srgbClr val="47556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4360" y="3493008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E2E Latency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2148840" y="349300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B82F6"/>
                </a:solidFill>
              </a:rPr>
              <a:t>~1.4 seconds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434840" y="960120"/>
            <a:ext cx="4343400" cy="3657600"/>
          </a:xfrm>
          <a:prstGeom prst="rect">
            <a:avLst/>
          </a:prstGeom>
          <a:solidFill>
            <a:srgbClr val="0D1528"/>
          </a:solidFill>
          <a:ln w="12700">
            <a:solidFill>
              <a:srgbClr val="2DD4B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434840" y="960120"/>
            <a:ext cx="4343400" cy="54864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434840" y="960120"/>
            <a:ext cx="4343400" cy="54864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0" y="1060704"/>
            <a:ext cx="4069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D4BF"/>
                </a:solidFill>
              </a:rPr>
              <a:t>Data Flow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4572000" y="1444752"/>
            <a:ext cx="4069080" cy="475488"/>
          </a:xfrm>
          <a:prstGeom prst="rect">
            <a:avLst/>
          </a:prstGeom>
          <a:solidFill>
            <a:srgbClr val="0B1222"/>
          </a:solidFill>
          <a:ln w="6350">
            <a:solidFill>
              <a:srgbClr val="FBBF24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608576" y="1536192"/>
            <a:ext cx="292608" cy="292608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608576" y="15361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091A"/>
                </a:solidFill>
              </a:rPr>
              <a:t>1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992624" y="155448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2E8F0"/>
                </a:solidFill>
              </a:rPr>
              <a:t>GPS reads coords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773168" y="1929384"/>
            <a:ext cx="0" cy="128016"/>
          </a:xfrm>
          <a:prstGeom prst="line">
            <a:avLst/>
          </a:prstGeom>
          <a:noFill/>
          <a:ln w="19050">
            <a:solidFill>
              <a:srgbClr val="FBBF24"/>
            </a:solidFill>
            <a:prstDash val="solid"/>
            <a:tailEnd type="arrow"/>
          </a:ln>
        </p:spPr>
      </p:sp>
      <p:sp>
        <p:nvSpPr>
          <p:cNvPr id="37" name="Shape 35"/>
          <p:cNvSpPr/>
          <p:nvPr/>
        </p:nvSpPr>
        <p:spPr>
          <a:xfrm>
            <a:off x="4572000" y="2057400"/>
            <a:ext cx="4069080" cy="475488"/>
          </a:xfrm>
          <a:prstGeom prst="rect">
            <a:avLst/>
          </a:prstGeom>
          <a:solidFill>
            <a:srgbClr val="0B1222"/>
          </a:solidFill>
          <a:ln w="6350">
            <a:solidFill>
              <a:srgbClr val="FB923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608576" y="2148840"/>
            <a:ext cx="292608" cy="292608"/>
          </a:xfrm>
          <a:prstGeom prst="ellipse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608576" y="21488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091A"/>
                </a:solidFill>
              </a:rPr>
              <a:t>2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992624" y="216712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2E8F0"/>
                </a:solidFill>
              </a:rPr>
              <a:t>MQTT Publish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773168" y="2542032"/>
            <a:ext cx="0" cy="128016"/>
          </a:xfrm>
          <a:prstGeom prst="line">
            <a:avLst/>
          </a:prstGeom>
          <a:noFill/>
          <a:ln w="19050">
            <a:solidFill>
              <a:srgbClr val="FB923C"/>
            </a:solidFill>
            <a:prstDash val="solid"/>
            <a:tailEnd type="arrow"/>
          </a:ln>
        </p:spPr>
      </p:sp>
      <p:sp>
        <p:nvSpPr>
          <p:cNvPr id="42" name="Shape 40"/>
          <p:cNvSpPr/>
          <p:nvPr/>
        </p:nvSpPr>
        <p:spPr>
          <a:xfrm>
            <a:off x="4572000" y="2670048"/>
            <a:ext cx="4069080" cy="475488"/>
          </a:xfrm>
          <a:prstGeom prst="rect">
            <a:avLst/>
          </a:prstGeom>
          <a:solidFill>
            <a:srgbClr val="0B1222"/>
          </a:solidFill>
          <a:ln w="6350">
            <a:solidFill>
              <a:srgbClr val="2DD4B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608576" y="2761488"/>
            <a:ext cx="292608" cy="292608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608576" y="27614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091A"/>
                </a:solidFill>
              </a:rPr>
              <a:t>3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4992624" y="277977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2E8F0"/>
                </a:solidFill>
              </a:rPr>
              <a:t>HiveMQ routes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4773168" y="3154680"/>
            <a:ext cx="0" cy="128016"/>
          </a:xfrm>
          <a:prstGeom prst="line">
            <a:avLst/>
          </a:prstGeom>
          <a:noFill/>
          <a:ln w="19050">
            <a:solidFill>
              <a:srgbClr val="2DD4BF"/>
            </a:solidFill>
            <a:prstDash val="solid"/>
            <a:tailEnd type="arrow"/>
          </a:ln>
        </p:spPr>
      </p:sp>
      <p:sp>
        <p:nvSpPr>
          <p:cNvPr id="47" name="Shape 45"/>
          <p:cNvSpPr/>
          <p:nvPr/>
        </p:nvSpPr>
        <p:spPr>
          <a:xfrm>
            <a:off x="4572000" y="3282696"/>
            <a:ext cx="4069080" cy="475488"/>
          </a:xfrm>
          <a:prstGeom prst="rect">
            <a:avLst/>
          </a:prstGeom>
          <a:solidFill>
            <a:srgbClr val="0B1222"/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608576" y="3374136"/>
            <a:ext cx="292608" cy="29260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608576" y="33741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091A"/>
                </a:solidFill>
              </a:rPr>
              <a:t>4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4992624" y="339242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2E8F0"/>
                </a:solidFill>
              </a:rPr>
              <a:t>Backend subscribes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4773168" y="3767328"/>
            <a:ext cx="0" cy="128016"/>
          </a:xfrm>
          <a:prstGeom prst="line">
            <a:avLst/>
          </a:prstGeom>
          <a:noFill/>
          <a:ln w="19050">
            <a:solidFill>
              <a:srgbClr val="3B82F6"/>
            </a:solidFill>
            <a:prstDash val="solid"/>
            <a:tailEnd type="arrow"/>
          </a:ln>
        </p:spPr>
      </p:sp>
      <p:sp>
        <p:nvSpPr>
          <p:cNvPr id="52" name="Shape 50"/>
          <p:cNvSpPr/>
          <p:nvPr/>
        </p:nvSpPr>
        <p:spPr>
          <a:xfrm>
            <a:off x="4572000" y="3895344"/>
            <a:ext cx="4069080" cy="475488"/>
          </a:xfrm>
          <a:prstGeom prst="rect">
            <a:avLst/>
          </a:prstGeom>
          <a:solidFill>
            <a:srgbClr val="0B1222"/>
          </a:solidFill>
          <a:ln w="6350">
            <a:solidFill>
              <a:srgbClr val="4ADE8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608576" y="3986784"/>
            <a:ext cx="292608" cy="292608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608576" y="398678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091A"/>
                </a:solidFill>
              </a:rPr>
              <a:t>5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4992624" y="400507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2E8F0"/>
                </a:solidFill>
              </a:rPr>
              <a:t>Socket.IO → Dashboard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09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0D1528"/>
          </a:solidFill>
          <a:ln w="12700">
            <a:solidFill>
              <a:srgbClr val="0D152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spc="300" kern="0" dirty="0">
                <a:solidFill>
                  <a:srgbClr val="4ADE80"/>
                </a:solidFill>
              </a:rPr>
              <a:t>MOBILE APPLICATION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ADE8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Mobile App — React Native (Expo)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65760" y="804672"/>
            <a:ext cx="548640" cy="36576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91440"/>
            <a:ext cx="2011680" cy="237744"/>
          </a:xfrm>
          <a:prstGeom prst="rect">
            <a:avLst/>
          </a:prstGeom>
          <a:solidFill>
            <a:srgbClr val="0D1528"/>
          </a:solidFill>
          <a:ln w="6350">
            <a:solidFill>
              <a:srgbClr val="4ADE8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91440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4ADE80"/>
                </a:solidFill>
              </a:rPr>
              <a:t>Guellil Souheil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292608" y="960120"/>
            <a:ext cx="3858768" cy="4041648"/>
          </a:xfrm>
          <a:prstGeom prst="rect">
            <a:avLst/>
          </a:prstGeom>
          <a:solidFill>
            <a:srgbClr val="0D1528"/>
          </a:solidFill>
          <a:ln w="12700">
            <a:solidFill>
              <a:srgbClr val="4ADE8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92608" y="960120"/>
            <a:ext cx="3858768" cy="54864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92608" y="960120"/>
            <a:ext cx="3858768" cy="54864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20624" y="1060704"/>
            <a:ext cx="3621024" cy="256032"/>
          </a:xfrm>
          <a:prstGeom prst="rect">
            <a:avLst/>
          </a:prstGeom>
          <a:solidFill>
            <a:srgbClr val="0B1222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0624" y="1060704"/>
            <a:ext cx="3621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DE80"/>
                </a:solidFill>
              </a:rPr>
              <a:t>  Driver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1408176"/>
            <a:ext cx="146304" cy="146304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94944" y="1389888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</a:rPr>
              <a:t>QR scan → Start delivery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1792224"/>
            <a:ext cx="146304" cy="146304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94944" y="1773936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</a:rPr>
              <a:t>GPS route tracking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57200" y="2176272"/>
            <a:ext cx="146304" cy="146304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94944" y="2157984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</a:rPr>
              <a:t>Push notifications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20624" y="2596896"/>
            <a:ext cx="3621024" cy="256032"/>
          </a:xfrm>
          <a:prstGeom prst="rect">
            <a:avLst/>
          </a:prstGeom>
          <a:solidFill>
            <a:srgbClr val="0B1222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20624" y="2596896"/>
            <a:ext cx="3621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D4BF"/>
                </a:solidFill>
              </a:rPr>
              <a:t>  Technician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2944368"/>
            <a:ext cx="146304" cy="146304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94944" y="2926080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</a:rPr>
              <a:t>QR scan → Confirm reception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57200" y="3328416"/>
            <a:ext cx="146304" cy="146304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4944" y="3310128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</a:rPr>
              <a:t>Submit field report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57200" y="3712464"/>
            <a:ext cx="146304" cy="146304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94944" y="3694176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</a:rPr>
              <a:t>Upload AI-validated photos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20624" y="4069080"/>
            <a:ext cx="3621024" cy="237744"/>
          </a:xfrm>
          <a:prstGeom prst="rect">
            <a:avLst/>
          </a:prstGeom>
          <a:solidFill>
            <a:srgbClr val="1D4ED8">
              <a:alpha val="70000"/>
            </a:srgbClr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20624" y="4069080"/>
            <a:ext cx="3621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B82F6"/>
                </a:solidFill>
              </a:rPr>
              <a:t>Expo SDK  ·  Firebase FCM  ·  Leaflet Maps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270248" y="850392"/>
            <a:ext cx="1609344" cy="3694176"/>
          </a:xfrm>
          <a:prstGeom prst="rect">
            <a:avLst/>
          </a:prstGeom>
          <a:solidFill>
            <a:srgbClr val="111827"/>
          </a:solidFill>
          <a:ln w="7620">
            <a:solidFill>
              <a:srgbClr val="475569"/>
            </a:solidFill>
            <a:prstDash val="solid"/>
          </a:ln>
        </p:spPr>
      </p:sp>
      <p:pic>
        <p:nvPicPr>
          <p:cNvPr id="31" name="Image 0" descr="C:\Users\a\Desktop\pfe v1\slidemaker_compressed\slide12_img12_c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34256" y="896112"/>
            <a:ext cx="1481328" cy="3291840"/>
          </a:xfrm>
          <a:prstGeom prst="rect">
            <a:avLst/>
          </a:prstGeom>
        </p:spPr>
      </p:pic>
      <p:sp>
        <p:nvSpPr>
          <p:cNvPr id="32" name="Shape 29"/>
          <p:cNvSpPr/>
          <p:nvPr/>
        </p:nvSpPr>
        <p:spPr>
          <a:xfrm>
            <a:off x="4270248" y="4251960"/>
            <a:ext cx="1609344" cy="237744"/>
          </a:xfrm>
          <a:prstGeom prst="rect">
            <a:avLst/>
          </a:prstGeom>
          <a:solidFill>
            <a:srgbClr val="0B1222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270248" y="4251960"/>
            <a:ext cx="1609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ADE80"/>
                </a:solidFill>
              </a:rPr>
              <a:t>Login</a:t>
            </a:r>
            <a:endParaRPr lang="en-US" sz="800" dirty="0"/>
          </a:p>
        </p:txBody>
      </p:sp>
      <p:sp>
        <p:nvSpPr>
          <p:cNvPr id="34" name="Shape 31"/>
          <p:cNvSpPr/>
          <p:nvPr/>
        </p:nvSpPr>
        <p:spPr>
          <a:xfrm>
            <a:off x="5843016" y="850392"/>
            <a:ext cx="1606052" cy="3694176"/>
          </a:xfrm>
          <a:prstGeom prst="rect">
            <a:avLst/>
          </a:prstGeom>
          <a:solidFill>
            <a:srgbClr val="111827"/>
          </a:solidFill>
          <a:ln w="7620">
            <a:solidFill>
              <a:srgbClr val="475569"/>
            </a:solidFill>
            <a:prstDash val="solid"/>
          </a:ln>
        </p:spPr>
      </p:sp>
      <p:pic>
        <p:nvPicPr>
          <p:cNvPr id="35" name="Image 1" descr="C:\Users\a\Desktop\pfe v1\slidemaker_compressed\slide12_img13_c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7024" y="896112"/>
            <a:ext cx="1478036" cy="3291840"/>
          </a:xfrm>
          <a:prstGeom prst="rect">
            <a:avLst/>
          </a:prstGeom>
        </p:spPr>
      </p:pic>
      <p:sp>
        <p:nvSpPr>
          <p:cNvPr id="36" name="Shape 32"/>
          <p:cNvSpPr/>
          <p:nvPr/>
        </p:nvSpPr>
        <p:spPr>
          <a:xfrm>
            <a:off x="5843016" y="4251960"/>
            <a:ext cx="1606052" cy="237744"/>
          </a:xfrm>
          <a:prstGeom prst="rect">
            <a:avLst/>
          </a:prstGeom>
          <a:solidFill>
            <a:srgbClr val="0B1222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37" name="Text 33"/>
          <p:cNvSpPr/>
          <p:nvPr/>
        </p:nvSpPr>
        <p:spPr>
          <a:xfrm>
            <a:off x="5843016" y="4251960"/>
            <a:ext cx="16060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ADE80"/>
                </a:solidFill>
              </a:rPr>
              <a:t>Dashboard</a:t>
            </a:r>
            <a:endParaRPr lang="en-US" sz="800" dirty="0"/>
          </a:p>
        </p:txBody>
      </p:sp>
      <p:sp>
        <p:nvSpPr>
          <p:cNvPr id="38" name="Shape 34"/>
          <p:cNvSpPr/>
          <p:nvPr/>
        </p:nvSpPr>
        <p:spPr>
          <a:xfrm>
            <a:off x="7415784" y="850392"/>
            <a:ext cx="1609344" cy="3694176"/>
          </a:xfrm>
          <a:prstGeom prst="rect">
            <a:avLst/>
          </a:prstGeom>
          <a:solidFill>
            <a:srgbClr val="111827"/>
          </a:solidFill>
          <a:ln w="7620">
            <a:solidFill>
              <a:srgbClr val="475569"/>
            </a:solidFill>
            <a:prstDash val="solid"/>
          </a:ln>
        </p:spPr>
      </p:sp>
      <p:pic>
        <p:nvPicPr>
          <p:cNvPr id="39" name="Image 2" descr="C:\Users\a\Desktop\pfe v1\slidemaker_compressed\slide12_img11_c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9792" y="896112"/>
            <a:ext cx="1481328" cy="3291840"/>
          </a:xfrm>
          <a:prstGeom prst="rect">
            <a:avLst/>
          </a:prstGeom>
        </p:spPr>
      </p:pic>
      <p:sp>
        <p:nvSpPr>
          <p:cNvPr id="40" name="Shape 35"/>
          <p:cNvSpPr/>
          <p:nvPr/>
        </p:nvSpPr>
        <p:spPr>
          <a:xfrm>
            <a:off x="7415784" y="4251960"/>
            <a:ext cx="1609344" cy="237744"/>
          </a:xfrm>
          <a:prstGeom prst="rect">
            <a:avLst/>
          </a:prstGeom>
          <a:solidFill>
            <a:srgbClr val="0B1222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41" name="Text 36"/>
          <p:cNvSpPr/>
          <p:nvPr/>
        </p:nvSpPr>
        <p:spPr>
          <a:xfrm>
            <a:off x="7415784" y="4251960"/>
            <a:ext cx="1609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ADE80"/>
                </a:solidFill>
              </a:rPr>
              <a:t>GPS Map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09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0D1528"/>
          </a:solidFill>
          <a:ln w="12700">
            <a:solidFill>
              <a:srgbClr val="0D152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spc="300" kern="0" dirty="0">
                <a:solidFill>
                  <a:srgbClr val="3B82F6"/>
                </a:solidFill>
              </a:rPr>
              <a:t>WEB ADMIN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Web Admin Dashboard — React 19 + Vite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65760" y="804672"/>
            <a:ext cx="548640" cy="3657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91440"/>
            <a:ext cx="2011680" cy="237744"/>
          </a:xfrm>
          <a:prstGeom prst="rect">
            <a:avLst/>
          </a:prstGeom>
          <a:solidFill>
            <a:srgbClr val="0D1528"/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91440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B82F6"/>
                </a:solidFill>
              </a:rPr>
              <a:t>Zadi Abderrouf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292608" y="960120"/>
            <a:ext cx="3657600" cy="4041648"/>
          </a:xfrm>
          <a:prstGeom prst="rect">
            <a:avLst/>
          </a:prstGeom>
          <a:solidFill>
            <a:srgbClr val="0D1528"/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92608" y="960120"/>
            <a:ext cx="3657600" cy="548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92608" y="960120"/>
            <a:ext cx="3657600" cy="548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0624" y="1042416"/>
            <a:ext cx="3401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</a:rPr>
              <a:t>Key Features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20624" y="1408176"/>
            <a:ext cx="1664208" cy="749808"/>
          </a:xfrm>
          <a:prstGeom prst="rect">
            <a:avLst/>
          </a:prstGeom>
          <a:solidFill>
            <a:srgbClr val="0B1222"/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0624" y="1463040"/>
            <a:ext cx="1664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📊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20624" y="1810512"/>
            <a:ext cx="1664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B82F6"/>
                </a:solidFill>
              </a:rPr>
              <a:t>KPIs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203704" y="1408176"/>
            <a:ext cx="1664208" cy="749808"/>
          </a:xfrm>
          <a:prstGeom prst="rect">
            <a:avLst/>
          </a:prstGeom>
          <a:solidFill>
            <a:srgbClr val="0B1222"/>
          </a:solidFill>
          <a:ln w="6350">
            <a:solidFill>
              <a:srgbClr val="2DD4B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203704" y="1463040"/>
            <a:ext cx="1664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🗺️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2203704" y="1810512"/>
            <a:ext cx="1664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DD4BF"/>
                </a:solidFill>
              </a:rPr>
              <a:t>Live GPS Map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20624" y="2286000"/>
            <a:ext cx="1664208" cy="749808"/>
          </a:xfrm>
          <a:prstGeom prst="rect">
            <a:avLst/>
          </a:prstGeom>
          <a:solidFill>
            <a:srgbClr val="0B1222"/>
          </a:solidFill>
          <a:ln w="6350">
            <a:solidFill>
              <a:srgbClr val="4ADE8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0624" y="2340864"/>
            <a:ext cx="1664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📋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20624" y="2688336"/>
            <a:ext cx="1664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ADE80"/>
                </a:solidFill>
              </a:rPr>
              <a:t>Missions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203704" y="2286000"/>
            <a:ext cx="1664208" cy="749808"/>
          </a:xfrm>
          <a:prstGeom prst="rect">
            <a:avLst/>
          </a:prstGeom>
          <a:solidFill>
            <a:srgbClr val="0B1222"/>
          </a:solidFill>
          <a:ln w="6350">
            <a:solidFill>
              <a:srgbClr val="FBBF2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203704" y="2340864"/>
            <a:ext cx="1664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📄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2203704" y="2688336"/>
            <a:ext cx="1664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BBF24"/>
                </a:solidFill>
              </a:rPr>
              <a:t>Reports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20624" y="3163824"/>
            <a:ext cx="1664208" cy="749808"/>
          </a:xfrm>
          <a:prstGeom prst="rect">
            <a:avLst/>
          </a:prstGeom>
          <a:solidFill>
            <a:srgbClr val="0B1222"/>
          </a:solidFill>
          <a:ln w="6350">
            <a:solidFill>
              <a:srgbClr val="A78BF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20624" y="3218688"/>
            <a:ext cx="1664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👥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20624" y="3566160"/>
            <a:ext cx="1664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78BFA"/>
                </a:solidFill>
              </a:rPr>
              <a:t>Team Mgmt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203704" y="3163824"/>
            <a:ext cx="1664208" cy="749808"/>
          </a:xfrm>
          <a:prstGeom prst="rect">
            <a:avLst/>
          </a:prstGeom>
          <a:solidFill>
            <a:srgbClr val="0B1222"/>
          </a:solidFill>
          <a:ln w="6350">
            <a:solidFill>
              <a:srgbClr val="FB923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203704" y="3218688"/>
            <a:ext cx="1664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🔔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2203704" y="3566160"/>
            <a:ext cx="1664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B923C"/>
                </a:solidFill>
              </a:rPr>
              <a:t>Notifications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20624" y="4059936"/>
            <a:ext cx="3401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B82F6"/>
                </a:solidFill>
              </a:rPr>
              <a:t>React 19  ·  Vite 8  ·  Leaflet.js  ·  Socket.IO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059936" y="950976"/>
            <a:ext cx="4946904" cy="3225234"/>
          </a:xfrm>
          <a:prstGeom prst="rect">
            <a:avLst/>
          </a:prstGeom>
          <a:solidFill>
            <a:srgbClr val="0D1528"/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059936" y="950976"/>
            <a:ext cx="4946904" cy="548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pic>
        <p:nvPicPr>
          <p:cNvPr id="34" name="Image 0" descr="C:\Users\a\Desktop\pfe v1\slidemaker_compressed\slide13_img11_c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33088" y="1024128"/>
            <a:ext cx="4800600" cy="2786322"/>
          </a:xfrm>
          <a:prstGeom prst="rect">
            <a:avLst/>
          </a:prstGeom>
        </p:spPr>
      </p:pic>
      <p:sp>
        <p:nvSpPr>
          <p:cNvPr id="35" name="Text 32"/>
          <p:cNvSpPr/>
          <p:nvPr/>
        </p:nvSpPr>
        <p:spPr>
          <a:xfrm>
            <a:off x="4133088" y="3883602"/>
            <a:ext cx="4800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Live Web Dashboard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09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0D1528"/>
          </a:solidFill>
          <a:ln w="12700">
            <a:solidFill>
              <a:srgbClr val="0D152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spc="300" kern="0" dirty="0">
                <a:solidFill>
                  <a:srgbClr val="2DD4BF"/>
                </a:solidFill>
              </a:rPr>
              <a:t>REAL-TIME TRACKING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D4B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Real-Time GPS — End-to-End Flow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65760" y="804672"/>
            <a:ext cx="548640" cy="36576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91440"/>
            <a:ext cx="2011680" cy="237744"/>
          </a:xfrm>
          <a:prstGeom prst="rect">
            <a:avLst/>
          </a:prstGeom>
          <a:solidFill>
            <a:srgbClr val="0D1528"/>
          </a:solidFill>
          <a:ln w="6350">
            <a:solidFill>
              <a:srgbClr val="4ADE8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91440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4ADE80"/>
                </a:solidFill>
              </a:rPr>
              <a:t>Guellil Souheil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292608" y="960120"/>
            <a:ext cx="1508760" cy="1554480"/>
          </a:xfrm>
          <a:prstGeom prst="rect">
            <a:avLst/>
          </a:prstGeom>
          <a:solidFill>
            <a:srgbClr val="0D1528"/>
          </a:solidFill>
          <a:ln w="12700">
            <a:solidFill>
              <a:srgbClr val="FBBF2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92608" y="960120"/>
            <a:ext cx="1508760" cy="54864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92608" y="960120"/>
            <a:ext cx="1508760" cy="4572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92608" y="1051560"/>
            <a:ext cx="1508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📡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92608" y="1563624"/>
            <a:ext cx="1508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100" b="1" dirty="0">
                <a:solidFill>
                  <a:srgbClr val="FBBF24"/>
                </a:solidFill>
              </a:rPr>
              <a:t>ESP32</a:t>
            </a:r>
            <a:endParaRPr lang="en-US" sz="11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100" b="1" dirty="0">
                <a:solidFill>
                  <a:srgbClr val="FBBF24"/>
                </a:solidFill>
              </a:rPr>
              <a:t>NEO-6M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801368" y="1719072"/>
            <a:ext cx="274320" cy="0"/>
          </a:xfrm>
          <a:prstGeom prst="line">
            <a:avLst/>
          </a:prstGeom>
          <a:noFill/>
          <a:ln w="22860">
            <a:solidFill>
              <a:srgbClr val="FBBF24"/>
            </a:solidFill>
            <a:prstDash val="solid"/>
            <a:tailEnd type="arrow"/>
          </a:ln>
        </p:spPr>
      </p:sp>
      <p:sp>
        <p:nvSpPr>
          <p:cNvPr id="15" name="Shape 13"/>
          <p:cNvSpPr/>
          <p:nvPr/>
        </p:nvSpPr>
        <p:spPr>
          <a:xfrm>
            <a:off x="2075688" y="960120"/>
            <a:ext cx="1508760" cy="1554480"/>
          </a:xfrm>
          <a:prstGeom prst="rect">
            <a:avLst/>
          </a:prstGeom>
          <a:solidFill>
            <a:srgbClr val="0D1528"/>
          </a:solidFill>
          <a:ln w="12700">
            <a:solidFill>
              <a:srgbClr val="FB923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075688" y="960120"/>
            <a:ext cx="1508760" cy="54864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075688" y="960120"/>
            <a:ext cx="1508760" cy="45720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075688" y="1051560"/>
            <a:ext cx="1508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☁️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2075688" y="1563624"/>
            <a:ext cx="1508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100" b="1" dirty="0">
                <a:solidFill>
                  <a:srgbClr val="FB923C"/>
                </a:solidFill>
              </a:rPr>
              <a:t>HiveMQ</a:t>
            </a:r>
            <a:endParaRPr lang="en-US" sz="11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100" b="1" dirty="0">
                <a:solidFill>
                  <a:srgbClr val="FB923C"/>
                </a:solidFill>
              </a:rPr>
              <a:t>Broker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584448" y="1719072"/>
            <a:ext cx="274320" cy="0"/>
          </a:xfrm>
          <a:prstGeom prst="line">
            <a:avLst/>
          </a:prstGeom>
          <a:noFill/>
          <a:ln w="22860">
            <a:solidFill>
              <a:srgbClr val="FB923C"/>
            </a:solidFill>
            <a:prstDash val="solid"/>
            <a:tailEnd type="arrow"/>
          </a:ln>
        </p:spPr>
      </p:sp>
      <p:sp>
        <p:nvSpPr>
          <p:cNvPr id="21" name="Shape 19"/>
          <p:cNvSpPr/>
          <p:nvPr/>
        </p:nvSpPr>
        <p:spPr>
          <a:xfrm>
            <a:off x="3858768" y="960120"/>
            <a:ext cx="1508760" cy="1554480"/>
          </a:xfrm>
          <a:prstGeom prst="rect">
            <a:avLst/>
          </a:prstGeom>
          <a:solidFill>
            <a:srgbClr val="0D1528"/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858768" y="960120"/>
            <a:ext cx="1508760" cy="548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858768" y="960120"/>
            <a:ext cx="1508760" cy="457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858768" y="1051560"/>
            <a:ext cx="1508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🖥️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3858768" y="1563624"/>
            <a:ext cx="1508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100" b="1" dirty="0">
                <a:solidFill>
                  <a:srgbClr val="3B82F6"/>
                </a:solidFill>
              </a:rPr>
              <a:t>Backend</a:t>
            </a:r>
            <a:endParaRPr lang="en-US" sz="11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100" b="1" dirty="0">
                <a:solidFill>
                  <a:srgbClr val="3B82F6"/>
                </a:solidFill>
              </a:rPr>
              <a:t>Node.js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367528" y="1719072"/>
            <a:ext cx="274320" cy="0"/>
          </a:xfrm>
          <a:prstGeom prst="line">
            <a:avLst/>
          </a:prstGeom>
          <a:noFill/>
          <a:ln w="22860">
            <a:solidFill>
              <a:srgbClr val="3B82F6"/>
            </a:solidFill>
            <a:prstDash val="solid"/>
            <a:tailEnd type="arrow"/>
          </a:ln>
        </p:spPr>
      </p:sp>
      <p:sp>
        <p:nvSpPr>
          <p:cNvPr id="27" name="Shape 25"/>
          <p:cNvSpPr/>
          <p:nvPr/>
        </p:nvSpPr>
        <p:spPr>
          <a:xfrm>
            <a:off x="5641848" y="960120"/>
            <a:ext cx="1508760" cy="1554480"/>
          </a:xfrm>
          <a:prstGeom prst="rect">
            <a:avLst/>
          </a:prstGeom>
          <a:solidFill>
            <a:srgbClr val="0D1528"/>
          </a:solidFill>
          <a:ln w="1270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641848" y="960120"/>
            <a:ext cx="1508760" cy="54864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641848" y="960120"/>
            <a:ext cx="1508760" cy="4572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641848" y="1051560"/>
            <a:ext cx="1508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📡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5641848" y="1563624"/>
            <a:ext cx="1508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100" b="1" dirty="0">
                <a:solidFill>
                  <a:srgbClr val="A78BFA"/>
                </a:solidFill>
              </a:rPr>
              <a:t>Socket.IO</a:t>
            </a:r>
            <a:endParaRPr lang="en-US" sz="11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100" b="1" dirty="0">
                <a:solidFill>
                  <a:srgbClr val="A78BFA"/>
                </a:solidFill>
              </a:rPr>
              <a:t>WS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150608" y="1719072"/>
            <a:ext cx="274320" cy="0"/>
          </a:xfrm>
          <a:prstGeom prst="line">
            <a:avLst/>
          </a:prstGeom>
          <a:noFill/>
          <a:ln w="22860">
            <a:solidFill>
              <a:srgbClr val="A78BFA"/>
            </a:solidFill>
            <a:prstDash val="solid"/>
            <a:tailEnd type="arrow"/>
          </a:ln>
        </p:spPr>
      </p:sp>
      <p:sp>
        <p:nvSpPr>
          <p:cNvPr id="33" name="Shape 31"/>
          <p:cNvSpPr/>
          <p:nvPr/>
        </p:nvSpPr>
        <p:spPr>
          <a:xfrm>
            <a:off x="7424928" y="960120"/>
            <a:ext cx="1508760" cy="1554480"/>
          </a:xfrm>
          <a:prstGeom prst="rect">
            <a:avLst/>
          </a:prstGeom>
          <a:solidFill>
            <a:srgbClr val="0D1528"/>
          </a:solidFill>
          <a:ln w="12700">
            <a:solidFill>
              <a:srgbClr val="4ADE8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7424928" y="960120"/>
            <a:ext cx="1508760" cy="54864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424928" y="960120"/>
            <a:ext cx="1508760" cy="45720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424928" y="1051560"/>
            <a:ext cx="1508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🗺️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7424928" y="1563624"/>
            <a:ext cx="1508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100" b="1" dirty="0">
                <a:solidFill>
                  <a:srgbClr val="4ADE80"/>
                </a:solidFill>
              </a:rPr>
              <a:t>Leaflet</a:t>
            </a:r>
            <a:endParaRPr lang="en-US" sz="11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100" b="1" dirty="0">
                <a:solidFill>
                  <a:srgbClr val="4ADE80"/>
                </a:solidFill>
              </a:rPr>
              <a:t>Map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3200400" y="2633472"/>
            <a:ext cx="2743200" cy="411480"/>
          </a:xfrm>
          <a:prstGeom prst="rect">
            <a:avLst/>
          </a:prstGeom>
          <a:solidFill>
            <a:srgbClr val="0D1528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200400" y="2633472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DD4BF"/>
                </a:solidFill>
              </a:rPr>
              <a:t>End-to-End:  ~1.4 seconds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292608" y="3145536"/>
            <a:ext cx="8558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3B82F6"/>
                </a:solidFill>
              </a:rPr>
              <a:t>COMPLETE MISSION WORKFLOW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292608" y="3383280"/>
            <a:ext cx="8558784" cy="1444752"/>
          </a:xfrm>
          <a:prstGeom prst="rect">
            <a:avLst/>
          </a:prstGeom>
          <a:solidFill>
            <a:srgbClr val="0D1528"/>
          </a:solidFill>
          <a:ln w="6350">
            <a:solidFill>
              <a:srgbClr val="475569"/>
            </a:solidFill>
            <a:prstDash val="solid"/>
          </a:ln>
        </p:spPr>
      </p:sp>
      <p:pic>
        <p:nvPicPr>
          <p:cNvPr id="42" name="Image 0" descr="C:\Users\a\Desktop\pfe v1\slidemaker_compressed\slide10_img02_c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7472" y="3419856"/>
            <a:ext cx="8449056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09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0D1528"/>
          </a:solidFill>
          <a:ln w="12700">
            <a:solidFill>
              <a:srgbClr val="0D152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spc="300" kern="0" dirty="0">
                <a:solidFill>
                  <a:srgbClr val="FB923C"/>
                </a:solidFill>
              </a:rPr>
              <a:t>DELIVERY VERIFICATION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B923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Dual QR Code Verification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65760" y="804672"/>
            <a:ext cx="548640" cy="36576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91440"/>
            <a:ext cx="2011680" cy="237744"/>
          </a:xfrm>
          <a:prstGeom prst="rect">
            <a:avLst/>
          </a:prstGeom>
          <a:solidFill>
            <a:srgbClr val="0D1528"/>
          </a:solidFill>
          <a:ln w="6350">
            <a:solidFill>
              <a:srgbClr val="4ADE8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91440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4ADE80"/>
                </a:solidFill>
              </a:rPr>
              <a:t>Guellil Souheil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347472" y="969264"/>
            <a:ext cx="8449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Two independent scans create an immutable delivery record.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92608" y="1298448"/>
            <a:ext cx="3886200" cy="3493008"/>
          </a:xfrm>
          <a:prstGeom prst="rect">
            <a:avLst/>
          </a:prstGeom>
          <a:solidFill>
            <a:srgbClr val="0D1528"/>
          </a:solidFill>
          <a:ln w="12700">
            <a:solidFill>
              <a:srgbClr val="4ADE8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92608" y="1298448"/>
            <a:ext cx="3886200" cy="54864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92608" y="1298448"/>
            <a:ext cx="3886200" cy="54864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8912" y="1389888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4ADE80"/>
                </a:solidFill>
              </a:rPr>
              <a:t>STEP 1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38912" y="164592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DE80"/>
                </a:solidFill>
              </a:rPr>
              <a:t>  Driver Scan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57200" y="2176272"/>
            <a:ext cx="146304" cy="146304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94944" y="2157984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</a:rPr>
              <a:t>Scans QR at warehouse departure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57200" y="2651760"/>
            <a:ext cx="146304" cy="146304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94944" y="2633472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</a:rPr>
              <a:t>Records timestamp + GPS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57200" y="3127248"/>
            <a:ext cx="146304" cy="146304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4944" y="310896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</a:rPr>
              <a:t>Mission → "In Delivery"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57200" y="3602736"/>
            <a:ext cx="146304" cy="146304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94944" y="3584448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</a:rPr>
              <a:t>Technician receives notification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197096" y="3044952"/>
            <a:ext cx="749808" cy="0"/>
          </a:xfrm>
          <a:prstGeom prst="line">
            <a:avLst/>
          </a:prstGeom>
          <a:noFill/>
          <a:ln w="22860">
            <a:solidFill>
              <a:srgbClr val="FB923C"/>
            </a:solidFill>
            <a:prstDash val="solid"/>
            <a:tailEnd type="arrow"/>
          </a:ln>
        </p:spPr>
      </p:sp>
      <p:sp>
        <p:nvSpPr>
          <p:cNvPr id="24" name="Text 22"/>
          <p:cNvSpPr/>
          <p:nvPr/>
        </p:nvSpPr>
        <p:spPr>
          <a:xfrm>
            <a:off x="4206240" y="3218688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B923C"/>
                </a:solidFill>
              </a:rPr>
              <a:t>THEN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4965192" y="1298448"/>
            <a:ext cx="3886200" cy="3493008"/>
          </a:xfrm>
          <a:prstGeom prst="rect">
            <a:avLst/>
          </a:prstGeom>
          <a:solidFill>
            <a:srgbClr val="0D1528"/>
          </a:solidFill>
          <a:ln w="12700">
            <a:solidFill>
              <a:srgbClr val="2DD4B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965192" y="1298448"/>
            <a:ext cx="3886200" cy="54864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965192" y="1298448"/>
            <a:ext cx="3886200" cy="54864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102352" y="1389888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2DD4BF"/>
                </a:solidFill>
              </a:rPr>
              <a:t>STEP 2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5102352" y="164592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D4BF"/>
                </a:solidFill>
              </a:rPr>
              <a:t>  Technician Confirm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5138928" y="2176272"/>
            <a:ext cx="146304" cy="146304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376672" y="2157984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</a:rPr>
              <a:t>Scans QR at installation site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5138928" y="2651760"/>
            <a:ext cx="146304" cy="146304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376672" y="2633472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</a:rPr>
              <a:t>Blocked if driver not scanned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138928" y="3127248"/>
            <a:ext cx="146304" cy="146304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376672" y="310896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</a:rPr>
              <a:t>Delivery confirmed + signed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138928" y="3602736"/>
            <a:ext cx="146304" cy="146304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376672" y="3584448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</a:rPr>
              <a:t>Mission → "Delivered"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709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0D1528"/>
          </a:solidFill>
          <a:ln w="12700">
            <a:solidFill>
              <a:srgbClr val="0D152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spc="300" kern="0" dirty="0">
                <a:solidFill>
                  <a:srgbClr val="A78BFA"/>
                </a:solidFill>
              </a:rPr>
              <a:t>AI VALIDATION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A78BF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Image Validation — CLIP + OpenCV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65760" y="804672"/>
            <a:ext cx="548640" cy="36576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91440"/>
            <a:ext cx="2011680" cy="237744"/>
          </a:xfrm>
          <a:prstGeom prst="rect">
            <a:avLst/>
          </a:prstGeom>
          <a:solidFill>
            <a:srgbClr val="0D1528"/>
          </a:solidFill>
          <a:ln w="6350">
            <a:solidFill>
              <a:srgbClr val="FB92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91440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B923C"/>
                </a:solidFill>
              </a:rPr>
              <a:t>Reghiwi Abderrahim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347472" y="969264"/>
            <a:ext cx="8449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Python microservice validates every photo before storage in Cloudinary.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92608" y="1325880"/>
            <a:ext cx="2816352" cy="2944368"/>
          </a:xfrm>
          <a:prstGeom prst="rect">
            <a:avLst/>
          </a:prstGeom>
          <a:solidFill>
            <a:srgbClr val="0D1528"/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92608" y="1325880"/>
            <a:ext cx="2816352" cy="548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92608" y="1325880"/>
            <a:ext cx="2816352" cy="548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9768" y="14173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92608" y="1444752"/>
            <a:ext cx="2816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🔍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402336" y="2011680"/>
            <a:ext cx="2615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B82F6"/>
                </a:solidFill>
              </a:rPr>
              <a:t>Blur Detection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41248" y="2395728"/>
            <a:ext cx="1737360" cy="22860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02336" y="2468880"/>
            <a:ext cx="26151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4A3B8"/>
                </a:solidFill>
              </a:rPr>
              <a:t>Laplacian Variance (OpenCV)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02336" y="2880360"/>
            <a:ext cx="2615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87171"/>
                </a:solidFill>
              </a:rPr>
              <a:t>If fails → REJECTED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108960" y="2788920"/>
            <a:ext cx="155448" cy="0"/>
          </a:xfrm>
          <a:prstGeom prst="line">
            <a:avLst/>
          </a:prstGeom>
          <a:noFill/>
          <a:ln w="22860">
            <a:solidFill>
              <a:srgbClr val="3B82F6"/>
            </a:solidFill>
            <a:prstDash val="solid"/>
            <a:tailEnd type="arrow"/>
          </a:ln>
        </p:spPr>
      </p:sp>
      <p:sp>
        <p:nvSpPr>
          <p:cNvPr id="20" name="Shape 18"/>
          <p:cNvSpPr/>
          <p:nvPr/>
        </p:nvSpPr>
        <p:spPr>
          <a:xfrm>
            <a:off x="3264408" y="1325880"/>
            <a:ext cx="2816352" cy="2944368"/>
          </a:xfrm>
          <a:prstGeom prst="rect">
            <a:avLst/>
          </a:prstGeom>
          <a:solidFill>
            <a:srgbClr val="0D1528"/>
          </a:solidFill>
          <a:ln w="12700">
            <a:solidFill>
              <a:srgbClr val="FBBF2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64408" y="1325880"/>
            <a:ext cx="2816352" cy="54864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64408" y="1325880"/>
            <a:ext cx="2816352" cy="54864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01568" y="14173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BBF2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3264408" y="1444752"/>
            <a:ext cx="2816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☀️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3374136" y="2011680"/>
            <a:ext cx="2615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BBF24"/>
                </a:solidFill>
              </a:rPr>
              <a:t>Brightness Check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3813048" y="2395728"/>
            <a:ext cx="1737360" cy="22860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74136" y="2468880"/>
            <a:ext cx="26151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4A3B8"/>
                </a:solidFill>
              </a:rPr>
              <a:t>HSV Analysis (OpenCV)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374136" y="2880360"/>
            <a:ext cx="2615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87171"/>
                </a:solidFill>
              </a:rPr>
              <a:t>If fails → REJECTED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080760" y="2788920"/>
            <a:ext cx="155448" cy="0"/>
          </a:xfrm>
          <a:prstGeom prst="line">
            <a:avLst/>
          </a:prstGeom>
          <a:noFill/>
          <a:ln w="22860">
            <a:solidFill>
              <a:srgbClr val="FBBF24"/>
            </a:solidFill>
            <a:prstDash val="solid"/>
            <a:tailEnd type="arrow"/>
          </a:ln>
        </p:spPr>
      </p:sp>
      <p:sp>
        <p:nvSpPr>
          <p:cNvPr id="30" name="Shape 28"/>
          <p:cNvSpPr/>
          <p:nvPr/>
        </p:nvSpPr>
        <p:spPr>
          <a:xfrm>
            <a:off x="6236208" y="1325880"/>
            <a:ext cx="2816352" cy="2944368"/>
          </a:xfrm>
          <a:prstGeom prst="rect">
            <a:avLst/>
          </a:prstGeom>
          <a:solidFill>
            <a:srgbClr val="0D1528"/>
          </a:solidFill>
          <a:ln w="1270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236208" y="1325880"/>
            <a:ext cx="2816352" cy="54864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236208" y="1325880"/>
            <a:ext cx="2816352" cy="54864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373368" y="14173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A78BF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6236208" y="1444752"/>
            <a:ext cx="2816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🤖</a:t>
            </a:r>
            <a:endParaRPr lang="en-US" sz="2400" dirty="0"/>
          </a:p>
        </p:txBody>
      </p:sp>
      <p:sp>
        <p:nvSpPr>
          <p:cNvPr id="35" name="Text 33"/>
          <p:cNvSpPr/>
          <p:nvPr/>
        </p:nvSpPr>
        <p:spPr>
          <a:xfrm>
            <a:off x="6345936" y="2011680"/>
            <a:ext cx="2615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78BFA"/>
                </a:solidFill>
              </a:rPr>
              <a:t>Content Relevance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6784848" y="2395728"/>
            <a:ext cx="1737360" cy="22860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345936" y="2468880"/>
            <a:ext cx="26151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4A3B8"/>
                </a:solidFill>
              </a:rPr>
              <a:t>CLIP Model (OpenAI)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345936" y="2880360"/>
            <a:ext cx="2615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87171"/>
                </a:solidFill>
              </a:rPr>
              <a:t>If fails → REJECTED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292608" y="4343400"/>
            <a:ext cx="3931920" cy="475488"/>
          </a:xfrm>
          <a:prstGeom prst="rect">
            <a:avLst/>
          </a:prstGeom>
          <a:solidFill>
            <a:srgbClr val="00150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92608" y="4343400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DE80"/>
                </a:solidFill>
              </a:rPr>
              <a:t>  VALID → Upload Cloudinary CDN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4919472" y="4343400"/>
            <a:ext cx="3931920" cy="475488"/>
          </a:xfrm>
          <a:prstGeom prst="rect">
            <a:avLst/>
          </a:prstGeom>
          <a:solidFill>
            <a:srgbClr val="150000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19472" y="4343400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7171"/>
                </a:solidFill>
              </a:rPr>
              <a:t>  INVALID → Rejected + User notified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709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0D1528"/>
          </a:solidFill>
          <a:ln w="12700">
            <a:solidFill>
              <a:srgbClr val="0D152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spc="300" kern="0" dirty="0">
                <a:solidFill>
                  <a:srgbClr val="3B82F6"/>
                </a:solidFill>
              </a:rPr>
              <a:t>BACKEND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Backend &amp; Infrastructure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65760" y="804672"/>
            <a:ext cx="548640" cy="3657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91440"/>
            <a:ext cx="2011680" cy="237744"/>
          </a:xfrm>
          <a:prstGeom prst="rect">
            <a:avLst/>
          </a:prstGeom>
          <a:solidFill>
            <a:srgbClr val="0D1528"/>
          </a:solidFill>
          <a:ln w="6350">
            <a:solidFill>
              <a:srgbClr val="A78BF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91440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A78BFA"/>
                </a:solidFill>
              </a:rPr>
              <a:t>Dellal Younes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292608" y="960120"/>
            <a:ext cx="4023360" cy="3703320"/>
          </a:xfrm>
          <a:prstGeom prst="rect">
            <a:avLst/>
          </a:prstGeom>
          <a:solidFill>
            <a:srgbClr val="0D1528"/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92608" y="960120"/>
            <a:ext cx="4023360" cy="548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92608" y="960120"/>
            <a:ext cx="4023360" cy="548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8912" y="1042416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</a:rPr>
              <a:t>Tech Stack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38912" y="1417320"/>
            <a:ext cx="3749040" cy="365760"/>
          </a:xfrm>
          <a:prstGeom prst="rect">
            <a:avLst/>
          </a:prstGeom>
          <a:solidFill>
            <a:srgbClr val="0B1222"/>
          </a:solidFill>
          <a:ln w="3810">
            <a:solidFill>
              <a:srgbClr val="47556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1472184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Runtime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057400" y="1472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DE80"/>
                </a:solidFill>
              </a:rPr>
              <a:t>Node.js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38912" y="1837944"/>
            <a:ext cx="3749040" cy="365760"/>
          </a:xfrm>
          <a:prstGeom prst="rect">
            <a:avLst/>
          </a:prstGeom>
          <a:solidFill>
            <a:srgbClr val="0B1222"/>
          </a:solidFill>
          <a:ln w="3810">
            <a:solidFill>
              <a:srgbClr val="47556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189280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Framework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057400" y="189280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</a:rPr>
              <a:t>Express.js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38912" y="2258568"/>
            <a:ext cx="3749040" cy="365760"/>
          </a:xfrm>
          <a:prstGeom prst="rect">
            <a:avLst/>
          </a:prstGeom>
          <a:solidFill>
            <a:srgbClr val="0B1222"/>
          </a:solidFill>
          <a:ln w="3810">
            <a:solidFill>
              <a:srgbClr val="47556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231343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Language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057400" y="231343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</a:rPr>
              <a:t>TypeScript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38912" y="2679192"/>
            <a:ext cx="3749040" cy="365760"/>
          </a:xfrm>
          <a:prstGeom prst="rect">
            <a:avLst/>
          </a:prstGeom>
          <a:solidFill>
            <a:srgbClr val="0B1222"/>
          </a:solidFill>
          <a:ln w="3810">
            <a:solidFill>
              <a:srgbClr val="47556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2734056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Database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057400" y="273405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D4BF"/>
                </a:solidFill>
              </a:rPr>
              <a:t>PostgreSQL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38912" y="3099816"/>
            <a:ext cx="3749040" cy="365760"/>
          </a:xfrm>
          <a:prstGeom prst="rect">
            <a:avLst/>
          </a:prstGeom>
          <a:solidFill>
            <a:srgbClr val="0B1222"/>
          </a:solidFill>
          <a:ln w="3810">
            <a:solidFill>
              <a:srgbClr val="47556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315468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WebSocket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057400" y="315468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B923C"/>
                </a:solidFill>
              </a:rPr>
              <a:t>Socket.IO v4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38912" y="3520440"/>
            <a:ext cx="3749040" cy="365760"/>
          </a:xfrm>
          <a:prstGeom prst="rect">
            <a:avLst/>
          </a:prstGeom>
          <a:solidFill>
            <a:srgbClr val="0B1222"/>
          </a:solidFill>
          <a:ln w="3810">
            <a:solidFill>
              <a:srgbClr val="47556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3575304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Auth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057400" y="357530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BBF24"/>
                </a:solidFill>
              </a:rPr>
              <a:t>JWT · bcrypt 12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526280" y="960120"/>
            <a:ext cx="4325112" cy="3703320"/>
          </a:xfrm>
          <a:prstGeom prst="rect">
            <a:avLst/>
          </a:prstGeom>
          <a:solidFill>
            <a:srgbClr val="0D1528"/>
          </a:solidFill>
          <a:ln w="1270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526280" y="960120"/>
            <a:ext cx="4325112" cy="54864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526280" y="960120"/>
            <a:ext cx="4325112" cy="54864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663440" y="1042416"/>
            <a:ext cx="4050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78BFA"/>
                </a:solidFill>
              </a:rPr>
              <a:t>Cloud Services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4663440" y="1426464"/>
            <a:ext cx="4050792" cy="493776"/>
          </a:xfrm>
          <a:prstGeom prst="rect">
            <a:avLst/>
          </a:prstGeom>
          <a:solidFill>
            <a:srgbClr val="0B1222"/>
          </a:solidFill>
          <a:ln w="3810">
            <a:solidFill>
              <a:srgbClr val="47556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73168" y="1481328"/>
            <a:ext cx="3886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B923C"/>
                </a:solidFill>
              </a:rPr>
              <a:t>📨  HiveMQ Cloud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773168" y="1682496"/>
            <a:ext cx="3886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MQTT Broker for IoT GPS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663440" y="1993392"/>
            <a:ext cx="4050792" cy="493776"/>
          </a:xfrm>
          <a:prstGeom prst="rect">
            <a:avLst/>
          </a:prstGeom>
          <a:solidFill>
            <a:srgbClr val="0B1222"/>
          </a:solidFill>
          <a:ln w="3810">
            <a:solidFill>
              <a:srgbClr val="47556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773168" y="2048256"/>
            <a:ext cx="3886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</a:rPr>
              <a:t>📁  Cloudinary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773168" y="2249424"/>
            <a:ext cx="3886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Image CDN storage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663440" y="2560320"/>
            <a:ext cx="4050792" cy="493776"/>
          </a:xfrm>
          <a:prstGeom prst="rect">
            <a:avLst/>
          </a:prstGeom>
          <a:solidFill>
            <a:srgbClr val="0B1222"/>
          </a:solidFill>
          <a:ln w="3810">
            <a:solidFill>
              <a:srgbClr val="475569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773168" y="2615184"/>
            <a:ext cx="3886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BBF24"/>
                </a:solidFill>
              </a:rPr>
              <a:t>🔔  Firebase FCM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4773168" y="2816352"/>
            <a:ext cx="3886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Mobile push notifications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663440" y="3127248"/>
            <a:ext cx="4050792" cy="493776"/>
          </a:xfrm>
          <a:prstGeom prst="rect">
            <a:avLst/>
          </a:prstGeom>
          <a:solidFill>
            <a:srgbClr val="0B1222"/>
          </a:solidFill>
          <a:ln w="3810">
            <a:solidFill>
              <a:srgbClr val="475569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773168" y="3182112"/>
            <a:ext cx="3886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</a:rPr>
              <a:t>🤖  AI Microservice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4773168" y="3383280"/>
            <a:ext cx="3886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Python CLIP + OpenCV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663440" y="3694176"/>
            <a:ext cx="4050792" cy="493776"/>
          </a:xfrm>
          <a:prstGeom prst="rect">
            <a:avLst/>
          </a:prstGeom>
          <a:solidFill>
            <a:srgbClr val="0B1222"/>
          </a:solidFill>
          <a:ln w="3810">
            <a:solidFill>
              <a:srgbClr val="475569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773168" y="3749040"/>
            <a:ext cx="3886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DE80"/>
                </a:solidFill>
              </a:rPr>
              <a:t>📋  JSON Import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4773168" y="3950208"/>
            <a:ext cx="3886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Bulk mission creation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709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0D1528"/>
          </a:solidFill>
          <a:ln w="12700">
            <a:solidFill>
              <a:srgbClr val="0D152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spc="300" kern="0" dirty="0">
                <a:solidFill>
                  <a:srgbClr val="F87171"/>
                </a:solidFill>
              </a:rPr>
              <a:t>SECURITY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717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Security — JWT + bcrypt + RBAC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65760" y="804672"/>
            <a:ext cx="548640" cy="36576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91440"/>
            <a:ext cx="2011680" cy="237744"/>
          </a:xfrm>
          <a:prstGeom prst="rect">
            <a:avLst/>
          </a:prstGeom>
          <a:solidFill>
            <a:srgbClr val="0D1528"/>
          </a:solidFill>
          <a:ln w="6350">
            <a:solidFill>
              <a:srgbClr val="A78BF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91440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A78BFA"/>
                </a:solidFill>
              </a:rPr>
              <a:t>Dellal Younes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292608" y="960120"/>
            <a:ext cx="2816352" cy="3822192"/>
          </a:xfrm>
          <a:prstGeom prst="rect">
            <a:avLst/>
          </a:prstGeom>
          <a:solidFill>
            <a:srgbClr val="0D1528"/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92608" y="960120"/>
            <a:ext cx="2816352" cy="548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92608" y="960120"/>
            <a:ext cx="2816352" cy="548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92608" y="1078992"/>
            <a:ext cx="2816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🔑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402336" y="1673352"/>
            <a:ext cx="2615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B82F6"/>
                </a:solidFill>
              </a:rPr>
              <a:t>JWT Auth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795528" y="2103120"/>
            <a:ext cx="1828800" cy="22860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2212848"/>
            <a:ext cx="2523744" cy="493776"/>
          </a:xfrm>
          <a:prstGeom prst="rect">
            <a:avLst/>
          </a:prstGeom>
          <a:solidFill>
            <a:srgbClr val="0B1222"/>
          </a:solidFill>
          <a:ln w="5080">
            <a:solidFill>
              <a:srgbClr val="3B82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2212848"/>
            <a:ext cx="235915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</a:rPr>
              <a:t>HS256 signed tokens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2779776"/>
            <a:ext cx="2523744" cy="493776"/>
          </a:xfrm>
          <a:prstGeom prst="rect">
            <a:avLst/>
          </a:prstGeom>
          <a:solidFill>
            <a:srgbClr val="0B1222"/>
          </a:solidFill>
          <a:ln w="5080">
            <a:solidFill>
              <a:srgbClr val="3B82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2779776"/>
            <a:ext cx="235915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</a:rPr>
              <a:t>7-day expiry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346704"/>
            <a:ext cx="2523744" cy="493776"/>
          </a:xfrm>
          <a:prstGeom prst="rect">
            <a:avLst/>
          </a:prstGeom>
          <a:solidFill>
            <a:srgbClr val="0B1222"/>
          </a:solidFill>
          <a:ln w="5080">
            <a:solidFill>
              <a:srgbClr val="3B82F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3346704"/>
            <a:ext cx="235915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</a:rPr>
              <a:t>PrivateRoute guard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64408" y="960120"/>
            <a:ext cx="2816352" cy="3822192"/>
          </a:xfrm>
          <a:prstGeom prst="rect">
            <a:avLst/>
          </a:prstGeom>
          <a:solidFill>
            <a:srgbClr val="0D1528"/>
          </a:solidFill>
          <a:ln w="12700">
            <a:solidFill>
              <a:srgbClr val="FBBF2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64408" y="960120"/>
            <a:ext cx="2816352" cy="54864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64408" y="960120"/>
            <a:ext cx="2816352" cy="54864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64408" y="1078992"/>
            <a:ext cx="2816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🔒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3374136" y="1673352"/>
            <a:ext cx="2615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BBF24"/>
                </a:solidFill>
              </a:rPr>
              <a:t>bcrypt Hash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3767328" y="2103120"/>
            <a:ext cx="1828800" cy="22860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429000" y="2212848"/>
            <a:ext cx="2523744" cy="493776"/>
          </a:xfrm>
          <a:prstGeom prst="rect">
            <a:avLst/>
          </a:prstGeom>
          <a:solidFill>
            <a:srgbClr val="0B1222"/>
          </a:solidFill>
          <a:ln w="5080">
            <a:solidFill>
              <a:srgbClr val="FBBF2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520440" y="2212848"/>
            <a:ext cx="235915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</a:rPr>
              <a:t>Cost factor: 12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429000" y="2779776"/>
            <a:ext cx="2523744" cy="493776"/>
          </a:xfrm>
          <a:prstGeom prst="rect">
            <a:avLst/>
          </a:prstGeom>
          <a:solidFill>
            <a:srgbClr val="0B1222"/>
          </a:solidFill>
          <a:ln w="5080">
            <a:solidFill>
              <a:srgbClr val="FBBF2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520440" y="2779776"/>
            <a:ext cx="235915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</a:rPr>
              <a:t>Random salt per user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29000" y="3346704"/>
            <a:ext cx="2523744" cy="493776"/>
          </a:xfrm>
          <a:prstGeom prst="rect">
            <a:avLst/>
          </a:prstGeom>
          <a:solidFill>
            <a:srgbClr val="0B1222"/>
          </a:solidFill>
          <a:ln w="5080">
            <a:solidFill>
              <a:srgbClr val="FBBF2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520440" y="3346704"/>
            <a:ext cx="235915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</a:rPr>
              <a:t>Rainbow-table proof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236208" y="960120"/>
            <a:ext cx="2816352" cy="3822192"/>
          </a:xfrm>
          <a:prstGeom prst="rect">
            <a:avLst/>
          </a:prstGeom>
          <a:solidFill>
            <a:srgbClr val="0D1528"/>
          </a:solidFill>
          <a:ln w="12700">
            <a:solidFill>
              <a:srgbClr val="4ADE8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236208" y="960120"/>
            <a:ext cx="2816352" cy="54864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236208" y="960120"/>
            <a:ext cx="2816352" cy="54864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236208" y="1078992"/>
            <a:ext cx="2816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👤</a:t>
            </a:r>
            <a:endParaRPr lang="en-US" sz="2800" dirty="0"/>
          </a:p>
        </p:txBody>
      </p:sp>
      <p:sp>
        <p:nvSpPr>
          <p:cNvPr id="37" name="Text 35"/>
          <p:cNvSpPr/>
          <p:nvPr/>
        </p:nvSpPr>
        <p:spPr>
          <a:xfrm>
            <a:off x="6345936" y="1673352"/>
            <a:ext cx="2615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ADE80"/>
                </a:solidFill>
              </a:rPr>
              <a:t>RBAC</a:t>
            </a:r>
            <a:endParaRPr lang="en-US" sz="1500" dirty="0"/>
          </a:p>
        </p:txBody>
      </p:sp>
      <p:sp>
        <p:nvSpPr>
          <p:cNvPr id="38" name="Shape 36"/>
          <p:cNvSpPr/>
          <p:nvPr/>
        </p:nvSpPr>
        <p:spPr>
          <a:xfrm>
            <a:off x="6739128" y="2103120"/>
            <a:ext cx="1828800" cy="22860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400800" y="2212848"/>
            <a:ext cx="2523744" cy="493776"/>
          </a:xfrm>
          <a:prstGeom prst="rect">
            <a:avLst/>
          </a:prstGeom>
          <a:solidFill>
            <a:srgbClr val="0B1222"/>
          </a:solidFill>
          <a:ln w="5080">
            <a:solidFill>
              <a:srgbClr val="4ADE8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492240" y="2212848"/>
            <a:ext cx="235915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</a:rPr>
              <a:t>Admin — Full access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400800" y="2779776"/>
            <a:ext cx="2523744" cy="493776"/>
          </a:xfrm>
          <a:prstGeom prst="rect">
            <a:avLst/>
          </a:prstGeom>
          <a:solidFill>
            <a:srgbClr val="0B1222"/>
          </a:solidFill>
          <a:ln w="5080">
            <a:solidFill>
              <a:srgbClr val="4ADE8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92240" y="2779776"/>
            <a:ext cx="235915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</a:rPr>
              <a:t>Technician — Reports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6400800" y="3346704"/>
            <a:ext cx="2523744" cy="493776"/>
          </a:xfrm>
          <a:prstGeom prst="rect">
            <a:avLst/>
          </a:prstGeom>
          <a:solidFill>
            <a:srgbClr val="0B1222"/>
          </a:solidFill>
          <a:ln w="5080">
            <a:solidFill>
              <a:srgbClr val="4ADE8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492240" y="3346704"/>
            <a:ext cx="235915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</a:rPr>
              <a:t>Driver — Missions + GPS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709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0D1528"/>
          </a:solidFill>
          <a:ln w="12700">
            <a:solidFill>
              <a:srgbClr val="0D152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spc="300" kern="0" dirty="0">
                <a:solidFill>
                  <a:srgbClr val="3B82F6"/>
                </a:solidFill>
              </a:rPr>
              <a:t>TECHNOLOGY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Technology Stack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65760" y="804672"/>
            <a:ext cx="548640" cy="3657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91440"/>
            <a:ext cx="2011680" cy="237744"/>
          </a:xfrm>
          <a:prstGeom prst="rect">
            <a:avLst/>
          </a:prstGeom>
          <a:solidFill>
            <a:srgbClr val="0D1528"/>
          </a:solidFill>
          <a:ln w="6350">
            <a:solidFill>
              <a:srgbClr val="FB92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91440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B923C"/>
                </a:solidFill>
              </a:rPr>
              <a:t>Reghiwi Abderrahim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292608" y="960120"/>
            <a:ext cx="8558784" cy="34747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2608" y="96012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E2E8F0"/>
                </a:solidFill>
              </a:rPr>
              <a:t>COMPONENT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783080" y="960120"/>
            <a:ext cx="7068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E2E8F0"/>
                </a:solidFill>
              </a:rPr>
              <a:t>TECHNOLOGY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92608" y="1353312"/>
            <a:ext cx="8558784" cy="411480"/>
          </a:xfrm>
          <a:prstGeom prst="rect">
            <a:avLst/>
          </a:prstGeom>
          <a:solidFill>
            <a:srgbClr val="0D1528"/>
          </a:solidFill>
          <a:ln w="3810">
            <a:solidFill>
              <a:srgbClr val="47556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92608" y="1353312"/>
            <a:ext cx="54864" cy="411480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1435608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DE80"/>
                </a:solidFill>
              </a:rPr>
              <a:t>📱  Mobile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783080" y="1435608"/>
            <a:ext cx="6995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2E8F0"/>
                </a:solidFill>
              </a:rPr>
              <a:t>React Native (Expo)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92608" y="1810512"/>
            <a:ext cx="8558784" cy="411480"/>
          </a:xfrm>
          <a:prstGeom prst="rect">
            <a:avLst/>
          </a:prstGeom>
          <a:solidFill>
            <a:srgbClr val="0B1222"/>
          </a:solidFill>
          <a:ln w="3810">
            <a:solidFill>
              <a:srgbClr val="47556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92608" y="1810512"/>
            <a:ext cx="54864" cy="41148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1892808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</a:rPr>
              <a:t>🌐  Web Admin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783080" y="1892808"/>
            <a:ext cx="6995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2E8F0"/>
                </a:solidFill>
              </a:rPr>
              <a:t>React 19 + Vite 8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92608" y="2267712"/>
            <a:ext cx="8558784" cy="411480"/>
          </a:xfrm>
          <a:prstGeom prst="rect">
            <a:avLst/>
          </a:prstGeom>
          <a:solidFill>
            <a:srgbClr val="0D1528"/>
          </a:solidFill>
          <a:ln w="3810">
            <a:solidFill>
              <a:srgbClr val="47556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92608" y="2267712"/>
            <a:ext cx="54864" cy="41148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2350008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</a:rPr>
              <a:t>🔧  Backend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783080" y="2350008"/>
            <a:ext cx="6995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2E8F0"/>
                </a:solidFill>
              </a:rPr>
              <a:t>Node.js + Express + TypeScript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92608" y="2724912"/>
            <a:ext cx="8558784" cy="411480"/>
          </a:xfrm>
          <a:prstGeom prst="rect">
            <a:avLst/>
          </a:prstGeom>
          <a:solidFill>
            <a:srgbClr val="0B1222"/>
          </a:solidFill>
          <a:ln w="3810">
            <a:solidFill>
              <a:srgbClr val="47556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2608" y="2724912"/>
            <a:ext cx="54864" cy="41148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1480" y="2807208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D4BF"/>
                </a:solidFill>
              </a:rPr>
              <a:t>🗄️  Database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783080" y="2807208"/>
            <a:ext cx="6995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2E8F0"/>
                </a:solidFill>
              </a:rPr>
              <a:t>PostgreSQL + Sequelize ORM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292608" y="3182112"/>
            <a:ext cx="8558784" cy="411480"/>
          </a:xfrm>
          <a:prstGeom prst="rect">
            <a:avLst/>
          </a:prstGeom>
          <a:solidFill>
            <a:srgbClr val="0D1528"/>
          </a:solidFill>
          <a:ln w="3810">
            <a:solidFill>
              <a:srgbClr val="475569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92608" y="3182112"/>
            <a:ext cx="54864" cy="41148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11480" y="3264408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BBF24"/>
                </a:solidFill>
              </a:rPr>
              <a:t>⚡  IoT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783080" y="3264408"/>
            <a:ext cx="6995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2E8F0"/>
                </a:solidFill>
              </a:rPr>
              <a:t>ESP32 + NEO-6M + HiveMQ MQTT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292608" y="3639312"/>
            <a:ext cx="8558784" cy="411480"/>
          </a:xfrm>
          <a:prstGeom prst="rect">
            <a:avLst/>
          </a:prstGeom>
          <a:solidFill>
            <a:srgbClr val="0B1222"/>
          </a:solidFill>
          <a:ln w="3810">
            <a:solidFill>
              <a:srgbClr val="475569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92608" y="3639312"/>
            <a:ext cx="54864" cy="411480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11480" y="3721608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B923C"/>
                </a:solidFill>
              </a:rPr>
              <a:t>🤖  AI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783080" y="3721608"/>
            <a:ext cx="6995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2E8F0"/>
                </a:solidFill>
              </a:rPr>
              <a:t>Python + CLIP + OpenCV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292608" y="4096512"/>
            <a:ext cx="8558784" cy="411480"/>
          </a:xfrm>
          <a:prstGeom prst="rect">
            <a:avLst/>
          </a:prstGeom>
          <a:solidFill>
            <a:srgbClr val="0D1528"/>
          </a:solidFill>
          <a:ln w="3810">
            <a:solidFill>
              <a:srgbClr val="47556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92608" y="4096512"/>
            <a:ext cx="54864" cy="41148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11480" y="4178808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87171"/>
                </a:solidFill>
              </a:rPr>
              <a:t>☁️  Cloud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1783080" y="4178808"/>
            <a:ext cx="6995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2E8F0"/>
                </a:solidFill>
              </a:rPr>
              <a:t>Cloudinary + Firebase FCM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292608" y="4553712"/>
            <a:ext cx="8558784" cy="411480"/>
          </a:xfrm>
          <a:prstGeom prst="rect">
            <a:avLst/>
          </a:prstGeom>
          <a:solidFill>
            <a:srgbClr val="0B1222"/>
          </a:solidFill>
          <a:ln w="3810">
            <a:solidFill>
              <a:srgbClr val="475569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92608" y="4553712"/>
            <a:ext cx="54864" cy="41148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11480" y="4636008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BBF24"/>
                </a:solidFill>
              </a:rPr>
              <a:t>🔐  Auth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1783080" y="4636008"/>
            <a:ext cx="6995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2E8F0"/>
                </a:solidFill>
              </a:rPr>
              <a:t>JWT (HS256) + bcrypt (cost 12)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709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0D1528"/>
          </a:solidFill>
          <a:ln w="12700">
            <a:solidFill>
              <a:srgbClr val="0D152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spc="300" kern="0" dirty="0">
                <a:solidFill>
                  <a:srgbClr val="4ADE80"/>
                </a:solidFill>
              </a:rPr>
              <a:t>RESULTS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ADE8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Achievements &amp; Results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65760" y="804672"/>
            <a:ext cx="548640" cy="36576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91440"/>
            <a:ext cx="2011680" cy="237744"/>
          </a:xfrm>
          <a:prstGeom prst="rect">
            <a:avLst/>
          </a:prstGeom>
          <a:solidFill>
            <a:srgbClr val="0D1528"/>
          </a:solidFill>
          <a:ln w="6350">
            <a:solidFill>
              <a:srgbClr val="FB92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91440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B923C"/>
                </a:solidFill>
              </a:rPr>
              <a:t>Reghiwi Abderrahim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292608" y="960120"/>
            <a:ext cx="2029968" cy="1691640"/>
          </a:xfrm>
          <a:prstGeom prst="rect">
            <a:avLst/>
          </a:prstGeom>
          <a:solidFill>
            <a:srgbClr val="0D1528"/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92608" y="960120"/>
            <a:ext cx="2029968" cy="548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92608" y="960120"/>
            <a:ext cx="2029968" cy="548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92608" y="1060704"/>
            <a:ext cx="202996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384048" y="1810512"/>
            <a:ext cx="1874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94A3B8"/>
                </a:solidFill>
              </a:rPr>
              <a:t>Integrated</a:t>
            </a:r>
            <a:endParaRPr lang="en-US" sz="10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94A3B8"/>
                </a:solidFill>
              </a:rPr>
              <a:t>Components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468880" y="960120"/>
            <a:ext cx="2029968" cy="1691640"/>
          </a:xfrm>
          <a:prstGeom prst="rect">
            <a:avLst/>
          </a:prstGeom>
          <a:solidFill>
            <a:srgbClr val="0D1528"/>
          </a:solidFill>
          <a:ln w="12700">
            <a:solidFill>
              <a:srgbClr val="4ADE8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468880" y="960120"/>
            <a:ext cx="2029968" cy="54864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468880" y="960120"/>
            <a:ext cx="2029968" cy="54864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468880" y="1060704"/>
            <a:ext cx="202996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4ADE8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&lt;1.5s</a:t>
            </a:r>
            <a:endParaRPr lang="en-US" sz="4000" dirty="0"/>
          </a:p>
        </p:txBody>
      </p:sp>
      <p:sp>
        <p:nvSpPr>
          <p:cNvPr id="18" name="Text 16"/>
          <p:cNvSpPr/>
          <p:nvPr/>
        </p:nvSpPr>
        <p:spPr>
          <a:xfrm>
            <a:off x="2560320" y="1810512"/>
            <a:ext cx="1874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94A3B8"/>
                </a:solidFill>
              </a:rPr>
              <a:t>GPS Latency</a:t>
            </a:r>
            <a:endParaRPr lang="en-US" sz="10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94A3B8"/>
                </a:solidFill>
              </a:rPr>
              <a:t>End-to-End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645152" y="960120"/>
            <a:ext cx="2029968" cy="1691640"/>
          </a:xfrm>
          <a:prstGeom prst="rect">
            <a:avLst/>
          </a:prstGeom>
          <a:solidFill>
            <a:srgbClr val="0D1528"/>
          </a:solidFill>
          <a:ln w="12700">
            <a:solidFill>
              <a:srgbClr val="FBBF2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45152" y="960120"/>
            <a:ext cx="2029968" cy="54864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645152" y="960120"/>
            <a:ext cx="2029968" cy="54864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45152" y="1060704"/>
            <a:ext cx="202996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BBF2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99%</a:t>
            </a:r>
            <a:endParaRPr lang="en-US" sz="4000" dirty="0"/>
          </a:p>
        </p:txBody>
      </p:sp>
      <p:sp>
        <p:nvSpPr>
          <p:cNvPr id="23" name="Text 21"/>
          <p:cNvSpPr/>
          <p:nvPr/>
        </p:nvSpPr>
        <p:spPr>
          <a:xfrm>
            <a:off x="4736592" y="1810512"/>
            <a:ext cx="1874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94A3B8"/>
                </a:solidFill>
              </a:rPr>
              <a:t>Uptime</a:t>
            </a:r>
            <a:endParaRPr lang="en-US" sz="10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94A3B8"/>
                </a:solidFill>
              </a:rPr>
              <a:t>Target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821424" y="960120"/>
            <a:ext cx="2029968" cy="1691640"/>
          </a:xfrm>
          <a:prstGeom prst="rect">
            <a:avLst/>
          </a:prstGeom>
          <a:solidFill>
            <a:srgbClr val="0D1528"/>
          </a:solidFill>
          <a:ln w="12700">
            <a:solidFill>
              <a:srgbClr val="2DD4B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821424" y="960120"/>
            <a:ext cx="2029968" cy="54864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821424" y="960120"/>
            <a:ext cx="2029968" cy="54864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21424" y="1060704"/>
            <a:ext cx="202996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DD4B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$0</a:t>
            </a:r>
            <a:endParaRPr lang="en-US" sz="4000" dirty="0"/>
          </a:p>
        </p:txBody>
      </p:sp>
      <p:sp>
        <p:nvSpPr>
          <p:cNvPr id="28" name="Text 26"/>
          <p:cNvSpPr/>
          <p:nvPr/>
        </p:nvSpPr>
        <p:spPr>
          <a:xfrm>
            <a:off x="6912864" y="1810512"/>
            <a:ext cx="1874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94A3B8"/>
                </a:solidFill>
              </a:rPr>
              <a:t>Cloud</a:t>
            </a:r>
            <a:endParaRPr lang="en-US" sz="10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94A3B8"/>
                </a:solidFill>
              </a:rPr>
              <a:t>Deployment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92608" y="2798064"/>
            <a:ext cx="8558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4ADE80"/>
                </a:solidFill>
              </a:rPr>
              <a:t>KEY ACHIEVEMENTS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292608" y="3072384"/>
            <a:ext cx="8558784" cy="347472"/>
          </a:xfrm>
          <a:prstGeom prst="rect">
            <a:avLst/>
          </a:prstGeom>
          <a:solidFill>
            <a:srgbClr val="0D1528"/>
          </a:solidFill>
          <a:ln w="3810">
            <a:solidFill>
              <a:srgbClr val="475569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92608" y="3072384"/>
            <a:ext cx="54864" cy="347472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20624" y="3127248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DE80"/>
                </a:solidFill>
              </a:rPr>
              <a:t>✅  Full integration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2560320" y="3127248"/>
            <a:ext cx="6217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5 components — IoT · Mobile · Web · Backend · AI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292608" y="3465576"/>
            <a:ext cx="8558784" cy="347472"/>
          </a:xfrm>
          <a:prstGeom prst="rect">
            <a:avLst/>
          </a:prstGeom>
          <a:solidFill>
            <a:srgbClr val="0D1528"/>
          </a:solidFill>
          <a:ln w="3810">
            <a:solidFill>
              <a:srgbClr val="47556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92608" y="3465576"/>
            <a:ext cx="54864" cy="34747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20624" y="3520440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</a:rPr>
              <a:t>📱  Multi-role mobile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2560320" y="3520440"/>
            <a:ext cx="6217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Android 8.0+ and iOS 13+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292608" y="3858768"/>
            <a:ext cx="8558784" cy="347472"/>
          </a:xfrm>
          <a:prstGeom prst="rect">
            <a:avLst/>
          </a:prstGeom>
          <a:solidFill>
            <a:srgbClr val="0D1528"/>
          </a:solidFill>
          <a:ln w="3810">
            <a:solidFill>
              <a:srgbClr val="47556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92608" y="3858768"/>
            <a:ext cx="54864" cy="34747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20624" y="3913632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</a:rPr>
              <a:t>🤖  AI photo validation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2560320" y="3913632"/>
            <a:ext cx="6217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Automated quality check — no manual review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292608" y="4251960"/>
            <a:ext cx="8558784" cy="347472"/>
          </a:xfrm>
          <a:prstGeom prst="rect">
            <a:avLst/>
          </a:prstGeom>
          <a:solidFill>
            <a:srgbClr val="0D1528"/>
          </a:solidFill>
          <a:ln w="3810">
            <a:solidFill>
              <a:srgbClr val="475569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92608" y="4251960"/>
            <a:ext cx="54864" cy="347472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20624" y="4306824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D4BF"/>
                </a:solidFill>
              </a:rPr>
              <a:t>☁️  Zero-cost deployment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2560320" y="4306824"/>
            <a:ext cx="6217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HiveMQ · Cloudinary · Firebase · PostgreSQL (free)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292608" y="4645152"/>
            <a:ext cx="8558784" cy="347472"/>
          </a:xfrm>
          <a:prstGeom prst="rect">
            <a:avLst/>
          </a:prstGeom>
          <a:solidFill>
            <a:srgbClr val="0D1528"/>
          </a:solidFill>
          <a:ln w="3810">
            <a:solidFill>
              <a:srgbClr val="475569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292608" y="4645152"/>
            <a:ext cx="54864" cy="347472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20624" y="4700016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BBF24"/>
                </a:solidFill>
              </a:rPr>
              <a:t>⚡  &lt; 1.5s GPS latency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2560320" y="4700016"/>
            <a:ext cx="6217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Measured end-to-end from ESP32 to dashboard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709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1371600"/>
            <a:ext cx="4572000" cy="4572000"/>
          </a:xfrm>
          <a:prstGeom prst="ellipse">
            <a:avLst/>
          </a:prstGeom>
          <a:solidFill>
            <a:srgbClr val="1D4ED8">
              <a:alpha val="10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3200400"/>
            <a:ext cx="3200400" cy="3200400"/>
          </a:xfrm>
          <a:prstGeom prst="ellipse">
            <a:avLst/>
          </a:prstGeom>
          <a:solidFill>
            <a:srgbClr val="3B82F6">
              <a:alpha val="8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1440"/>
            <a:ext cx="2011680" cy="237744"/>
          </a:xfrm>
          <a:prstGeom prst="rect">
            <a:avLst/>
          </a:prstGeom>
          <a:solidFill>
            <a:srgbClr val="0D1528"/>
          </a:solidFill>
          <a:ln w="6350">
            <a:solidFill>
              <a:srgbClr val="FB92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1440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B923C"/>
                </a:solidFill>
              </a:rPr>
              <a:t>Reghiwi Abderrahim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292608" y="457200"/>
            <a:ext cx="5212080" cy="2377440"/>
          </a:xfrm>
          <a:prstGeom prst="rect">
            <a:avLst/>
          </a:prstGeom>
          <a:solidFill>
            <a:srgbClr val="0D1528"/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92608" y="457200"/>
            <a:ext cx="5212080" cy="548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92608" y="457200"/>
            <a:ext cx="5212080" cy="6400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" y="5943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82F6"/>
                </a:solidFill>
              </a:rPr>
              <a:t>Project Summary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1069848"/>
            <a:ext cx="146304" cy="146304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94944" y="105156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</a:rPr>
              <a:t>Integrated IoT–Mobile–Web system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" y="1389888"/>
            <a:ext cx="146304" cy="146304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94944" y="137160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</a:rPr>
              <a:t>GPS tracking &lt; 1.5s latency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1709928"/>
            <a:ext cx="146304" cy="146304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94944" y="169164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</a:rPr>
              <a:t>Dual QR — full traceability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57200" y="2029968"/>
            <a:ext cx="146304" cy="146304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94944" y="201168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</a:rPr>
              <a:t>AI photo validation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57200" y="2350008"/>
            <a:ext cx="146304" cy="146304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4944" y="233172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</a:rPr>
              <a:t>Zero-cost cloud deployment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687568" y="457200"/>
            <a:ext cx="3163824" cy="2377440"/>
          </a:xfrm>
          <a:prstGeom prst="rect">
            <a:avLst/>
          </a:prstGeom>
          <a:solidFill>
            <a:srgbClr val="0D1528"/>
          </a:solidFill>
          <a:ln w="12700">
            <a:solidFill>
              <a:srgbClr val="FBBF2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687568" y="457200"/>
            <a:ext cx="3163824" cy="54864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687568" y="457200"/>
            <a:ext cx="3163824" cy="64008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815584" y="594360"/>
            <a:ext cx="2907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BBF24"/>
                </a:solidFill>
              </a:rPr>
              <a:t>Future Work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833872" y="1069848"/>
            <a:ext cx="146304" cy="146304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071616" y="105156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Physical ESP32 hardware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833872" y="1417320"/>
            <a:ext cx="146304" cy="146304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071616" y="139903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Deep learning blur detection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833872" y="1764792"/>
            <a:ext cx="146304" cy="146304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071616" y="1746504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Offline-first mobile (SQLite)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833872" y="2112264"/>
            <a:ext cx="146304" cy="146304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071616" y="2093976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Predictive analytics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292608" y="2926080"/>
            <a:ext cx="85587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E2E8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Erc</a:t>
            </a:r>
            <a:pPr algn="ctr" indent="0" marL="0">
              <a:buNone/>
            </a:pPr>
            <a:r>
              <a:rPr lang="en-US" sz="4400" b="1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Track</a:t>
            </a:r>
            <a:pPr algn="ctr" indent="0" marL="0">
              <a:buNone/>
            </a:pPr>
            <a:r>
              <a:rPr lang="en-US" sz="22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 —  Thank You</a:t>
            </a:r>
            <a:endParaRPr lang="en-US" sz="4400" dirty="0"/>
          </a:p>
        </p:txBody>
      </p:sp>
      <p:sp>
        <p:nvSpPr>
          <p:cNvPr id="34" name="Text 32"/>
          <p:cNvSpPr/>
          <p:nvPr/>
        </p:nvSpPr>
        <p:spPr>
          <a:xfrm>
            <a:off x="292608" y="3767328"/>
            <a:ext cx="8558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Supervisors: Dr. F.Z. Bellala  ·  Dr. M. Bouchair  ·  Jury: Dr. F.Z. Bellala  ·  Mr. I. Khennak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292608" y="4114800"/>
            <a:ext cx="1664208" cy="384048"/>
          </a:xfrm>
          <a:prstGeom prst="rect">
            <a:avLst/>
          </a:prstGeom>
          <a:solidFill>
            <a:srgbClr val="0D1528"/>
          </a:solidFill>
          <a:ln w="7620">
            <a:solidFill>
              <a:srgbClr val="FB923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92608" y="4114800"/>
            <a:ext cx="16642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B923C"/>
                </a:solidFill>
              </a:rPr>
              <a:t>Reghiwi A.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2075688" y="4114800"/>
            <a:ext cx="1664208" cy="384048"/>
          </a:xfrm>
          <a:prstGeom prst="rect">
            <a:avLst/>
          </a:prstGeom>
          <a:solidFill>
            <a:srgbClr val="0D1528"/>
          </a:solidFill>
          <a:ln w="7620">
            <a:solidFill>
              <a:srgbClr val="3B82F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075688" y="4114800"/>
            <a:ext cx="16642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B82F6"/>
                </a:solidFill>
              </a:rPr>
              <a:t>Zadi A.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3858768" y="4114800"/>
            <a:ext cx="1664208" cy="384048"/>
          </a:xfrm>
          <a:prstGeom prst="rect">
            <a:avLst/>
          </a:prstGeom>
          <a:solidFill>
            <a:srgbClr val="0D1528"/>
          </a:solidFill>
          <a:ln w="7620">
            <a:solidFill>
              <a:srgbClr val="4ADE8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858768" y="4114800"/>
            <a:ext cx="16642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ADE80"/>
                </a:solidFill>
              </a:rPr>
              <a:t>Guellil S.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5641848" y="4114800"/>
            <a:ext cx="1664208" cy="384048"/>
          </a:xfrm>
          <a:prstGeom prst="rect">
            <a:avLst/>
          </a:prstGeom>
          <a:solidFill>
            <a:srgbClr val="0D1528"/>
          </a:solidFill>
          <a:ln w="7620">
            <a:solidFill>
              <a:srgbClr val="A78BF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641848" y="4114800"/>
            <a:ext cx="16642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78BFA"/>
                </a:solidFill>
              </a:rPr>
              <a:t>Dellal Y.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7424928" y="4114800"/>
            <a:ext cx="1664208" cy="384048"/>
          </a:xfrm>
          <a:prstGeom prst="rect">
            <a:avLst/>
          </a:prstGeom>
          <a:solidFill>
            <a:srgbClr val="0D1528"/>
          </a:solidFill>
          <a:ln w="7620">
            <a:solidFill>
              <a:srgbClr val="FBBF24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424928" y="4114800"/>
            <a:ext cx="16642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BBF24"/>
                </a:solidFill>
              </a:rPr>
              <a:t>Guerguadj M.N.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ErcTrack — PFE USTHB 2025-2026</dc:title>
  <dc:subject>PptxGenJS Presentation</dc:subject>
  <dc:creator>PptxGenJS</dc:creator>
  <cp:lastModifiedBy>PptxGenJS</cp:lastModifiedBy>
  <cp:revision>1</cp:revision>
  <dcterms:created xsi:type="dcterms:W3CDTF">2026-05-22T22:28:41Z</dcterms:created>
  <dcterms:modified xsi:type="dcterms:W3CDTF">2026-05-22T22:28:41Z</dcterms:modified>
</cp:coreProperties>
</file>